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6" r:id="rId2"/>
    <p:sldId id="257" r:id="rId3"/>
    <p:sldId id="262" r:id="rId4"/>
    <p:sldId id="268" r:id="rId5"/>
    <p:sldId id="269" r:id="rId6"/>
    <p:sldId id="270" r:id="rId7"/>
    <p:sldId id="271" r:id="rId8"/>
    <p:sldId id="258" r:id="rId9"/>
    <p:sldId id="259" r:id="rId10"/>
    <p:sldId id="260" r:id="rId11"/>
    <p:sldId id="285" r:id="rId12"/>
    <p:sldId id="286" r:id="rId13"/>
    <p:sldId id="284" r:id="rId14"/>
    <p:sldId id="266" r:id="rId15"/>
    <p:sldId id="267" r:id="rId16"/>
    <p:sldId id="272" r:id="rId17"/>
    <p:sldId id="273" r:id="rId18"/>
    <p:sldId id="287" r:id="rId19"/>
    <p:sldId id="288" r:id="rId20"/>
    <p:sldId id="289" r:id="rId21"/>
    <p:sldId id="277" r:id="rId22"/>
    <p:sldId id="274" r:id="rId23"/>
    <p:sldId id="278" r:id="rId24"/>
    <p:sldId id="276" r:id="rId25"/>
    <p:sldId id="291" r:id="rId26"/>
    <p:sldId id="292" r:id="rId27"/>
    <p:sldId id="318" r:id="rId28"/>
    <p:sldId id="294" r:id="rId29"/>
    <p:sldId id="293" r:id="rId30"/>
    <p:sldId id="280" r:id="rId31"/>
    <p:sldId id="281" r:id="rId32"/>
    <p:sldId id="279" r:id="rId33"/>
    <p:sldId id="283" r:id="rId34"/>
    <p:sldId id="308" r:id="rId35"/>
    <p:sldId id="309" r:id="rId36"/>
    <p:sldId id="310" r:id="rId37"/>
    <p:sldId id="311"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12"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0F43A69-0F9D-49C9-85A4-09E2244392EA}" type="datetimeFigureOut">
              <a:rPr lang="en-IN" smtClean="0"/>
              <a:t>31-10-2025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09C708A-51D4-4DA6-8A96-DC3A6870801A}" type="slidenum">
              <a:rPr lang="en-IN" smtClean="0"/>
              <a:t>‹#›</a:t>
            </a:fld>
            <a:endParaRPr lang="en-IN"/>
          </a:p>
        </p:txBody>
      </p:sp>
    </p:spTree>
    <p:extLst>
      <p:ext uri="{BB962C8B-B14F-4D97-AF65-F5344CB8AC3E}">
        <p14:creationId xmlns:p14="http://schemas.microsoft.com/office/powerpoint/2010/main" val="4235965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A4214BB5-E296-48FC-8AB4-56C326EB354F}" type="slidenum">
              <a:rPr lang="en-US" smtClean="0"/>
              <a:pPr/>
              <a:t>32</a:t>
            </a:fld>
            <a:endParaRPr lang="en-US" smtClean="0"/>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xfrm>
            <a:off x="914400" y="4343400"/>
            <a:ext cx="5029200" cy="4114800"/>
          </a:xfrm>
          <a:noFill/>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28EBE7E-F81B-4265-BBBD-2C001FA096E3}" type="slidenum">
              <a:rPr lang="en-US" smtClean="0"/>
              <a:pPr/>
              <a:t>38</a:t>
            </a:fld>
            <a:endParaRPr lang="en-US" smtClean="0"/>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xfrm>
            <a:off x="914400" y="4343400"/>
            <a:ext cx="5029200" cy="4114800"/>
          </a:xfrm>
          <a:noFill/>
        </p:spPr>
        <p:txBody>
          <a:bodyPr/>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AC659F33-36BD-4470-8F31-63005014A0A6}" type="slidenum">
              <a:rPr lang="en-US" smtClean="0"/>
              <a:pPr/>
              <a:t>39</a:t>
            </a:fld>
            <a:endParaRPr lang="en-US" smtClean="0"/>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xfrm>
            <a:off x="914400" y="4343400"/>
            <a:ext cx="5029200" cy="4114800"/>
          </a:xfrm>
          <a:noFill/>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2F69F536-BCEC-429F-94CF-E543D77BBC3A}" type="slidenum">
              <a:rPr lang="en-US" smtClean="0"/>
              <a:pPr/>
              <a:t>40</a:t>
            </a:fld>
            <a:endParaRPr lang="en-US" smtClean="0"/>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xfrm>
            <a:off x="914400" y="4343400"/>
            <a:ext cx="5029200" cy="4114800"/>
          </a:xfrm>
          <a:noFill/>
        </p:spPr>
        <p:txBody>
          <a:bodyPr/>
          <a:lstStyle/>
          <a:p>
            <a:pPr eaLnBrk="1" hangingPunct="1"/>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C6AB76EE-E3E7-4D01-AECC-BB7D98068C14}" type="slidenum">
              <a:rPr lang="en-US" smtClean="0"/>
              <a:pPr/>
              <a:t>41</a:t>
            </a:fld>
            <a:endParaRPr lang="en-US" smtClean="0"/>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xfrm>
            <a:off x="914400" y="4343400"/>
            <a:ext cx="5029200" cy="4114800"/>
          </a:xfrm>
          <a:noFill/>
        </p:spPr>
        <p:txBody>
          <a:bodyPr/>
          <a:lstStyle/>
          <a:p>
            <a:pPr eaLnBrk="1" hangingPunct="1"/>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2FEFFDE7-FA6C-4E16-801F-643A31B1A38A}" type="slidenum">
              <a:rPr lang="en-US" smtClean="0"/>
              <a:pPr/>
              <a:t>42</a:t>
            </a:fld>
            <a:endParaRPr lang="en-US" smtClean="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xfrm>
            <a:off x="914400" y="4343400"/>
            <a:ext cx="5029200" cy="4114800"/>
          </a:xfrm>
          <a:noFill/>
        </p:spPr>
        <p:txBody>
          <a:bodyPr/>
          <a:lstStyle/>
          <a:p>
            <a:pPr eaLnBrk="1" hangingPunct="1"/>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2D88B67C-0640-4495-9832-FCCE2FB6046F}" type="slidenum">
              <a:rPr lang="en-US" smtClean="0"/>
              <a:pPr/>
              <a:t>43</a:t>
            </a:fld>
            <a:endParaRPr lang="en-US" smtClean="0"/>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xfrm>
            <a:off x="914400" y="4343400"/>
            <a:ext cx="5029200" cy="4114800"/>
          </a:xfrm>
          <a:noFill/>
        </p:spPr>
        <p:txBody>
          <a:bodyPr/>
          <a:lstStyle/>
          <a:p>
            <a:pPr eaLnBrk="1" hangingPunct="1"/>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C3711783-CCDD-4BE1-9903-646B7FD1C6C5}" type="slidenum">
              <a:rPr lang="en-US" smtClean="0"/>
              <a:pPr/>
              <a:t>44</a:t>
            </a:fld>
            <a:endParaRPr lang="en-US" smtClean="0"/>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xfrm>
            <a:off x="914400" y="4343400"/>
            <a:ext cx="5029200" cy="4114800"/>
          </a:xfrm>
          <a:noFill/>
        </p:spPr>
        <p:txBody>
          <a:bodyPr/>
          <a:lstStyle/>
          <a:p>
            <a:pPr eaLnBrk="1" hangingPunct="1"/>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577B2EEE-4E73-46B8-9329-2193D5CA05CD}" type="slidenum">
              <a:rPr lang="en-US" smtClean="0"/>
              <a:pPr/>
              <a:t>45</a:t>
            </a:fld>
            <a:endParaRPr lang="en-US" smtClean="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xfrm>
            <a:off x="914400" y="4343400"/>
            <a:ext cx="5029200" cy="4114800"/>
          </a:xfrm>
          <a:noFill/>
        </p:spPr>
        <p:txBody>
          <a:bodyPr/>
          <a:lstStyle/>
          <a:p>
            <a:pPr eaLnBrk="1" hangingPunct="1"/>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95A2041-C550-4528-8C8E-D2F981000D75}" type="slidenum">
              <a:rPr lang="en-US" smtClean="0"/>
              <a:pPr/>
              <a:t>46</a:t>
            </a:fld>
            <a:endParaRPr lang="en-US" smtClean="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xfrm>
            <a:off x="914400" y="4343400"/>
            <a:ext cx="5029200" cy="4114800"/>
          </a:xfrm>
          <a:noFill/>
        </p:spPr>
        <p:txBody>
          <a:bodyPr/>
          <a:lstStyle/>
          <a:p>
            <a:pPr eaLnBrk="1" hangingPunct="1"/>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072183F8-1B87-4C5A-AFEA-E33AA6968512}" type="slidenum">
              <a:rPr lang="en-US" smtClean="0"/>
              <a:pPr/>
              <a:t>47</a:t>
            </a:fld>
            <a:endParaRPr lang="en-US" smtClean="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xfrm>
            <a:off x="914400" y="4343400"/>
            <a:ext cx="5029200" cy="4114800"/>
          </a:xfrm>
          <a:noFill/>
        </p:spPr>
        <p:txBody>
          <a:bodyPr/>
          <a:lstStyle/>
          <a:p>
            <a:pPr eaLnBrk="1" hangingPunct="1"/>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341827AD-102B-43B8-BEEB-CDF3BFE573EE}" type="slidenum">
              <a:rPr lang="en-US" smtClean="0"/>
              <a:pPr/>
              <a:t>48</a:t>
            </a:fld>
            <a:endParaRPr lang="en-US" smtClean="0"/>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xfrm>
            <a:off x="914400" y="4343400"/>
            <a:ext cx="5029200" cy="4114800"/>
          </a:xfrm>
          <a:noFill/>
        </p:spPr>
        <p:txBody>
          <a:bodyPr/>
          <a:lstStyle/>
          <a:p>
            <a:pPr eaLnBrk="1" hangingPunct="1"/>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48ADBC06-E8A4-44C7-9EC8-86DA146D9466}" type="slidenum">
              <a:rPr lang="en-US" smtClean="0"/>
              <a:pPr/>
              <a:t>49</a:t>
            </a:fld>
            <a:endParaRPr lang="en-US" smtClean="0"/>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xfrm>
            <a:off x="914400" y="4343400"/>
            <a:ext cx="5029200" cy="4114800"/>
          </a:xfrm>
          <a:noFill/>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0A8F7CE-E042-4B5F-9B11-E3CC7277A9F2}" type="datetime1">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7034A25-EAF0-439A-9562-4A5F8DA2D5D8}" type="datetime1">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AE46705-389F-4583-8972-B191626E5626}" type="datetime1">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6DA62D4-28CA-4C17-92FC-BC12AD07E84E}" type="datetime1">
              <a:rPr lang="en-US" smtClean="0"/>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FA9A410-F292-4726-8451-C4872CBE629F}" type="datetime1">
              <a:rPr lang="en-US" smtClean="0"/>
              <a:t>10/31/2025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B2BBF7F-11DF-46A4-B22F-436002FE8D0B}" type="datetime1">
              <a:rPr lang="en-US" smtClean="0"/>
              <a:t>10/31/2025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690412-7AA5-43E1-A24C-8891CBCCC863}" type="datetime1">
              <a:rPr lang="en-US" smtClean="0"/>
              <a:t>10/31/2025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9153A7F-706F-43B7-97C3-77FD406F4A23}" type="datetime1">
              <a:rPr lang="en-US" smtClean="0"/>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C4EEEB6-49B3-4136-90B2-36311637A915}" type="datetime1">
              <a:rPr lang="en-US" smtClean="0"/>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D253B75-BD60-4CC2-850D-1E5A7C8D8619}" type="datetime1">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4E70D1F-C087-492E-A1F3-902BF0E6D48B}" type="datetime1">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60337D-413B-4D3B-A63E-9AB2A50F373F}" type="datetime1">
              <a:rPr lang="en-US" smtClean="0"/>
              <a:t>10/31/2025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381000"/>
            <a:ext cx="7772400" cy="2838450"/>
          </a:xfrm>
        </p:spPr>
        <p:txBody>
          <a:bodyPr/>
          <a:lstStyle/>
          <a:p>
            <a:r>
              <a:rPr lang="en-IN" b="1" dirty="0" smtClean="0">
                <a:solidFill>
                  <a:srgbClr val="FF0000"/>
                </a:solidFill>
              </a:rPr>
              <a:t>RELATIONAL DATABASE MANAGEMENT SYSTEMS</a:t>
            </a:r>
            <a:endParaRPr lang="en-IN" b="1" dirty="0">
              <a:solidFill>
                <a:srgbClr val="FF0000"/>
              </a:solidFill>
            </a:endParaRPr>
          </a:p>
        </p:txBody>
      </p:sp>
      <p:sp>
        <p:nvSpPr>
          <p:cNvPr id="3" name="Subtitle 2"/>
          <p:cNvSpPr>
            <a:spLocks noGrp="1"/>
          </p:cNvSpPr>
          <p:nvPr>
            <p:ph type="subTitle" idx="1"/>
          </p:nvPr>
        </p:nvSpPr>
        <p:spPr>
          <a:xfrm>
            <a:off x="990600" y="2209800"/>
            <a:ext cx="7772400" cy="3810000"/>
          </a:xfrm>
        </p:spPr>
        <p:txBody>
          <a:bodyPr>
            <a:normAutofit/>
          </a:bodyPr>
          <a:lstStyle/>
          <a:p>
            <a:endParaRPr lang="en-IN" b="1" dirty="0">
              <a:solidFill>
                <a:srgbClr val="00B050"/>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a:p>
        </p:txBody>
      </p:sp>
    </p:spTree>
    <p:extLst>
      <p:ext uri="{BB962C8B-B14F-4D97-AF65-F5344CB8AC3E}">
        <p14:creationId xmlns:p14="http://schemas.microsoft.com/office/powerpoint/2010/main" val="44903165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u="sng" dirty="0" smtClean="0">
                <a:latin typeface="Times New Roman" pitchFamily="18" charset="0"/>
                <a:cs typeface="Times New Roman" pitchFamily="18" charset="0"/>
              </a:rPr>
              <a:t/>
            </a:r>
            <a:br>
              <a:rPr lang="en-US" b="1" i="1" u="sng" dirty="0" smtClean="0">
                <a:latin typeface="Times New Roman" pitchFamily="18" charset="0"/>
                <a:cs typeface="Times New Roman" pitchFamily="18" charset="0"/>
              </a:rPr>
            </a:br>
            <a:r>
              <a:rPr lang="en-US" b="1" i="1" u="sng" dirty="0" smtClean="0">
                <a:latin typeface="Times New Roman" pitchFamily="18" charset="0"/>
                <a:cs typeface="Times New Roman" pitchFamily="18" charset="0"/>
              </a:rPr>
              <a:t>D</a:t>
            </a:r>
            <a:r>
              <a:rPr lang="en-US" dirty="0" smtClean="0">
                <a:latin typeface="Times New Roman" pitchFamily="18" charset="0"/>
                <a:cs typeface="Times New Roman" pitchFamily="18" charset="0"/>
              </a:rPr>
              <a:t>ata</a:t>
            </a:r>
            <a:r>
              <a:rPr lang="en-US" b="1" i="1" u="sng" dirty="0" smtClean="0">
                <a:latin typeface="Times New Roman" pitchFamily="18" charset="0"/>
                <a:cs typeface="Times New Roman" pitchFamily="18" charset="0"/>
              </a:rPr>
              <a:t>b</a:t>
            </a:r>
            <a:r>
              <a:rPr lang="en-US" dirty="0" smtClean="0">
                <a:latin typeface="Times New Roman" pitchFamily="18" charset="0"/>
                <a:cs typeface="Times New Roman" pitchFamily="18" charset="0"/>
              </a:rPr>
              <a:t>ase </a:t>
            </a:r>
            <a:r>
              <a:rPr lang="en-US" b="1" i="1" u="sng" dirty="0">
                <a:latin typeface="Times New Roman" pitchFamily="18" charset="0"/>
                <a:cs typeface="Times New Roman" pitchFamily="18" charset="0"/>
              </a:rPr>
              <a:t>M</a:t>
            </a:r>
            <a:r>
              <a:rPr lang="en-US" dirty="0">
                <a:latin typeface="Times New Roman" pitchFamily="18" charset="0"/>
                <a:cs typeface="Times New Roman" pitchFamily="18" charset="0"/>
              </a:rPr>
              <a:t>anagement </a:t>
            </a:r>
            <a:r>
              <a:rPr lang="en-US" b="1" i="1" u="sng" dirty="0">
                <a:latin typeface="Times New Roman" pitchFamily="18" charset="0"/>
                <a:cs typeface="Times New Roman" pitchFamily="18" charset="0"/>
              </a:rPr>
              <a:t>S</a:t>
            </a:r>
            <a:r>
              <a:rPr lang="en-US" dirty="0">
                <a:latin typeface="Times New Roman" pitchFamily="18" charset="0"/>
                <a:cs typeface="Times New Roman" pitchFamily="18" charset="0"/>
              </a:rPr>
              <a:t>ystems (DBMS)</a:t>
            </a:r>
            <a:br>
              <a:rPr lang="en-US" dirty="0">
                <a:latin typeface="Times New Roman" pitchFamily="18" charset="0"/>
                <a:cs typeface="Times New Roman" pitchFamily="18" charset="0"/>
              </a:rPr>
            </a:br>
            <a:endParaRPr lang="en-IN" dirty="0"/>
          </a:p>
        </p:txBody>
      </p:sp>
      <p:sp>
        <p:nvSpPr>
          <p:cNvPr id="3" name="Content Placeholder 2"/>
          <p:cNvSpPr>
            <a:spLocks noGrp="1"/>
          </p:cNvSpPr>
          <p:nvPr>
            <p:ph idx="1"/>
          </p:nvPr>
        </p:nvSpPr>
        <p:spPr/>
        <p:txBody>
          <a:bodyPr>
            <a:normAutofit/>
          </a:bodyPr>
          <a:lstStyle/>
          <a:p>
            <a:r>
              <a:rPr lang="en-US" sz="3000" b="1" dirty="0" smtClean="0">
                <a:solidFill>
                  <a:srgbClr val="FF0000"/>
                </a:solidFill>
                <a:latin typeface="Times New Roman" pitchFamily="18" charset="0"/>
                <a:cs typeface="Times New Roman" pitchFamily="18" charset="0"/>
              </a:rPr>
              <a:t>Database</a:t>
            </a:r>
            <a:r>
              <a:rPr lang="en-US" sz="3000" b="1" dirty="0">
                <a:solidFill>
                  <a:srgbClr val="00B050"/>
                </a:solidFill>
                <a:latin typeface="Times New Roman" pitchFamily="18" charset="0"/>
                <a:cs typeface="Times New Roman" pitchFamily="18" charset="0"/>
              </a:rPr>
              <a:t>: Collection of related </a:t>
            </a:r>
            <a:r>
              <a:rPr lang="en-US" sz="3000" b="1" dirty="0" smtClean="0">
                <a:solidFill>
                  <a:srgbClr val="00B050"/>
                </a:solidFill>
                <a:latin typeface="Times New Roman" pitchFamily="18" charset="0"/>
                <a:cs typeface="Times New Roman" pitchFamily="18" charset="0"/>
              </a:rPr>
              <a:t>data.</a:t>
            </a:r>
            <a:endParaRPr lang="en-US" sz="3000" b="1" dirty="0">
              <a:solidFill>
                <a:srgbClr val="00B050"/>
              </a:solidFill>
              <a:latin typeface="Times New Roman" pitchFamily="18" charset="0"/>
              <a:cs typeface="Times New Roman" pitchFamily="18" charset="0"/>
            </a:endParaRPr>
          </a:p>
          <a:p>
            <a:pPr lvl="1"/>
            <a:r>
              <a:rPr lang="en-US" sz="3000" b="1" dirty="0">
                <a:solidFill>
                  <a:srgbClr val="00B050"/>
                </a:solidFill>
                <a:latin typeface="Times New Roman" pitchFamily="18" charset="0"/>
                <a:cs typeface="Times New Roman" pitchFamily="18" charset="0"/>
              </a:rPr>
              <a:t>Ex. </a:t>
            </a:r>
            <a:r>
              <a:rPr lang="en-US" sz="3000" b="1" dirty="0" smtClean="0">
                <a:solidFill>
                  <a:srgbClr val="00B050"/>
                </a:solidFill>
                <a:latin typeface="Times New Roman" pitchFamily="18" charset="0"/>
                <a:cs typeface="Times New Roman" pitchFamily="18" charset="0"/>
              </a:rPr>
              <a:t>The </a:t>
            </a:r>
            <a:r>
              <a:rPr lang="en-US" sz="3000" b="1" dirty="0">
                <a:solidFill>
                  <a:srgbClr val="00B050"/>
                </a:solidFill>
                <a:latin typeface="Times New Roman" pitchFamily="18" charset="0"/>
                <a:cs typeface="Times New Roman" pitchFamily="18" charset="0"/>
              </a:rPr>
              <a:t>names, telephone numbers and addresses of all the people you </a:t>
            </a:r>
            <a:r>
              <a:rPr lang="en-US" sz="3000" b="1" dirty="0" smtClean="0">
                <a:solidFill>
                  <a:srgbClr val="00B050"/>
                </a:solidFill>
                <a:latin typeface="Times New Roman" pitchFamily="18" charset="0"/>
                <a:cs typeface="Times New Roman" pitchFamily="18" charset="0"/>
              </a:rPr>
              <a:t>know.</a:t>
            </a:r>
            <a:endParaRPr lang="en-US" sz="3000" b="1" dirty="0">
              <a:solidFill>
                <a:srgbClr val="00B050"/>
              </a:solidFill>
              <a:latin typeface="Times New Roman" pitchFamily="18" charset="0"/>
              <a:cs typeface="Times New Roman" pitchFamily="18" charset="0"/>
            </a:endParaRPr>
          </a:p>
          <a:p>
            <a:r>
              <a:rPr lang="en-US" sz="3000" b="1" dirty="0" smtClean="0">
                <a:solidFill>
                  <a:srgbClr val="FF0000"/>
                </a:solidFill>
                <a:latin typeface="Times New Roman" pitchFamily="18" charset="0"/>
                <a:cs typeface="Times New Roman" pitchFamily="18" charset="0"/>
              </a:rPr>
              <a:t>Database </a:t>
            </a:r>
            <a:r>
              <a:rPr lang="en-US" sz="3000" b="1" dirty="0">
                <a:solidFill>
                  <a:srgbClr val="FF0000"/>
                </a:solidFill>
                <a:latin typeface="Times New Roman" pitchFamily="18" charset="0"/>
                <a:cs typeface="Times New Roman" pitchFamily="18" charset="0"/>
              </a:rPr>
              <a:t>System: A computer based record-keeping </a:t>
            </a:r>
            <a:r>
              <a:rPr lang="en-US" sz="3000" b="1" dirty="0" smtClean="0">
                <a:solidFill>
                  <a:srgbClr val="FF0000"/>
                </a:solidFill>
                <a:latin typeface="Times New Roman" pitchFamily="18" charset="0"/>
                <a:cs typeface="Times New Roman" pitchFamily="18" charset="0"/>
              </a:rPr>
              <a:t>system.</a:t>
            </a:r>
            <a:endParaRPr lang="en-US" sz="3000" b="1" dirty="0">
              <a:solidFill>
                <a:srgbClr val="FF0000"/>
              </a:solidFill>
              <a:latin typeface="Times New Roman" pitchFamily="18" charset="0"/>
              <a:cs typeface="Times New Roman" pitchFamily="18" charset="0"/>
            </a:endParaRPr>
          </a:p>
          <a:p>
            <a:r>
              <a:rPr lang="en-US" sz="3000" b="1" dirty="0">
                <a:solidFill>
                  <a:srgbClr val="7030A0"/>
                </a:solidFill>
                <a:latin typeface="Times New Roman" pitchFamily="18" charset="0"/>
                <a:cs typeface="Times New Roman" pitchFamily="18" charset="0"/>
              </a:rPr>
              <a:t>Data base management system: </a:t>
            </a:r>
            <a:r>
              <a:rPr lang="en-US" sz="3000" b="1" dirty="0">
                <a:solidFill>
                  <a:srgbClr val="00B050"/>
                </a:solidFill>
                <a:latin typeface="Times New Roman" pitchFamily="18" charset="0"/>
                <a:cs typeface="Times New Roman" pitchFamily="18" charset="0"/>
              </a:rPr>
              <a:t>A software that </a:t>
            </a:r>
            <a:r>
              <a:rPr lang="en-US" sz="3000" b="1" dirty="0" smtClean="0">
                <a:solidFill>
                  <a:srgbClr val="00B050"/>
                </a:solidFill>
                <a:latin typeface="Times New Roman" pitchFamily="18" charset="0"/>
                <a:cs typeface="Times New Roman" pitchFamily="18" charset="0"/>
              </a:rPr>
              <a:t>helps to </a:t>
            </a:r>
            <a:r>
              <a:rPr lang="en-US" sz="3000" b="1" dirty="0">
                <a:solidFill>
                  <a:srgbClr val="00B050"/>
                </a:solidFill>
                <a:latin typeface="Times New Roman" pitchFamily="18" charset="0"/>
                <a:cs typeface="Times New Roman" pitchFamily="18" charset="0"/>
              </a:rPr>
              <a:t>store </a:t>
            </a:r>
            <a:r>
              <a:rPr lang="en-US" sz="3000" b="1" dirty="0" smtClean="0">
                <a:solidFill>
                  <a:srgbClr val="00B050"/>
                </a:solidFill>
                <a:latin typeface="Times New Roman" pitchFamily="18" charset="0"/>
                <a:cs typeface="Times New Roman" pitchFamily="18" charset="0"/>
              </a:rPr>
              <a:t>the data </a:t>
            </a:r>
            <a:r>
              <a:rPr lang="en-US" sz="3000" b="1" dirty="0">
                <a:solidFill>
                  <a:srgbClr val="00B050"/>
                </a:solidFill>
                <a:latin typeface="Times New Roman" pitchFamily="18" charset="0"/>
                <a:cs typeface="Times New Roman" pitchFamily="18" charset="0"/>
              </a:rPr>
              <a:t>in a </a:t>
            </a:r>
            <a:r>
              <a:rPr lang="en-US" sz="3000" b="1" dirty="0" smtClean="0">
                <a:solidFill>
                  <a:srgbClr val="00B050"/>
                </a:solidFill>
                <a:latin typeface="Times New Roman" pitchFamily="18" charset="0"/>
                <a:cs typeface="Times New Roman" pitchFamily="18" charset="0"/>
              </a:rPr>
              <a:t>database </a:t>
            </a:r>
            <a:r>
              <a:rPr lang="en-US" sz="3000" b="1" dirty="0">
                <a:solidFill>
                  <a:srgbClr val="00B050"/>
                </a:solidFill>
                <a:latin typeface="Times New Roman" pitchFamily="18" charset="0"/>
                <a:cs typeface="Times New Roman" pitchFamily="18" charset="0"/>
              </a:rPr>
              <a:t>and </a:t>
            </a:r>
            <a:r>
              <a:rPr lang="en-US" sz="3000" b="1" dirty="0" smtClean="0">
                <a:solidFill>
                  <a:srgbClr val="00B050"/>
                </a:solidFill>
                <a:latin typeface="Times New Roman" pitchFamily="18" charset="0"/>
                <a:cs typeface="Times New Roman" pitchFamily="18" charset="0"/>
              </a:rPr>
              <a:t>to retrieve the stored data efficiently. </a:t>
            </a:r>
            <a:endParaRPr lang="en-US" sz="3000" b="1" dirty="0">
              <a:solidFill>
                <a:srgbClr val="00B050"/>
              </a:solidFill>
              <a:latin typeface="Times New Roman" pitchFamily="18" charset="0"/>
              <a:cs typeface="Times New Roman" pitchFamily="18" charset="0"/>
            </a:endParaRPr>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32662378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229600" cy="1143000"/>
          </a:xfrm>
        </p:spPr>
        <p:txBody>
          <a:bodyPr>
            <a:normAutofit fontScale="90000"/>
          </a:bodyPr>
          <a:lstStyle/>
          <a:p>
            <a:r>
              <a:rPr lang="en-IN" dirty="0" smtClean="0"/>
              <a:t>Student</a:t>
            </a:r>
            <a:br>
              <a:rPr lang="en-IN" dirty="0" smtClean="0"/>
            </a:br>
            <a:r>
              <a:rPr lang="en-IN" sz="3100" dirty="0">
                <a:solidFill>
                  <a:srgbClr val="FF0000"/>
                </a:solidFill>
              </a:rPr>
              <a:t>S</a:t>
            </a:r>
            <a:r>
              <a:rPr lang="en-IN" sz="3100" dirty="0" smtClean="0">
                <a:solidFill>
                  <a:srgbClr val="FF0000"/>
                </a:solidFill>
              </a:rPr>
              <a:t>tudent(</a:t>
            </a:r>
            <a:r>
              <a:rPr lang="en-IN" sz="3100" dirty="0" err="1" smtClean="0">
                <a:solidFill>
                  <a:srgbClr val="FF0000"/>
                </a:solidFill>
              </a:rPr>
              <a:t>Rollno</a:t>
            </a:r>
            <a:r>
              <a:rPr lang="en-IN" sz="3100" dirty="0" smtClean="0">
                <a:solidFill>
                  <a:srgbClr val="FF0000"/>
                </a:solidFill>
              </a:rPr>
              <a:t>, </a:t>
            </a:r>
            <a:r>
              <a:rPr lang="en-IN" sz="3100" dirty="0" err="1" smtClean="0">
                <a:solidFill>
                  <a:srgbClr val="FF0000"/>
                </a:solidFill>
              </a:rPr>
              <a:t>Sname</a:t>
            </a:r>
            <a:r>
              <a:rPr lang="en-IN" sz="3100" dirty="0" smtClean="0">
                <a:solidFill>
                  <a:srgbClr val="FF0000"/>
                </a:solidFill>
              </a:rPr>
              <a:t>, Age, Branch</a:t>
            </a:r>
            <a:r>
              <a:rPr lang="en-IN" sz="3100" smtClean="0">
                <a:solidFill>
                  <a:srgbClr val="FF0000"/>
                </a:solidFill>
              </a:rPr>
              <a:t>, City, </a:t>
            </a:r>
            <a:r>
              <a:rPr lang="en-IN" sz="3100" dirty="0" smtClean="0">
                <a:solidFill>
                  <a:srgbClr val="FF0000"/>
                </a:solidFill>
              </a:rPr>
              <a:t>Marks)</a:t>
            </a:r>
            <a:endParaRPr lang="en-IN" sz="3100" dirty="0">
              <a:solidFill>
                <a:srgbClr val="FF0000"/>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734034759"/>
              </p:ext>
            </p:extLst>
          </p:nvPr>
        </p:nvGraphicFramePr>
        <p:xfrm>
          <a:off x="457200" y="1600200"/>
          <a:ext cx="8229600" cy="4241800"/>
        </p:xfrm>
        <a:graphic>
          <a:graphicData uri="http://schemas.openxmlformats.org/drawingml/2006/table">
            <a:tbl>
              <a:tblPr firstRow="1" bandRow="1">
                <a:tableStyleId>{5C22544A-7EE6-4342-B048-85BDC9FD1C3A}</a:tableStyleId>
              </a:tblPr>
              <a:tblGrid>
                <a:gridCol w="1371600"/>
                <a:gridCol w="1371600"/>
                <a:gridCol w="1371600"/>
                <a:gridCol w="1371600"/>
                <a:gridCol w="1371600"/>
                <a:gridCol w="1371600"/>
              </a:tblGrid>
              <a:tr h="1295400">
                <a:tc>
                  <a:txBody>
                    <a:bodyPr/>
                    <a:lstStyle/>
                    <a:p>
                      <a:endParaRPr lang="en-IN" dirty="0" smtClean="0"/>
                    </a:p>
                    <a:p>
                      <a:r>
                        <a:rPr lang="en-IN" dirty="0" err="1" smtClean="0"/>
                        <a:t>Roll_no</a:t>
                      </a:r>
                      <a:endParaRPr lang="en-IN" dirty="0" smtClean="0"/>
                    </a:p>
                    <a:p>
                      <a:endParaRPr lang="en-IN" dirty="0" smtClean="0"/>
                    </a:p>
                    <a:p>
                      <a:endParaRPr lang="en-IN" dirty="0"/>
                    </a:p>
                  </a:txBody>
                  <a:tcPr/>
                </a:tc>
                <a:tc>
                  <a:txBody>
                    <a:bodyPr/>
                    <a:lstStyle/>
                    <a:p>
                      <a:endParaRPr lang="en-IN" dirty="0" smtClean="0"/>
                    </a:p>
                    <a:p>
                      <a:r>
                        <a:rPr lang="en-IN" dirty="0" err="1" smtClean="0"/>
                        <a:t>Sname</a:t>
                      </a:r>
                      <a:endParaRPr lang="en-IN" dirty="0" smtClean="0"/>
                    </a:p>
                    <a:p>
                      <a:endParaRPr lang="en-IN" dirty="0"/>
                    </a:p>
                  </a:txBody>
                  <a:tcPr/>
                </a:tc>
                <a:tc>
                  <a:txBody>
                    <a:bodyPr/>
                    <a:lstStyle/>
                    <a:p>
                      <a:endParaRPr lang="en-IN" dirty="0" smtClean="0"/>
                    </a:p>
                    <a:p>
                      <a:r>
                        <a:rPr lang="en-IN" dirty="0" smtClean="0"/>
                        <a:t>Age</a:t>
                      </a:r>
                      <a:endParaRPr lang="en-IN" dirty="0"/>
                    </a:p>
                  </a:txBody>
                  <a:tcPr/>
                </a:tc>
                <a:tc>
                  <a:txBody>
                    <a:bodyPr/>
                    <a:lstStyle/>
                    <a:p>
                      <a:endParaRPr lang="en-IN" dirty="0" smtClean="0"/>
                    </a:p>
                    <a:p>
                      <a:r>
                        <a:rPr lang="en-IN" dirty="0" smtClean="0"/>
                        <a:t>Branch</a:t>
                      </a:r>
                      <a:endParaRPr lang="en-IN" dirty="0"/>
                    </a:p>
                  </a:txBody>
                  <a:tcPr/>
                </a:tc>
                <a:tc>
                  <a:txBody>
                    <a:bodyPr/>
                    <a:lstStyle/>
                    <a:p>
                      <a:endParaRPr lang="en-IN" dirty="0" smtClean="0"/>
                    </a:p>
                    <a:p>
                      <a:r>
                        <a:rPr lang="en-IN" dirty="0" smtClean="0"/>
                        <a:t>City</a:t>
                      </a:r>
                      <a:endParaRPr lang="en-IN" dirty="0"/>
                    </a:p>
                  </a:txBody>
                  <a:tcPr/>
                </a:tc>
                <a:tc>
                  <a:txBody>
                    <a:bodyPr/>
                    <a:lstStyle/>
                    <a:p>
                      <a:endParaRPr lang="en-IN" dirty="0" smtClean="0"/>
                    </a:p>
                    <a:p>
                      <a:r>
                        <a:rPr lang="en-IN" dirty="0" smtClean="0"/>
                        <a:t>Marks</a:t>
                      </a:r>
                      <a:endParaRPr lang="en-IN" dirty="0"/>
                    </a:p>
                  </a:txBody>
                  <a:tcPr/>
                </a:tc>
              </a:tr>
              <a:tr h="370840">
                <a:tc>
                  <a:txBody>
                    <a:bodyPr/>
                    <a:lstStyle/>
                    <a:p>
                      <a:r>
                        <a:rPr lang="en-IN" dirty="0" smtClean="0"/>
                        <a:t>100</a:t>
                      </a:r>
                      <a:endParaRPr lang="en-IN" dirty="0"/>
                    </a:p>
                  </a:txBody>
                  <a:tcPr/>
                </a:tc>
                <a:tc>
                  <a:txBody>
                    <a:bodyPr/>
                    <a:lstStyle/>
                    <a:p>
                      <a:r>
                        <a:rPr lang="en-IN" dirty="0" err="1" smtClean="0"/>
                        <a:t>Hari</a:t>
                      </a:r>
                      <a:endParaRPr lang="en-IN" dirty="0"/>
                    </a:p>
                  </a:txBody>
                  <a:tcPr/>
                </a:tc>
                <a:tc>
                  <a:txBody>
                    <a:bodyPr/>
                    <a:lstStyle/>
                    <a:p>
                      <a:r>
                        <a:rPr lang="en-IN" dirty="0" smtClean="0"/>
                        <a:t>20</a:t>
                      </a:r>
                      <a:endParaRPr lang="en-IN" dirty="0"/>
                    </a:p>
                  </a:txBody>
                  <a:tcPr/>
                </a:tc>
                <a:tc>
                  <a:txBody>
                    <a:bodyPr/>
                    <a:lstStyle/>
                    <a:p>
                      <a:r>
                        <a:rPr lang="en-IN" dirty="0" smtClean="0"/>
                        <a:t>CSE</a:t>
                      </a:r>
                      <a:endParaRPr lang="en-IN" dirty="0"/>
                    </a:p>
                  </a:txBody>
                  <a:tcPr/>
                </a:tc>
                <a:tc>
                  <a:txBody>
                    <a:bodyPr/>
                    <a:lstStyle/>
                    <a:p>
                      <a:r>
                        <a:rPr lang="en-IN" dirty="0" smtClean="0"/>
                        <a:t>Chennai</a:t>
                      </a:r>
                      <a:endParaRPr lang="en-IN" dirty="0"/>
                    </a:p>
                  </a:txBody>
                  <a:tcPr/>
                </a:tc>
                <a:tc>
                  <a:txBody>
                    <a:bodyPr/>
                    <a:lstStyle/>
                    <a:p>
                      <a:r>
                        <a:rPr lang="en-IN" dirty="0" smtClean="0"/>
                        <a:t>81</a:t>
                      </a:r>
                      <a:endParaRPr lang="en-IN" dirty="0"/>
                    </a:p>
                  </a:txBody>
                  <a:tcPr/>
                </a:tc>
              </a:tr>
              <a:tr h="370840">
                <a:tc>
                  <a:txBody>
                    <a:bodyPr/>
                    <a:lstStyle/>
                    <a:p>
                      <a:r>
                        <a:rPr lang="en-IN" dirty="0" smtClean="0"/>
                        <a:t>200</a:t>
                      </a:r>
                      <a:endParaRPr lang="en-IN" dirty="0"/>
                    </a:p>
                  </a:txBody>
                  <a:tcPr/>
                </a:tc>
                <a:tc>
                  <a:txBody>
                    <a:bodyPr/>
                    <a:lstStyle/>
                    <a:p>
                      <a:r>
                        <a:rPr lang="en-IN" dirty="0" err="1" smtClean="0"/>
                        <a:t>Anand</a:t>
                      </a:r>
                      <a:endParaRPr lang="en-IN" dirty="0"/>
                    </a:p>
                  </a:txBody>
                  <a:tcPr/>
                </a:tc>
                <a:tc>
                  <a:txBody>
                    <a:bodyPr/>
                    <a:lstStyle/>
                    <a:p>
                      <a:r>
                        <a:rPr lang="en-IN" dirty="0" smtClean="0"/>
                        <a:t>21</a:t>
                      </a:r>
                      <a:endParaRPr lang="en-IN" dirty="0"/>
                    </a:p>
                  </a:txBody>
                  <a:tcPr/>
                </a:tc>
                <a:tc>
                  <a:txBody>
                    <a:bodyPr/>
                    <a:lstStyle/>
                    <a:p>
                      <a:r>
                        <a:rPr lang="en-IN" dirty="0" smtClean="0"/>
                        <a:t>IT</a:t>
                      </a:r>
                      <a:endParaRPr lang="en-IN" dirty="0"/>
                    </a:p>
                  </a:txBody>
                  <a:tcPr/>
                </a:tc>
                <a:tc>
                  <a:txBody>
                    <a:bodyPr/>
                    <a:lstStyle/>
                    <a:p>
                      <a:r>
                        <a:rPr lang="en-IN" dirty="0" smtClean="0"/>
                        <a:t>Vellore</a:t>
                      </a:r>
                      <a:endParaRPr lang="en-IN" dirty="0"/>
                    </a:p>
                  </a:txBody>
                  <a:tcPr/>
                </a:tc>
                <a:tc>
                  <a:txBody>
                    <a:bodyPr/>
                    <a:lstStyle/>
                    <a:p>
                      <a:endParaRPr lang="en-IN" dirty="0"/>
                    </a:p>
                  </a:txBody>
                  <a:tcPr/>
                </a:tc>
              </a:tr>
              <a:tr h="370840">
                <a:tc>
                  <a:txBody>
                    <a:bodyPr/>
                    <a:lstStyle/>
                    <a:p>
                      <a:r>
                        <a:rPr lang="en-IN" dirty="0" smtClean="0"/>
                        <a:t>300</a:t>
                      </a:r>
                      <a:endParaRPr lang="en-IN" dirty="0"/>
                    </a:p>
                  </a:txBody>
                  <a:tcPr/>
                </a:tc>
                <a:tc>
                  <a:txBody>
                    <a:bodyPr/>
                    <a:lstStyle/>
                    <a:p>
                      <a:r>
                        <a:rPr lang="en-IN" dirty="0" smtClean="0"/>
                        <a:t>Uma</a:t>
                      </a:r>
                      <a:endParaRPr lang="en-IN" dirty="0"/>
                    </a:p>
                  </a:txBody>
                  <a:tcPr/>
                </a:tc>
                <a:tc>
                  <a:txBody>
                    <a:bodyPr/>
                    <a:lstStyle/>
                    <a:p>
                      <a:r>
                        <a:rPr lang="en-IN" dirty="0" smtClean="0"/>
                        <a:t>18</a:t>
                      </a:r>
                      <a:endParaRPr lang="en-IN" dirty="0"/>
                    </a:p>
                  </a:txBody>
                  <a:tcPr/>
                </a:tc>
                <a:tc>
                  <a:txBody>
                    <a:bodyPr/>
                    <a:lstStyle/>
                    <a:p>
                      <a:r>
                        <a:rPr lang="en-IN" dirty="0" smtClean="0"/>
                        <a:t>CSE</a:t>
                      </a:r>
                      <a:endParaRPr lang="en-IN" dirty="0"/>
                    </a:p>
                  </a:txBody>
                  <a:tcPr/>
                </a:tc>
                <a:tc>
                  <a:txBody>
                    <a:bodyPr/>
                    <a:lstStyle/>
                    <a:p>
                      <a:r>
                        <a:rPr lang="en-IN" dirty="0" smtClean="0"/>
                        <a:t>Chennai</a:t>
                      </a:r>
                      <a:endParaRPr lang="en-IN" dirty="0"/>
                    </a:p>
                  </a:txBody>
                  <a:tcPr/>
                </a:tc>
                <a:tc>
                  <a:txBody>
                    <a:bodyPr/>
                    <a:lstStyle/>
                    <a:p>
                      <a:r>
                        <a:rPr lang="en-IN" smtClean="0"/>
                        <a:t>81</a:t>
                      </a:r>
                      <a:endParaRPr lang="en-IN" dirty="0"/>
                    </a:p>
                  </a:txBody>
                  <a:tcPr/>
                </a:tc>
              </a:tr>
              <a:tr h="370840">
                <a:tc>
                  <a:txBody>
                    <a:bodyPr/>
                    <a:lstStyle/>
                    <a:p>
                      <a:r>
                        <a:rPr lang="en-IN" dirty="0" smtClean="0"/>
                        <a:t>400</a:t>
                      </a:r>
                      <a:endParaRPr lang="en-IN" dirty="0"/>
                    </a:p>
                  </a:txBody>
                  <a:tcPr/>
                </a:tc>
                <a:tc>
                  <a:txBody>
                    <a:bodyPr/>
                    <a:lstStyle/>
                    <a:p>
                      <a:r>
                        <a:rPr lang="en-IN" dirty="0" smtClean="0"/>
                        <a:t>Rama</a:t>
                      </a:r>
                      <a:endParaRPr lang="en-IN" dirty="0"/>
                    </a:p>
                  </a:txBody>
                  <a:tcPr/>
                </a:tc>
                <a:tc>
                  <a:txBody>
                    <a:bodyPr/>
                    <a:lstStyle/>
                    <a:p>
                      <a:r>
                        <a:rPr lang="en-IN" dirty="0" smtClean="0"/>
                        <a:t>19</a:t>
                      </a:r>
                      <a:endParaRPr lang="en-IN" dirty="0"/>
                    </a:p>
                  </a:txBody>
                  <a:tcPr/>
                </a:tc>
                <a:tc>
                  <a:txBody>
                    <a:bodyPr/>
                    <a:lstStyle/>
                    <a:p>
                      <a:r>
                        <a:rPr lang="en-IN" dirty="0" smtClean="0"/>
                        <a:t>IT</a:t>
                      </a:r>
                      <a:endParaRPr lang="en-IN" dirty="0"/>
                    </a:p>
                  </a:txBody>
                  <a:tcPr/>
                </a:tc>
                <a:tc>
                  <a:txBody>
                    <a:bodyPr/>
                    <a:lstStyle/>
                    <a:p>
                      <a:endParaRPr lang="en-IN" dirty="0"/>
                    </a:p>
                  </a:txBody>
                  <a:tcPr/>
                </a:tc>
                <a:tc>
                  <a:txBody>
                    <a:bodyPr/>
                    <a:lstStyle/>
                    <a:p>
                      <a:r>
                        <a:rPr lang="en-IN" dirty="0" smtClean="0"/>
                        <a:t>72</a:t>
                      </a:r>
                      <a:endParaRPr lang="en-IN" dirty="0"/>
                    </a:p>
                  </a:txBody>
                  <a:tcPr/>
                </a:tc>
              </a:tr>
              <a:tr h="370840">
                <a:tc>
                  <a:txBody>
                    <a:bodyPr/>
                    <a:lstStyle/>
                    <a:p>
                      <a:r>
                        <a:rPr lang="en-IN" dirty="0" smtClean="0"/>
                        <a:t>500</a:t>
                      </a:r>
                    </a:p>
                    <a:p>
                      <a:endParaRPr lang="en-IN" dirty="0" smtClean="0"/>
                    </a:p>
                    <a:p>
                      <a:endParaRPr lang="en-IN" dirty="0" smtClean="0"/>
                    </a:p>
                    <a:p>
                      <a:r>
                        <a:rPr lang="en-IN" dirty="0" smtClean="0"/>
                        <a:t>Rows</a:t>
                      </a:r>
                      <a:r>
                        <a:rPr lang="en-IN" baseline="0" dirty="0" smtClean="0"/>
                        <a:t> :  Tuples</a:t>
                      </a:r>
                      <a:endParaRPr lang="en-IN" dirty="0"/>
                    </a:p>
                  </a:txBody>
                  <a:tcPr/>
                </a:tc>
                <a:tc>
                  <a:txBody>
                    <a:bodyPr/>
                    <a:lstStyle/>
                    <a:p>
                      <a:r>
                        <a:rPr lang="en-IN" dirty="0" smtClean="0"/>
                        <a:t>Raja</a:t>
                      </a:r>
                    </a:p>
                    <a:p>
                      <a:endParaRPr lang="en-IN" dirty="0" smtClean="0"/>
                    </a:p>
                    <a:p>
                      <a:endParaRPr lang="en-IN" dirty="0" smtClean="0"/>
                    </a:p>
                    <a:p>
                      <a:r>
                        <a:rPr lang="en-IN" dirty="0" smtClean="0"/>
                        <a:t>Columns:</a:t>
                      </a:r>
                      <a:r>
                        <a:rPr lang="en-IN" baseline="0" dirty="0" smtClean="0"/>
                        <a:t> Attributes</a:t>
                      </a:r>
                      <a:endParaRPr lang="en-IN" dirty="0"/>
                    </a:p>
                  </a:txBody>
                  <a:tcPr/>
                </a:tc>
                <a:tc>
                  <a:txBody>
                    <a:bodyPr/>
                    <a:lstStyle/>
                    <a:p>
                      <a:r>
                        <a:rPr lang="en-IN" dirty="0" smtClean="0"/>
                        <a:t>20</a:t>
                      </a:r>
                    </a:p>
                    <a:p>
                      <a:endParaRPr lang="en-IN" dirty="0" smtClean="0"/>
                    </a:p>
                    <a:p>
                      <a:endParaRPr lang="en-IN" dirty="0" smtClean="0"/>
                    </a:p>
                    <a:p>
                      <a:r>
                        <a:rPr lang="en-IN" dirty="0" smtClean="0"/>
                        <a:t>Table:</a:t>
                      </a:r>
                    </a:p>
                    <a:p>
                      <a:r>
                        <a:rPr lang="en-IN" dirty="0" smtClean="0"/>
                        <a:t>Relation</a:t>
                      </a:r>
                      <a:endParaRPr lang="en-IN" dirty="0"/>
                    </a:p>
                  </a:txBody>
                  <a:tcPr/>
                </a:tc>
                <a:tc>
                  <a:txBody>
                    <a:bodyPr/>
                    <a:lstStyle/>
                    <a:p>
                      <a:r>
                        <a:rPr lang="en-IN" dirty="0" smtClean="0"/>
                        <a:t>IT</a:t>
                      </a:r>
                      <a:endParaRPr lang="en-IN" dirty="0"/>
                    </a:p>
                  </a:txBody>
                  <a:tcPr/>
                </a:tc>
                <a:tc>
                  <a:txBody>
                    <a:bodyPr/>
                    <a:lstStyle/>
                    <a:p>
                      <a:r>
                        <a:rPr lang="en-IN" dirty="0" smtClean="0"/>
                        <a:t>Vellore</a:t>
                      </a:r>
                      <a:endParaRPr lang="en-IN" dirty="0"/>
                    </a:p>
                  </a:txBody>
                  <a:tcPr/>
                </a:tc>
                <a:tc>
                  <a:txBody>
                    <a:bodyPr/>
                    <a:lstStyle/>
                    <a:p>
                      <a:r>
                        <a:rPr lang="en-IN" dirty="0" smtClean="0"/>
                        <a:t>95</a:t>
                      </a:r>
                      <a:endParaRPr lang="en-IN" dirty="0"/>
                    </a:p>
                  </a:txBody>
                  <a:tcPr/>
                </a:tc>
              </a:tr>
            </a:tbl>
          </a:graphicData>
        </a:graphic>
      </p:graphicFrame>
      <p:sp>
        <p:nvSpPr>
          <p:cNvPr id="3" name="Slide Number Placeholder 2"/>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175549145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Examples of commercial database management systems</a:t>
            </a:r>
            <a:endParaRPr lang="en-IN" dirty="0"/>
          </a:p>
        </p:txBody>
      </p:sp>
      <p:sp>
        <p:nvSpPr>
          <p:cNvPr id="3" name="Content Placeholder 2"/>
          <p:cNvSpPr>
            <a:spLocks noGrp="1"/>
          </p:cNvSpPr>
          <p:nvPr>
            <p:ph idx="1"/>
          </p:nvPr>
        </p:nvSpPr>
        <p:spPr/>
        <p:txBody>
          <a:bodyPr/>
          <a:lstStyle/>
          <a:p>
            <a:r>
              <a:rPr lang="en-IN" dirty="0" smtClean="0"/>
              <a:t>ORACLE</a:t>
            </a:r>
          </a:p>
          <a:p>
            <a:r>
              <a:rPr lang="en-IN" dirty="0" smtClean="0"/>
              <a:t>DB2</a:t>
            </a:r>
          </a:p>
          <a:p>
            <a:r>
              <a:rPr lang="en-IN" dirty="0" smtClean="0"/>
              <a:t>Ingres</a:t>
            </a:r>
          </a:p>
          <a:p>
            <a:r>
              <a:rPr lang="en-IN" dirty="0" err="1" smtClean="0"/>
              <a:t>Postgres</a:t>
            </a:r>
            <a:endParaRPr lang="en-IN" dirty="0" smtClean="0"/>
          </a:p>
          <a:p>
            <a:r>
              <a:rPr lang="en-IN" dirty="0" smtClean="0"/>
              <a:t>SQL Server</a:t>
            </a:r>
          </a:p>
          <a:p>
            <a:r>
              <a:rPr lang="en-IN" dirty="0" smtClean="0"/>
              <a:t>MySQL</a:t>
            </a:r>
          </a:p>
          <a:p>
            <a:r>
              <a:rPr lang="en-IN" dirty="0" smtClean="0"/>
              <a:t>MS-ACCESS</a:t>
            </a: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34557723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Database Management System </a:t>
            </a:r>
            <a:endParaRPr lang="en-IN" dirty="0"/>
          </a:p>
        </p:txBody>
      </p:sp>
      <p:sp>
        <p:nvSpPr>
          <p:cNvPr id="3" name="Content Placeholder 2"/>
          <p:cNvSpPr>
            <a:spLocks noGrp="1"/>
          </p:cNvSpPr>
          <p:nvPr>
            <p:ph idx="1"/>
          </p:nvPr>
        </p:nvSpPr>
        <p:spPr/>
        <p:txBody>
          <a:bodyPr/>
          <a:lstStyle/>
          <a:p>
            <a:pPr>
              <a:lnSpc>
                <a:spcPct val="90000"/>
              </a:lnSpc>
            </a:pPr>
            <a:r>
              <a:rPr lang="en-US" dirty="0" smtClean="0"/>
              <a:t>Database - Collection </a:t>
            </a:r>
            <a:r>
              <a:rPr lang="en-US" dirty="0"/>
              <a:t>of interrelated </a:t>
            </a:r>
            <a:r>
              <a:rPr lang="en-US" dirty="0" smtClean="0"/>
              <a:t>data.</a:t>
            </a:r>
            <a:endParaRPr lang="en-US" dirty="0"/>
          </a:p>
          <a:p>
            <a:pPr>
              <a:lnSpc>
                <a:spcPct val="90000"/>
              </a:lnSpc>
            </a:pPr>
            <a:r>
              <a:rPr lang="en-US" dirty="0" smtClean="0"/>
              <a:t>DBMS - Set </a:t>
            </a:r>
            <a:r>
              <a:rPr lang="en-US" dirty="0"/>
              <a:t>of programs to access the </a:t>
            </a:r>
            <a:r>
              <a:rPr lang="en-US" dirty="0" smtClean="0"/>
              <a:t>data. </a:t>
            </a:r>
            <a:endParaRPr lang="en-US" dirty="0"/>
          </a:p>
          <a:p>
            <a:pPr>
              <a:lnSpc>
                <a:spcPct val="90000"/>
              </a:lnSpc>
            </a:pPr>
            <a:r>
              <a:rPr lang="en-US" dirty="0">
                <a:solidFill>
                  <a:srgbClr val="FF0000"/>
                </a:solidFill>
              </a:rPr>
              <a:t>DBMS contains information about a particular </a:t>
            </a:r>
            <a:r>
              <a:rPr lang="en-US" dirty="0" smtClean="0">
                <a:solidFill>
                  <a:srgbClr val="FF0000"/>
                </a:solidFill>
              </a:rPr>
              <a:t>enterprise. </a:t>
            </a:r>
            <a:r>
              <a:rPr lang="en-US" dirty="0" err="1" smtClean="0">
                <a:solidFill>
                  <a:srgbClr val="FF0000"/>
                </a:solidFill>
              </a:rPr>
              <a:t>Eg</a:t>
            </a:r>
            <a:r>
              <a:rPr lang="en-US" dirty="0" smtClean="0">
                <a:solidFill>
                  <a:srgbClr val="FF0000"/>
                </a:solidFill>
              </a:rPr>
              <a:t>: Bank, University, Railways, </a:t>
            </a:r>
            <a:r>
              <a:rPr lang="en-US" dirty="0" err="1" smtClean="0">
                <a:solidFill>
                  <a:srgbClr val="FF0000"/>
                </a:solidFill>
              </a:rPr>
              <a:t>Super_market</a:t>
            </a:r>
            <a:r>
              <a:rPr lang="en-US" dirty="0" smtClean="0">
                <a:solidFill>
                  <a:srgbClr val="FF0000"/>
                </a:solidFill>
              </a:rPr>
              <a:t>.</a:t>
            </a:r>
            <a:endParaRPr lang="en-US" dirty="0">
              <a:solidFill>
                <a:srgbClr val="FF0000"/>
              </a:solidFill>
            </a:endParaRPr>
          </a:p>
          <a:p>
            <a:pPr>
              <a:lnSpc>
                <a:spcPct val="90000"/>
              </a:lnSpc>
            </a:pPr>
            <a:r>
              <a:rPr lang="en-US" dirty="0"/>
              <a:t>DBMS provides an environment that is both </a:t>
            </a:r>
            <a:r>
              <a:rPr lang="en-US" i="1" dirty="0"/>
              <a:t>convenient</a:t>
            </a:r>
            <a:r>
              <a:rPr lang="en-US" dirty="0"/>
              <a:t> and </a:t>
            </a:r>
            <a:r>
              <a:rPr lang="en-US" i="1" dirty="0"/>
              <a:t>efficient</a:t>
            </a:r>
            <a:r>
              <a:rPr lang="en-US" dirty="0"/>
              <a:t> to use.</a:t>
            </a:r>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39049465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00B050"/>
                </a:solidFill>
              </a:rPr>
              <a:t>Operations on Databases</a:t>
            </a:r>
            <a:endParaRPr lang="en-IN" dirty="0">
              <a:solidFill>
                <a:srgbClr val="00B050"/>
              </a:solidFill>
            </a:endParaRPr>
          </a:p>
        </p:txBody>
      </p:sp>
      <p:sp>
        <p:nvSpPr>
          <p:cNvPr id="3" name="Content Placeholder 2"/>
          <p:cNvSpPr>
            <a:spLocks noGrp="1"/>
          </p:cNvSpPr>
          <p:nvPr>
            <p:ph idx="1"/>
          </p:nvPr>
        </p:nvSpPr>
        <p:spPr/>
        <p:txBody>
          <a:bodyPr/>
          <a:lstStyle/>
          <a:p>
            <a:r>
              <a:rPr lang="en-IN" dirty="0" smtClean="0">
                <a:solidFill>
                  <a:srgbClr val="7030A0"/>
                </a:solidFill>
              </a:rPr>
              <a:t>Create a Database</a:t>
            </a:r>
          </a:p>
          <a:p>
            <a:r>
              <a:rPr lang="en-IN" dirty="0" smtClean="0">
                <a:solidFill>
                  <a:srgbClr val="7030A0"/>
                </a:solidFill>
              </a:rPr>
              <a:t>Create a Table</a:t>
            </a:r>
          </a:p>
          <a:p>
            <a:r>
              <a:rPr lang="en-IN" dirty="0" smtClean="0">
                <a:solidFill>
                  <a:srgbClr val="7030A0"/>
                </a:solidFill>
              </a:rPr>
              <a:t>Insert Rows into a Table</a:t>
            </a:r>
          </a:p>
          <a:p>
            <a:r>
              <a:rPr lang="en-IN" dirty="0" smtClean="0">
                <a:solidFill>
                  <a:srgbClr val="7030A0"/>
                </a:solidFill>
              </a:rPr>
              <a:t>Delete Rows from a Table</a:t>
            </a:r>
          </a:p>
          <a:p>
            <a:r>
              <a:rPr lang="en-IN" dirty="0" smtClean="0">
                <a:solidFill>
                  <a:srgbClr val="7030A0"/>
                </a:solidFill>
              </a:rPr>
              <a:t>Update Rows</a:t>
            </a:r>
          </a:p>
          <a:p>
            <a:r>
              <a:rPr lang="en-IN" dirty="0" smtClean="0">
                <a:solidFill>
                  <a:srgbClr val="7030A0"/>
                </a:solidFill>
              </a:rPr>
              <a:t>Retrieve Rows</a:t>
            </a:r>
            <a:endParaRPr lang="en-IN" dirty="0">
              <a:solidFill>
                <a:srgbClr val="7030A0"/>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273743602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Database Applications</a:t>
            </a:r>
            <a:r>
              <a:rPr lang="en-US" dirty="0"/>
              <a:t/>
            </a:r>
            <a:br>
              <a:rPr lang="en-US" dirty="0"/>
            </a:br>
            <a:endParaRPr lang="en-IN" dirty="0"/>
          </a:p>
        </p:txBody>
      </p:sp>
      <p:sp>
        <p:nvSpPr>
          <p:cNvPr id="3" name="Content Placeholder 2"/>
          <p:cNvSpPr>
            <a:spLocks noGrp="1"/>
          </p:cNvSpPr>
          <p:nvPr>
            <p:ph idx="1"/>
          </p:nvPr>
        </p:nvSpPr>
        <p:spPr/>
        <p:txBody>
          <a:bodyPr>
            <a:normAutofit lnSpcReduction="10000"/>
          </a:bodyPr>
          <a:lstStyle/>
          <a:p>
            <a:pPr marL="457200" lvl="1" indent="0">
              <a:lnSpc>
                <a:spcPct val="90000"/>
              </a:lnSpc>
              <a:buNone/>
            </a:pPr>
            <a:r>
              <a:rPr lang="en-US" dirty="0" smtClean="0"/>
              <a:t>Database Applications </a:t>
            </a:r>
          </a:p>
          <a:p>
            <a:pPr marL="457200" lvl="1" indent="0">
              <a:lnSpc>
                <a:spcPct val="90000"/>
              </a:lnSpc>
              <a:buNone/>
            </a:pPr>
            <a:r>
              <a:rPr lang="en-US" dirty="0"/>
              <a:t> </a:t>
            </a:r>
            <a:r>
              <a:rPr lang="en-US" dirty="0" smtClean="0"/>
              <a:t>   - Banking</a:t>
            </a:r>
            <a:r>
              <a:rPr lang="en-US" dirty="0"/>
              <a:t>: all </a:t>
            </a:r>
            <a:r>
              <a:rPr lang="en-US" dirty="0" smtClean="0"/>
              <a:t>transactions.</a:t>
            </a:r>
            <a:endParaRPr lang="en-US" dirty="0"/>
          </a:p>
          <a:p>
            <a:pPr marL="457200" lvl="1" indent="0">
              <a:lnSpc>
                <a:spcPct val="90000"/>
              </a:lnSpc>
              <a:buNone/>
            </a:pPr>
            <a:r>
              <a:rPr lang="en-US" dirty="0"/>
              <a:t> </a:t>
            </a:r>
            <a:r>
              <a:rPr lang="en-US" dirty="0" smtClean="0"/>
              <a:t>   - Airlines</a:t>
            </a:r>
            <a:r>
              <a:rPr lang="en-US" dirty="0"/>
              <a:t>: reservations, </a:t>
            </a:r>
            <a:r>
              <a:rPr lang="en-US" dirty="0" smtClean="0"/>
              <a:t>schedules.</a:t>
            </a:r>
            <a:endParaRPr lang="en-US" dirty="0"/>
          </a:p>
          <a:p>
            <a:pPr marL="457200" lvl="1" indent="0">
              <a:lnSpc>
                <a:spcPct val="90000"/>
              </a:lnSpc>
              <a:buNone/>
            </a:pPr>
            <a:r>
              <a:rPr lang="en-US" dirty="0" smtClean="0"/>
              <a:t>    - Universities</a:t>
            </a:r>
            <a:r>
              <a:rPr lang="en-US" dirty="0"/>
              <a:t>:  registration, grades</a:t>
            </a:r>
          </a:p>
          <a:p>
            <a:pPr marL="457200" lvl="1" indent="0">
              <a:lnSpc>
                <a:spcPct val="90000"/>
              </a:lnSpc>
              <a:buNone/>
            </a:pPr>
            <a:r>
              <a:rPr lang="en-US" dirty="0" smtClean="0"/>
              <a:t>    - Sales</a:t>
            </a:r>
            <a:r>
              <a:rPr lang="en-US" dirty="0"/>
              <a:t>: customers, products, </a:t>
            </a:r>
            <a:r>
              <a:rPr lang="en-US" dirty="0" smtClean="0"/>
              <a:t>purchases.</a:t>
            </a:r>
            <a:endParaRPr lang="en-US" dirty="0"/>
          </a:p>
          <a:p>
            <a:pPr marL="457200" lvl="1" indent="0">
              <a:lnSpc>
                <a:spcPct val="90000"/>
              </a:lnSpc>
              <a:buNone/>
            </a:pPr>
            <a:r>
              <a:rPr lang="en-US" dirty="0" smtClean="0"/>
              <a:t>    - Manufacturing</a:t>
            </a:r>
            <a:r>
              <a:rPr lang="en-US" dirty="0"/>
              <a:t>: production, inventory, orders, </a:t>
            </a:r>
            <a:r>
              <a:rPr lang="en-US" dirty="0" smtClean="0"/>
              <a:t>	 supply chain.</a:t>
            </a:r>
          </a:p>
          <a:p>
            <a:pPr marL="457200" lvl="1" indent="0">
              <a:lnSpc>
                <a:spcPct val="90000"/>
              </a:lnSpc>
              <a:buNone/>
            </a:pPr>
            <a:r>
              <a:rPr lang="en-US" dirty="0"/>
              <a:t> </a:t>
            </a:r>
            <a:r>
              <a:rPr lang="en-US" dirty="0" smtClean="0"/>
              <a:t>   - Human </a:t>
            </a:r>
            <a:r>
              <a:rPr lang="en-US" dirty="0"/>
              <a:t>resources:  employee records, salaries, </a:t>
            </a:r>
            <a:r>
              <a:rPr lang="en-US" dirty="0" smtClean="0"/>
              <a:t>	 tax deductions.</a:t>
            </a:r>
            <a:endParaRPr lang="en-US" dirty="0"/>
          </a:p>
          <a:p>
            <a:pPr>
              <a:lnSpc>
                <a:spcPct val="90000"/>
              </a:lnSpc>
            </a:pPr>
            <a:r>
              <a:rPr lang="en-US" dirty="0"/>
              <a:t>Databases touch all aspects of our </a:t>
            </a:r>
            <a:r>
              <a:rPr lang="en-US" dirty="0" smtClean="0"/>
              <a:t>lives.</a:t>
            </a:r>
            <a:endParaRPr lang="en-US" dirty="0"/>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val="150920483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Purpose of Database Systems</a:t>
            </a:r>
            <a:endParaRPr lang="en-IN" dirty="0"/>
          </a:p>
        </p:txBody>
      </p:sp>
      <p:sp>
        <p:nvSpPr>
          <p:cNvPr id="3" name="Content Placeholder 2"/>
          <p:cNvSpPr>
            <a:spLocks noGrp="1"/>
          </p:cNvSpPr>
          <p:nvPr>
            <p:ph idx="1"/>
          </p:nvPr>
        </p:nvSpPr>
        <p:spPr/>
        <p:txBody>
          <a:bodyPr>
            <a:normAutofit fontScale="92500" lnSpcReduction="10000"/>
          </a:bodyPr>
          <a:lstStyle/>
          <a:p>
            <a:pPr>
              <a:lnSpc>
                <a:spcPct val="80000"/>
              </a:lnSpc>
            </a:pPr>
            <a:r>
              <a:rPr lang="en-US" dirty="0">
                <a:solidFill>
                  <a:srgbClr val="FF0000"/>
                </a:solidFill>
              </a:rPr>
              <a:t>Database management systems were developed to handle </a:t>
            </a:r>
            <a:r>
              <a:rPr lang="en-US" dirty="0" smtClean="0">
                <a:solidFill>
                  <a:srgbClr val="FF0000"/>
                </a:solidFill>
              </a:rPr>
              <a:t>the    </a:t>
            </a:r>
            <a:r>
              <a:rPr lang="en-US" dirty="0">
                <a:solidFill>
                  <a:srgbClr val="FF0000"/>
                </a:solidFill>
              </a:rPr>
              <a:t>following difficulties of typical file-processing systems supported by</a:t>
            </a:r>
          </a:p>
          <a:p>
            <a:pPr>
              <a:lnSpc>
                <a:spcPct val="80000"/>
              </a:lnSpc>
              <a:buNone/>
            </a:pPr>
            <a:r>
              <a:rPr lang="en-US" dirty="0">
                <a:solidFill>
                  <a:srgbClr val="FF0000"/>
                </a:solidFill>
              </a:rPr>
              <a:t>    conventional operating systems.</a:t>
            </a:r>
          </a:p>
          <a:p>
            <a:pPr>
              <a:lnSpc>
                <a:spcPct val="80000"/>
              </a:lnSpc>
            </a:pPr>
            <a:r>
              <a:rPr lang="en-US" dirty="0">
                <a:solidFill>
                  <a:srgbClr val="00B050"/>
                </a:solidFill>
              </a:rPr>
              <a:t>Data redundancy and inconsistency</a:t>
            </a:r>
          </a:p>
          <a:p>
            <a:pPr>
              <a:lnSpc>
                <a:spcPct val="80000"/>
              </a:lnSpc>
            </a:pPr>
            <a:r>
              <a:rPr lang="en-US" i="1" dirty="0">
                <a:solidFill>
                  <a:srgbClr val="00B050"/>
                </a:solidFill>
              </a:rPr>
              <a:t> </a:t>
            </a:r>
            <a:r>
              <a:rPr lang="en-US" dirty="0">
                <a:solidFill>
                  <a:srgbClr val="00B050"/>
                </a:solidFill>
              </a:rPr>
              <a:t>Difficulty in accessing data</a:t>
            </a:r>
          </a:p>
          <a:p>
            <a:pPr>
              <a:lnSpc>
                <a:spcPct val="80000"/>
              </a:lnSpc>
            </a:pPr>
            <a:r>
              <a:rPr lang="en-US" i="1" dirty="0">
                <a:solidFill>
                  <a:srgbClr val="00B050"/>
                </a:solidFill>
              </a:rPr>
              <a:t> </a:t>
            </a:r>
            <a:r>
              <a:rPr lang="en-US" dirty="0">
                <a:solidFill>
                  <a:srgbClr val="00B050"/>
                </a:solidFill>
              </a:rPr>
              <a:t>Data isolation – multiple files and formats</a:t>
            </a:r>
          </a:p>
          <a:p>
            <a:pPr>
              <a:lnSpc>
                <a:spcPct val="80000"/>
              </a:lnSpc>
            </a:pPr>
            <a:r>
              <a:rPr lang="en-US" i="1" dirty="0">
                <a:solidFill>
                  <a:srgbClr val="00B050"/>
                </a:solidFill>
              </a:rPr>
              <a:t> </a:t>
            </a:r>
            <a:r>
              <a:rPr lang="en-US" dirty="0">
                <a:solidFill>
                  <a:srgbClr val="00B050"/>
                </a:solidFill>
              </a:rPr>
              <a:t>Integrity problems</a:t>
            </a:r>
          </a:p>
          <a:p>
            <a:pPr>
              <a:lnSpc>
                <a:spcPct val="80000"/>
              </a:lnSpc>
            </a:pPr>
            <a:r>
              <a:rPr lang="en-US" i="1" dirty="0">
                <a:solidFill>
                  <a:srgbClr val="00B050"/>
                </a:solidFill>
              </a:rPr>
              <a:t> </a:t>
            </a:r>
            <a:r>
              <a:rPr lang="en-US" dirty="0">
                <a:solidFill>
                  <a:srgbClr val="00B050"/>
                </a:solidFill>
              </a:rPr>
              <a:t>Atomicity of updates</a:t>
            </a:r>
          </a:p>
          <a:p>
            <a:pPr>
              <a:lnSpc>
                <a:spcPct val="80000"/>
              </a:lnSpc>
            </a:pPr>
            <a:r>
              <a:rPr lang="en-US" i="1" dirty="0">
                <a:solidFill>
                  <a:srgbClr val="00B050"/>
                </a:solidFill>
              </a:rPr>
              <a:t> </a:t>
            </a:r>
            <a:r>
              <a:rPr lang="en-US" dirty="0">
                <a:solidFill>
                  <a:srgbClr val="00B050"/>
                </a:solidFill>
              </a:rPr>
              <a:t>Concurrent access by multiple users</a:t>
            </a:r>
          </a:p>
          <a:p>
            <a:pPr>
              <a:lnSpc>
                <a:spcPct val="80000"/>
              </a:lnSpc>
            </a:pPr>
            <a:r>
              <a:rPr lang="en-US" i="1" dirty="0">
                <a:solidFill>
                  <a:srgbClr val="00B050"/>
                </a:solidFill>
              </a:rPr>
              <a:t> </a:t>
            </a:r>
            <a:r>
              <a:rPr lang="en-US" dirty="0">
                <a:solidFill>
                  <a:srgbClr val="00B050"/>
                </a:solidFill>
              </a:rPr>
              <a:t>Security problems  </a:t>
            </a:r>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40811028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ADVANTAGES OF DBMS</a:t>
            </a:r>
            <a:endParaRPr lang="en-IN" dirty="0">
              <a:solidFill>
                <a:srgbClr val="FF0000"/>
              </a:solidFill>
            </a:endParaRPr>
          </a:p>
        </p:txBody>
      </p:sp>
      <p:sp>
        <p:nvSpPr>
          <p:cNvPr id="3" name="Content Placeholder 2"/>
          <p:cNvSpPr>
            <a:spLocks noGrp="1"/>
          </p:cNvSpPr>
          <p:nvPr>
            <p:ph idx="1"/>
          </p:nvPr>
        </p:nvSpPr>
        <p:spPr/>
        <p:txBody>
          <a:bodyPr/>
          <a:lstStyle/>
          <a:p>
            <a:pPr>
              <a:lnSpc>
                <a:spcPct val="90000"/>
              </a:lnSpc>
            </a:pPr>
            <a:r>
              <a:rPr lang="en-US" dirty="0">
                <a:solidFill>
                  <a:srgbClr val="00B050"/>
                </a:solidFill>
              </a:rPr>
              <a:t>CENTRALISED CONTROL</a:t>
            </a:r>
          </a:p>
          <a:p>
            <a:pPr>
              <a:lnSpc>
                <a:spcPct val="90000"/>
              </a:lnSpc>
            </a:pPr>
            <a:r>
              <a:rPr lang="en-US" dirty="0">
                <a:solidFill>
                  <a:srgbClr val="00B050"/>
                </a:solidFill>
              </a:rPr>
              <a:t>INTEGRATED AND SHARED</a:t>
            </a:r>
          </a:p>
          <a:p>
            <a:pPr>
              <a:lnSpc>
                <a:spcPct val="90000"/>
              </a:lnSpc>
            </a:pPr>
            <a:r>
              <a:rPr lang="en-US" dirty="0">
                <a:solidFill>
                  <a:srgbClr val="00B050"/>
                </a:solidFill>
              </a:rPr>
              <a:t>REDUNDANCY CAN BE REDUCED</a:t>
            </a:r>
          </a:p>
          <a:p>
            <a:pPr>
              <a:lnSpc>
                <a:spcPct val="90000"/>
              </a:lnSpc>
            </a:pPr>
            <a:r>
              <a:rPr lang="en-US" dirty="0">
                <a:solidFill>
                  <a:srgbClr val="00B050"/>
                </a:solidFill>
              </a:rPr>
              <a:t>INCONSISTENCY CAN BE AVOIDED</a:t>
            </a:r>
          </a:p>
          <a:p>
            <a:pPr>
              <a:lnSpc>
                <a:spcPct val="90000"/>
              </a:lnSpc>
            </a:pPr>
            <a:r>
              <a:rPr lang="en-US" dirty="0">
                <a:solidFill>
                  <a:srgbClr val="00B050"/>
                </a:solidFill>
              </a:rPr>
              <a:t>STANDARDS CAN BE ENFORCED</a:t>
            </a:r>
          </a:p>
          <a:p>
            <a:pPr>
              <a:lnSpc>
                <a:spcPct val="90000"/>
              </a:lnSpc>
            </a:pPr>
            <a:r>
              <a:rPr lang="en-US" dirty="0">
                <a:solidFill>
                  <a:srgbClr val="00B050"/>
                </a:solidFill>
              </a:rPr>
              <a:t>SECURITY RESTRICTIONS </a:t>
            </a:r>
          </a:p>
          <a:p>
            <a:pPr>
              <a:lnSpc>
                <a:spcPct val="90000"/>
              </a:lnSpc>
            </a:pPr>
            <a:r>
              <a:rPr lang="en-US" dirty="0">
                <a:solidFill>
                  <a:srgbClr val="00B050"/>
                </a:solidFill>
              </a:rPr>
              <a:t>DATA INDEPENDENCE</a:t>
            </a:r>
          </a:p>
          <a:p>
            <a:pPr>
              <a:lnSpc>
                <a:spcPct val="90000"/>
              </a:lnSpc>
            </a:pPr>
            <a:r>
              <a:rPr lang="en-US" dirty="0">
                <a:solidFill>
                  <a:srgbClr val="00B050"/>
                </a:solidFill>
              </a:rPr>
              <a:t>INTEGRITY CAN BE MAINTAINED</a:t>
            </a:r>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p:spTree>
    <p:extLst>
      <p:ext uri="{BB962C8B-B14F-4D97-AF65-F5344CB8AC3E}">
        <p14:creationId xmlns:p14="http://schemas.microsoft.com/office/powerpoint/2010/main" val="17260512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KEYS</a:t>
            </a:r>
            <a:r>
              <a:rPr lang="en-US" dirty="0">
                <a:solidFill>
                  <a:srgbClr val="FF0000"/>
                </a:solidFill>
              </a:rPr>
              <a:t>	</a:t>
            </a:r>
            <a:endParaRPr lang="en-IN" dirty="0">
              <a:solidFill>
                <a:srgbClr val="FF0000"/>
              </a:solidFill>
            </a:endParaRPr>
          </a:p>
        </p:txBody>
      </p:sp>
      <p:sp>
        <p:nvSpPr>
          <p:cNvPr id="3" name="Content Placeholder 2"/>
          <p:cNvSpPr>
            <a:spLocks noGrp="1"/>
          </p:cNvSpPr>
          <p:nvPr>
            <p:ph idx="1"/>
          </p:nvPr>
        </p:nvSpPr>
        <p:spPr/>
        <p:txBody>
          <a:bodyPr>
            <a:normAutofit/>
          </a:bodyPr>
          <a:lstStyle/>
          <a:p>
            <a:r>
              <a:rPr lang="en-US" dirty="0">
                <a:solidFill>
                  <a:srgbClr val="00B050"/>
                </a:solidFill>
              </a:rPr>
              <a:t>CANDIDATE </a:t>
            </a:r>
            <a:r>
              <a:rPr lang="en-US" dirty="0" smtClean="0">
                <a:solidFill>
                  <a:srgbClr val="00B050"/>
                </a:solidFill>
              </a:rPr>
              <a:t>KEY</a:t>
            </a:r>
          </a:p>
          <a:p>
            <a:pPr marL="0" indent="0">
              <a:buNone/>
            </a:pPr>
            <a:r>
              <a:rPr lang="en-US" dirty="0">
                <a:solidFill>
                  <a:srgbClr val="00B050"/>
                </a:solidFill>
              </a:rPr>
              <a:t>C</a:t>
            </a:r>
            <a:r>
              <a:rPr lang="en-US" dirty="0" smtClean="0">
                <a:solidFill>
                  <a:srgbClr val="00B050"/>
                </a:solidFill>
              </a:rPr>
              <a:t>ollege(</a:t>
            </a:r>
            <a:r>
              <a:rPr lang="en-US" dirty="0" err="1" smtClean="0">
                <a:solidFill>
                  <a:srgbClr val="00B050"/>
                </a:solidFill>
              </a:rPr>
              <a:t>rollno</a:t>
            </a:r>
            <a:r>
              <a:rPr lang="en-US" dirty="0" smtClean="0">
                <a:solidFill>
                  <a:srgbClr val="00B050"/>
                </a:solidFill>
              </a:rPr>
              <a:t>, </a:t>
            </a:r>
            <a:r>
              <a:rPr lang="en-US" dirty="0" err="1" smtClean="0">
                <a:solidFill>
                  <a:srgbClr val="00B050"/>
                </a:solidFill>
              </a:rPr>
              <a:t>sname</a:t>
            </a:r>
            <a:r>
              <a:rPr lang="en-US" dirty="0" smtClean="0">
                <a:solidFill>
                  <a:srgbClr val="00B050"/>
                </a:solidFill>
              </a:rPr>
              <a:t>, address, age, marks)</a:t>
            </a:r>
          </a:p>
          <a:p>
            <a:pPr marL="0" indent="0">
              <a:buNone/>
            </a:pPr>
            <a:r>
              <a:rPr lang="en-US" dirty="0" smtClean="0">
                <a:solidFill>
                  <a:srgbClr val="00B050"/>
                </a:solidFill>
              </a:rPr>
              <a:t>Hostel(</a:t>
            </a:r>
            <a:r>
              <a:rPr lang="en-US" dirty="0" err="1" smtClean="0">
                <a:solidFill>
                  <a:srgbClr val="00B050"/>
                </a:solidFill>
              </a:rPr>
              <a:t>Stu_host_Id</a:t>
            </a:r>
            <a:r>
              <a:rPr lang="en-US" dirty="0" smtClean="0">
                <a:solidFill>
                  <a:srgbClr val="00B050"/>
                </a:solidFill>
              </a:rPr>
              <a:t>, </a:t>
            </a:r>
            <a:r>
              <a:rPr lang="en-US" dirty="0" err="1" smtClean="0">
                <a:solidFill>
                  <a:srgbClr val="00B050"/>
                </a:solidFill>
              </a:rPr>
              <a:t>sname</a:t>
            </a:r>
            <a:r>
              <a:rPr lang="en-US" dirty="0" smtClean="0">
                <a:solidFill>
                  <a:srgbClr val="00B050"/>
                </a:solidFill>
              </a:rPr>
              <a:t>, </a:t>
            </a:r>
            <a:r>
              <a:rPr lang="en-US" dirty="0" err="1" smtClean="0">
                <a:solidFill>
                  <a:srgbClr val="00B050"/>
                </a:solidFill>
              </a:rPr>
              <a:t>Mess_type</a:t>
            </a:r>
            <a:r>
              <a:rPr lang="en-US" dirty="0" smtClean="0">
                <a:solidFill>
                  <a:srgbClr val="00B050"/>
                </a:solidFill>
              </a:rPr>
              <a:t>,  </a:t>
            </a:r>
            <a:r>
              <a:rPr lang="en-US" dirty="0" err="1" smtClean="0">
                <a:solidFill>
                  <a:srgbClr val="00B050"/>
                </a:solidFill>
              </a:rPr>
              <a:t>Hostel_bolck</a:t>
            </a:r>
            <a:r>
              <a:rPr lang="en-US" dirty="0" smtClean="0">
                <a:solidFill>
                  <a:srgbClr val="00B050"/>
                </a:solidFill>
              </a:rPr>
              <a:t>, </a:t>
            </a:r>
            <a:r>
              <a:rPr lang="en-US" dirty="0" err="1" smtClean="0">
                <a:solidFill>
                  <a:srgbClr val="00B050"/>
                </a:solidFill>
              </a:rPr>
              <a:t>Room_no</a:t>
            </a:r>
            <a:r>
              <a:rPr lang="en-US" dirty="0" smtClean="0">
                <a:solidFill>
                  <a:srgbClr val="00B050"/>
                </a:solidFill>
              </a:rPr>
              <a:t>, </a:t>
            </a:r>
            <a:r>
              <a:rPr lang="en-US" dirty="0" err="1" smtClean="0">
                <a:solidFill>
                  <a:srgbClr val="00B050"/>
                </a:solidFill>
              </a:rPr>
              <a:t>rollno</a:t>
            </a:r>
            <a:r>
              <a:rPr lang="en-US" dirty="0" smtClean="0">
                <a:solidFill>
                  <a:srgbClr val="00B050"/>
                </a:solidFill>
              </a:rPr>
              <a:t>)</a:t>
            </a:r>
          </a:p>
          <a:p>
            <a:r>
              <a:rPr lang="en-US" dirty="0" smtClean="0">
                <a:solidFill>
                  <a:srgbClr val="FF0000"/>
                </a:solidFill>
              </a:rPr>
              <a:t>PRIMARY </a:t>
            </a:r>
            <a:r>
              <a:rPr lang="en-US" dirty="0">
                <a:solidFill>
                  <a:srgbClr val="FF0000"/>
                </a:solidFill>
              </a:rPr>
              <a:t>KEY </a:t>
            </a:r>
          </a:p>
          <a:p>
            <a:r>
              <a:rPr lang="en-US" dirty="0">
                <a:solidFill>
                  <a:srgbClr val="FF0000"/>
                </a:solidFill>
              </a:rPr>
              <a:t>FORIEGN KEY </a:t>
            </a:r>
            <a:endParaRPr lang="en-US" dirty="0" smtClean="0">
              <a:solidFill>
                <a:srgbClr val="FF0000"/>
              </a:solidFill>
            </a:endParaRPr>
          </a:p>
          <a:p>
            <a:pPr marL="0" indent="0">
              <a:buNone/>
            </a:pP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a:p>
        </p:txBody>
      </p:sp>
    </p:spTree>
    <p:extLst>
      <p:ext uri="{BB962C8B-B14F-4D97-AF65-F5344CB8AC3E}">
        <p14:creationId xmlns:p14="http://schemas.microsoft.com/office/powerpoint/2010/main" val="35274862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Candidate Keys</a:t>
            </a:r>
            <a:endParaRPr lang="en-IN" dirty="0"/>
          </a:p>
        </p:txBody>
      </p:sp>
      <p:sp>
        <p:nvSpPr>
          <p:cNvPr id="3" name="Content Placeholder 2"/>
          <p:cNvSpPr>
            <a:spLocks noGrp="1"/>
          </p:cNvSpPr>
          <p:nvPr>
            <p:ph idx="1"/>
          </p:nvPr>
        </p:nvSpPr>
        <p:spPr/>
        <p:txBody>
          <a:bodyPr>
            <a:normAutofit lnSpcReduction="10000"/>
          </a:bodyPr>
          <a:lstStyle/>
          <a:p>
            <a:r>
              <a:rPr lang="en-IN" dirty="0" smtClean="0"/>
              <a:t>Candidate Key : An attribute(column) or a set of attributes that uniquely identify the tuples (rows) of a relation (table) is known as the candidate key for the relation.</a:t>
            </a:r>
          </a:p>
          <a:p>
            <a:r>
              <a:rPr lang="en-IN" dirty="0" smtClean="0"/>
              <a:t>  </a:t>
            </a:r>
            <a:r>
              <a:rPr lang="en-IN" dirty="0" smtClean="0">
                <a:solidFill>
                  <a:srgbClr val="FF0000"/>
                </a:solidFill>
              </a:rPr>
              <a:t>Primary Key: Among the different candidate keys, one of the candidate keys will be designated as the primary key by the programmer. All the other candidate keys are known as the alternate keys</a:t>
            </a:r>
            <a:r>
              <a:rPr lang="en-IN" dirty="0" smtClean="0"/>
              <a:t>.</a:t>
            </a: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a:p>
        </p:txBody>
      </p:sp>
    </p:spTree>
    <p:extLst>
      <p:ext uri="{BB962C8B-B14F-4D97-AF65-F5344CB8AC3E}">
        <p14:creationId xmlns:p14="http://schemas.microsoft.com/office/powerpoint/2010/main" val="21228569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solidFill>
                  <a:srgbClr val="FF0000"/>
                </a:solidFill>
              </a:rPr>
              <a:t>Foreign Key</a:t>
            </a:r>
            <a:br>
              <a:rPr lang="en-IN" dirty="0" smtClean="0">
                <a:solidFill>
                  <a:srgbClr val="FF0000"/>
                </a:solidFill>
              </a:rPr>
            </a:br>
            <a:endParaRPr lang="en-IN" dirty="0">
              <a:solidFill>
                <a:srgbClr val="FF0000"/>
              </a:solidFill>
            </a:endParaRPr>
          </a:p>
        </p:txBody>
      </p:sp>
      <p:sp>
        <p:nvSpPr>
          <p:cNvPr id="3" name="Content Placeholder 2"/>
          <p:cNvSpPr>
            <a:spLocks noGrp="1"/>
          </p:cNvSpPr>
          <p:nvPr>
            <p:ph idx="1"/>
          </p:nvPr>
        </p:nvSpPr>
        <p:spPr/>
        <p:txBody>
          <a:bodyPr>
            <a:normAutofit fontScale="92500" lnSpcReduction="20000"/>
          </a:bodyPr>
          <a:lstStyle/>
          <a:p>
            <a:r>
              <a:rPr lang="en-IN" dirty="0" smtClean="0">
                <a:solidFill>
                  <a:srgbClr val="7030A0"/>
                </a:solidFill>
              </a:rPr>
              <a:t>An attribute which is a primary key in one table but an ordinary attribute in some other table is known as the foreign key in the table where it is not the primary key.</a:t>
            </a:r>
          </a:p>
          <a:p>
            <a:pPr marL="0" indent="0">
              <a:buNone/>
            </a:pPr>
            <a:r>
              <a:rPr lang="en-US" dirty="0">
                <a:solidFill>
                  <a:srgbClr val="00B050"/>
                </a:solidFill>
              </a:rPr>
              <a:t>College(</a:t>
            </a:r>
            <a:r>
              <a:rPr lang="en-US" dirty="0" err="1">
                <a:solidFill>
                  <a:srgbClr val="00B050"/>
                </a:solidFill>
              </a:rPr>
              <a:t>rollno</a:t>
            </a:r>
            <a:r>
              <a:rPr lang="en-US" dirty="0">
                <a:solidFill>
                  <a:srgbClr val="00B050"/>
                </a:solidFill>
              </a:rPr>
              <a:t>, </a:t>
            </a:r>
            <a:r>
              <a:rPr lang="en-US" dirty="0" err="1">
                <a:solidFill>
                  <a:srgbClr val="00B050"/>
                </a:solidFill>
              </a:rPr>
              <a:t>sname</a:t>
            </a:r>
            <a:r>
              <a:rPr lang="en-US" dirty="0">
                <a:solidFill>
                  <a:srgbClr val="00B050"/>
                </a:solidFill>
              </a:rPr>
              <a:t>, address, age, marks</a:t>
            </a:r>
            <a:r>
              <a:rPr lang="en-US" dirty="0" smtClean="0">
                <a:solidFill>
                  <a:srgbClr val="00B050"/>
                </a:solidFill>
              </a:rPr>
              <a:t>)</a:t>
            </a:r>
          </a:p>
          <a:p>
            <a:pPr marL="0" indent="0">
              <a:buNone/>
            </a:pPr>
            <a:r>
              <a:rPr lang="en-US" dirty="0" smtClean="0">
                <a:solidFill>
                  <a:srgbClr val="00B050"/>
                </a:solidFill>
              </a:rPr>
              <a:t>Primary Key: </a:t>
            </a:r>
            <a:r>
              <a:rPr lang="en-US" dirty="0" err="1" smtClean="0">
                <a:solidFill>
                  <a:srgbClr val="00B050"/>
                </a:solidFill>
              </a:rPr>
              <a:t>rollno</a:t>
            </a:r>
            <a:endParaRPr lang="en-US" dirty="0">
              <a:solidFill>
                <a:srgbClr val="00B050"/>
              </a:solidFill>
            </a:endParaRPr>
          </a:p>
          <a:p>
            <a:pPr marL="0" indent="0">
              <a:buNone/>
            </a:pPr>
            <a:r>
              <a:rPr lang="en-US" dirty="0" smtClean="0">
                <a:solidFill>
                  <a:srgbClr val="FF0000"/>
                </a:solidFill>
              </a:rPr>
              <a:t>Hostel(</a:t>
            </a:r>
            <a:r>
              <a:rPr lang="en-US" dirty="0" err="1" smtClean="0">
                <a:solidFill>
                  <a:srgbClr val="FF0000"/>
                </a:solidFill>
              </a:rPr>
              <a:t>Stuent_ID_hostel</a:t>
            </a:r>
            <a:r>
              <a:rPr lang="en-US" dirty="0" smtClean="0">
                <a:solidFill>
                  <a:srgbClr val="FF0000"/>
                </a:solidFill>
              </a:rPr>
              <a:t>, </a:t>
            </a:r>
            <a:r>
              <a:rPr lang="en-US" dirty="0" err="1">
                <a:solidFill>
                  <a:srgbClr val="FF0000"/>
                </a:solidFill>
              </a:rPr>
              <a:t>sname</a:t>
            </a:r>
            <a:r>
              <a:rPr lang="en-US" dirty="0">
                <a:solidFill>
                  <a:srgbClr val="FF0000"/>
                </a:solidFill>
              </a:rPr>
              <a:t>, </a:t>
            </a:r>
            <a:r>
              <a:rPr lang="en-US" dirty="0" err="1">
                <a:solidFill>
                  <a:srgbClr val="FF0000"/>
                </a:solidFill>
              </a:rPr>
              <a:t>Mess_type</a:t>
            </a:r>
            <a:r>
              <a:rPr lang="en-US" dirty="0">
                <a:solidFill>
                  <a:srgbClr val="FF0000"/>
                </a:solidFill>
              </a:rPr>
              <a:t>,  </a:t>
            </a:r>
            <a:r>
              <a:rPr lang="en-US" dirty="0" err="1">
                <a:solidFill>
                  <a:srgbClr val="FF0000"/>
                </a:solidFill>
              </a:rPr>
              <a:t>Hostel_bolck</a:t>
            </a:r>
            <a:r>
              <a:rPr lang="en-US" dirty="0">
                <a:solidFill>
                  <a:srgbClr val="FF0000"/>
                </a:solidFill>
              </a:rPr>
              <a:t>, </a:t>
            </a:r>
            <a:r>
              <a:rPr lang="en-US" dirty="0" err="1">
                <a:solidFill>
                  <a:srgbClr val="FF0000"/>
                </a:solidFill>
              </a:rPr>
              <a:t>Room_no</a:t>
            </a:r>
            <a:r>
              <a:rPr lang="en-US" dirty="0">
                <a:solidFill>
                  <a:srgbClr val="FF0000"/>
                </a:solidFill>
              </a:rPr>
              <a:t>, </a:t>
            </a:r>
            <a:r>
              <a:rPr lang="en-US" dirty="0" err="1">
                <a:solidFill>
                  <a:srgbClr val="FF0000"/>
                </a:solidFill>
              </a:rPr>
              <a:t>rollno</a:t>
            </a:r>
            <a:r>
              <a:rPr lang="en-US" dirty="0" smtClean="0">
                <a:solidFill>
                  <a:srgbClr val="FF0000"/>
                </a:solidFill>
              </a:rPr>
              <a:t>)</a:t>
            </a:r>
          </a:p>
          <a:p>
            <a:pPr marL="0" indent="0">
              <a:buNone/>
            </a:pPr>
            <a:r>
              <a:rPr lang="en-US" dirty="0" smtClean="0">
                <a:solidFill>
                  <a:srgbClr val="FF0000"/>
                </a:solidFill>
              </a:rPr>
              <a:t>Primary Key: </a:t>
            </a:r>
            <a:r>
              <a:rPr lang="en-US" dirty="0" err="1" smtClean="0">
                <a:solidFill>
                  <a:srgbClr val="FF0000"/>
                </a:solidFill>
              </a:rPr>
              <a:t>Student_ID</a:t>
            </a:r>
            <a:r>
              <a:rPr lang="en-US" dirty="0" smtClean="0">
                <a:solidFill>
                  <a:srgbClr val="FF0000"/>
                </a:solidFill>
              </a:rPr>
              <a:t>-hostel,</a:t>
            </a:r>
          </a:p>
          <a:p>
            <a:pPr marL="0" indent="0">
              <a:buNone/>
            </a:pPr>
            <a:r>
              <a:rPr lang="en-US" dirty="0" smtClean="0">
                <a:solidFill>
                  <a:srgbClr val="FF0000"/>
                </a:solidFill>
              </a:rPr>
              <a:t>Foreign Key: </a:t>
            </a:r>
            <a:r>
              <a:rPr lang="en-US" dirty="0" err="1" smtClean="0">
                <a:solidFill>
                  <a:srgbClr val="FF0000"/>
                </a:solidFill>
              </a:rPr>
              <a:t>rollno</a:t>
            </a:r>
            <a:endParaRPr lang="en-US" dirty="0">
              <a:solidFill>
                <a:srgbClr val="FF0000"/>
              </a:solidFill>
            </a:endParaRPr>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val="107258786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Integrity Rules</a:t>
            </a:r>
            <a:endParaRPr lang="en-IN" dirty="0"/>
          </a:p>
        </p:txBody>
      </p:sp>
      <p:sp>
        <p:nvSpPr>
          <p:cNvPr id="3" name="Content Placeholder 2"/>
          <p:cNvSpPr>
            <a:spLocks noGrp="1"/>
          </p:cNvSpPr>
          <p:nvPr>
            <p:ph idx="1"/>
          </p:nvPr>
        </p:nvSpPr>
        <p:spPr/>
        <p:txBody>
          <a:bodyPr>
            <a:normAutofit fontScale="92500" lnSpcReduction="20000"/>
          </a:bodyPr>
          <a:lstStyle/>
          <a:p>
            <a:r>
              <a:rPr lang="en-IN" dirty="0" smtClean="0"/>
              <a:t>Domain Integrity Rule</a:t>
            </a:r>
          </a:p>
          <a:p>
            <a:pPr marL="0" indent="0">
              <a:buNone/>
            </a:pPr>
            <a:r>
              <a:rPr lang="en-IN" dirty="0" smtClean="0"/>
              <a:t>All values in a table must be from a domain (Range of Values)</a:t>
            </a:r>
          </a:p>
          <a:p>
            <a:pPr marL="0" indent="0">
              <a:buNone/>
            </a:pPr>
            <a:r>
              <a:rPr lang="en-IN" dirty="0" smtClean="0"/>
              <a:t>Age: 0 – 125</a:t>
            </a:r>
          </a:p>
          <a:p>
            <a:r>
              <a:rPr lang="en-IN" dirty="0" smtClean="0"/>
              <a:t>Entity Integrity</a:t>
            </a:r>
          </a:p>
          <a:p>
            <a:pPr marL="0" indent="0">
              <a:buNone/>
            </a:pPr>
            <a:r>
              <a:rPr lang="en-IN" dirty="0" smtClean="0">
                <a:solidFill>
                  <a:srgbClr val="7030A0"/>
                </a:solidFill>
              </a:rPr>
              <a:t>No component of the primary key value can be NULL.</a:t>
            </a:r>
          </a:p>
          <a:p>
            <a:pPr marL="0" indent="0">
              <a:buNone/>
            </a:pPr>
            <a:r>
              <a:rPr lang="en-IN" dirty="0" smtClean="0">
                <a:solidFill>
                  <a:srgbClr val="FF0000"/>
                </a:solidFill>
              </a:rPr>
              <a:t>Referential Integrity</a:t>
            </a:r>
          </a:p>
          <a:p>
            <a:pPr marL="0" indent="0">
              <a:buNone/>
            </a:pPr>
            <a:r>
              <a:rPr lang="en-IN" dirty="0" smtClean="0">
                <a:solidFill>
                  <a:srgbClr val="00B050"/>
                </a:solidFill>
              </a:rPr>
              <a:t>For every foreign key value, there must be a matching primary key value. </a:t>
            </a:r>
            <a:endParaRPr lang="en-IN" dirty="0">
              <a:solidFill>
                <a:srgbClr val="00B050"/>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p:spTree>
    <p:extLst>
      <p:ext uri="{BB962C8B-B14F-4D97-AF65-F5344CB8AC3E}">
        <p14:creationId xmlns:p14="http://schemas.microsoft.com/office/powerpoint/2010/main" val="421104496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Schema and Sub Schema</a:t>
            </a:r>
            <a:endParaRPr lang="en-IN" dirty="0"/>
          </a:p>
        </p:txBody>
      </p:sp>
      <p:sp>
        <p:nvSpPr>
          <p:cNvPr id="3" name="Content Placeholder 2"/>
          <p:cNvSpPr>
            <a:spLocks noGrp="1"/>
          </p:cNvSpPr>
          <p:nvPr>
            <p:ph idx="1"/>
          </p:nvPr>
        </p:nvSpPr>
        <p:spPr/>
        <p:txBody>
          <a:bodyPr>
            <a:normAutofit fontScale="92500" lnSpcReduction="20000"/>
          </a:bodyPr>
          <a:lstStyle/>
          <a:p>
            <a:r>
              <a:rPr lang="en-IN" dirty="0" smtClean="0">
                <a:solidFill>
                  <a:srgbClr val="00B050"/>
                </a:solidFill>
              </a:rPr>
              <a:t>The overall logical Structure of a database is known as Schema. </a:t>
            </a:r>
          </a:p>
          <a:p>
            <a:r>
              <a:rPr lang="en-IN" dirty="0" smtClean="0">
                <a:solidFill>
                  <a:srgbClr val="00B050"/>
                </a:solidFill>
              </a:rPr>
              <a:t>Sub-Schema is derived from schema. (Part of a Schema).</a:t>
            </a:r>
          </a:p>
          <a:p>
            <a:r>
              <a:rPr lang="en-IN" dirty="0" err="1" smtClean="0">
                <a:solidFill>
                  <a:srgbClr val="FF0000"/>
                </a:solidFill>
              </a:rPr>
              <a:t>Eg:Schema</a:t>
            </a:r>
            <a:endParaRPr lang="en-IN" dirty="0" smtClean="0">
              <a:solidFill>
                <a:srgbClr val="FF0000"/>
              </a:solidFill>
            </a:endParaRPr>
          </a:p>
          <a:p>
            <a:pPr marL="0" indent="0">
              <a:buNone/>
            </a:pPr>
            <a:r>
              <a:rPr lang="en-IN" dirty="0">
                <a:solidFill>
                  <a:srgbClr val="FF0000"/>
                </a:solidFill>
              </a:rPr>
              <a:t> </a:t>
            </a:r>
            <a:r>
              <a:rPr lang="en-IN" dirty="0" smtClean="0">
                <a:solidFill>
                  <a:srgbClr val="FF0000"/>
                </a:solidFill>
              </a:rPr>
              <a:t> employee(</a:t>
            </a:r>
            <a:r>
              <a:rPr lang="en-IN" dirty="0" err="1" smtClean="0">
                <a:solidFill>
                  <a:srgbClr val="FF0000"/>
                </a:solidFill>
              </a:rPr>
              <a:t>eno</a:t>
            </a:r>
            <a:r>
              <a:rPr lang="en-IN" dirty="0" smtClean="0">
                <a:solidFill>
                  <a:srgbClr val="FF0000"/>
                </a:solidFill>
              </a:rPr>
              <a:t>, </a:t>
            </a:r>
            <a:r>
              <a:rPr lang="en-IN" dirty="0" err="1" smtClean="0">
                <a:solidFill>
                  <a:srgbClr val="FF0000"/>
                </a:solidFill>
              </a:rPr>
              <a:t>ename</a:t>
            </a:r>
            <a:r>
              <a:rPr lang="en-IN" dirty="0" smtClean="0">
                <a:solidFill>
                  <a:srgbClr val="FF0000"/>
                </a:solidFill>
              </a:rPr>
              <a:t>, address, </a:t>
            </a:r>
            <a:r>
              <a:rPr lang="en-IN" dirty="0" err="1" smtClean="0">
                <a:solidFill>
                  <a:srgbClr val="FF0000"/>
                </a:solidFill>
              </a:rPr>
              <a:t>dept</a:t>
            </a:r>
            <a:r>
              <a:rPr lang="en-IN" dirty="0" smtClean="0">
                <a:solidFill>
                  <a:srgbClr val="FF0000"/>
                </a:solidFill>
              </a:rPr>
              <a:t>, designation, age, salary)</a:t>
            </a:r>
          </a:p>
          <a:p>
            <a:pPr marL="0" indent="0">
              <a:buNone/>
            </a:pPr>
            <a:r>
              <a:rPr lang="en-IN" dirty="0" err="1" smtClean="0">
                <a:solidFill>
                  <a:srgbClr val="7030A0"/>
                </a:solidFill>
              </a:rPr>
              <a:t>Sub_schemas</a:t>
            </a:r>
            <a:r>
              <a:rPr lang="en-IN" dirty="0" smtClean="0">
                <a:solidFill>
                  <a:srgbClr val="7030A0"/>
                </a:solidFill>
              </a:rPr>
              <a:t>:</a:t>
            </a:r>
          </a:p>
          <a:p>
            <a:pPr marL="0" indent="0">
              <a:buNone/>
            </a:pPr>
            <a:r>
              <a:rPr lang="en-IN" dirty="0" smtClean="0">
                <a:solidFill>
                  <a:srgbClr val="7030A0"/>
                </a:solidFill>
              </a:rPr>
              <a:t>Emp1(</a:t>
            </a:r>
            <a:r>
              <a:rPr lang="en-IN" dirty="0" err="1" smtClean="0">
                <a:solidFill>
                  <a:srgbClr val="7030A0"/>
                </a:solidFill>
              </a:rPr>
              <a:t>eno</a:t>
            </a:r>
            <a:r>
              <a:rPr lang="en-IN" dirty="0" smtClean="0">
                <a:solidFill>
                  <a:srgbClr val="7030A0"/>
                </a:solidFill>
              </a:rPr>
              <a:t>, </a:t>
            </a:r>
            <a:r>
              <a:rPr lang="en-IN" dirty="0" err="1" smtClean="0">
                <a:solidFill>
                  <a:srgbClr val="7030A0"/>
                </a:solidFill>
              </a:rPr>
              <a:t>ename</a:t>
            </a:r>
            <a:r>
              <a:rPr lang="en-IN" dirty="0" smtClean="0">
                <a:solidFill>
                  <a:srgbClr val="7030A0"/>
                </a:solidFill>
              </a:rPr>
              <a:t>, address, salary)</a:t>
            </a:r>
          </a:p>
          <a:p>
            <a:pPr marL="0" indent="0">
              <a:buNone/>
            </a:pPr>
            <a:r>
              <a:rPr lang="en-IN" dirty="0" smtClean="0">
                <a:solidFill>
                  <a:srgbClr val="7030A0"/>
                </a:solidFill>
              </a:rPr>
              <a:t>Emp2(</a:t>
            </a:r>
            <a:r>
              <a:rPr lang="en-IN" dirty="0" err="1" smtClean="0">
                <a:solidFill>
                  <a:srgbClr val="7030A0"/>
                </a:solidFill>
              </a:rPr>
              <a:t>eno</a:t>
            </a:r>
            <a:r>
              <a:rPr lang="en-IN" dirty="0" smtClean="0">
                <a:solidFill>
                  <a:srgbClr val="7030A0"/>
                </a:solidFill>
              </a:rPr>
              <a:t>, address, </a:t>
            </a:r>
            <a:r>
              <a:rPr lang="en-IN" dirty="0" err="1" smtClean="0">
                <a:solidFill>
                  <a:srgbClr val="7030A0"/>
                </a:solidFill>
              </a:rPr>
              <a:t>dept</a:t>
            </a:r>
            <a:r>
              <a:rPr lang="en-IN" dirty="0" smtClean="0">
                <a:solidFill>
                  <a:srgbClr val="7030A0"/>
                </a:solidFill>
              </a:rPr>
              <a:t>, age, designation)</a:t>
            </a:r>
            <a:endParaRPr lang="en-IN" dirty="0">
              <a:solidFill>
                <a:srgbClr val="7030A0"/>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160086999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Data Sub Language</a:t>
            </a:r>
            <a:endParaRPr lang="en-IN" dirty="0">
              <a:solidFill>
                <a:srgbClr val="FF0000"/>
              </a:solidFill>
            </a:endParaRPr>
          </a:p>
        </p:txBody>
      </p:sp>
      <p:sp>
        <p:nvSpPr>
          <p:cNvPr id="3" name="Content Placeholder 2"/>
          <p:cNvSpPr>
            <a:spLocks noGrp="1"/>
          </p:cNvSpPr>
          <p:nvPr>
            <p:ph idx="1"/>
          </p:nvPr>
        </p:nvSpPr>
        <p:spPr/>
        <p:txBody>
          <a:bodyPr>
            <a:normAutofit fontScale="92500"/>
          </a:bodyPr>
          <a:lstStyle/>
          <a:p>
            <a:r>
              <a:rPr lang="en-IN" dirty="0" smtClean="0">
                <a:solidFill>
                  <a:srgbClr val="00B050"/>
                </a:solidFill>
              </a:rPr>
              <a:t>Every DBMS is provided with a data sub language for efficiently storing and retrieving the data. </a:t>
            </a:r>
          </a:p>
          <a:p>
            <a:r>
              <a:rPr lang="en-IN" dirty="0">
                <a:solidFill>
                  <a:srgbClr val="00B050"/>
                </a:solidFill>
              </a:rPr>
              <a:t>Example: Oracle – SQL</a:t>
            </a:r>
          </a:p>
          <a:p>
            <a:pPr marL="0" indent="0">
              <a:buNone/>
            </a:pPr>
            <a:r>
              <a:rPr lang="en-IN" dirty="0">
                <a:solidFill>
                  <a:srgbClr val="00B050"/>
                </a:solidFill>
              </a:rPr>
              <a:t>                      Ingres – </a:t>
            </a:r>
            <a:r>
              <a:rPr lang="en-IN" dirty="0" smtClean="0">
                <a:solidFill>
                  <a:srgbClr val="00B050"/>
                </a:solidFill>
              </a:rPr>
              <a:t>QUEL</a:t>
            </a:r>
            <a:endParaRPr lang="en-IN" dirty="0">
              <a:solidFill>
                <a:srgbClr val="00B050"/>
              </a:solidFill>
            </a:endParaRPr>
          </a:p>
          <a:p>
            <a:r>
              <a:rPr lang="en-IN" dirty="0" smtClean="0">
                <a:solidFill>
                  <a:schemeClr val="accent2"/>
                </a:solidFill>
              </a:rPr>
              <a:t>Data Definition Language (Create table or view)</a:t>
            </a:r>
          </a:p>
          <a:p>
            <a:r>
              <a:rPr lang="en-IN" dirty="0" smtClean="0">
                <a:solidFill>
                  <a:schemeClr val="accent2"/>
                </a:solidFill>
              </a:rPr>
              <a:t>Data Manipulation Language ( Insert, delete, update, retrieve)</a:t>
            </a:r>
          </a:p>
          <a:p>
            <a:r>
              <a:rPr lang="en-IN" dirty="0" smtClean="0">
                <a:solidFill>
                  <a:schemeClr val="accent2"/>
                </a:solidFill>
              </a:rPr>
              <a:t>Data Control Language (grant, revoke)</a:t>
            </a:r>
          </a:p>
          <a:p>
            <a:endParaRPr lang="en-IN"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6678258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Levels of Abstraction</a:t>
            </a:r>
            <a:endParaRPr lang="en-IN" dirty="0"/>
          </a:p>
        </p:txBody>
      </p:sp>
      <p:sp>
        <p:nvSpPr>
          <p:cNvPr id="3" name="Content Placeholder 2"/>
          <p:cNvSpPr>
            <a:spLocks noGrp="1"/>
          </p:cNvSpPr>
          <p:nvPr>
            <p:ph idx="1"/>
          </p:nvPr>
        </p:nvSpPr>
        <p:spPr/>
        <p:txBody>
          <a:bodyPr>
            <a:normAutofit fontScale="70000" lnSpcReduction="20000"/>
          </a:bodyPr>
          <a:lstStyle/>
          <a:p>
            <a:pPr>
              <a:tabLst>
                <a:tab pos="1820863" algn="l"/>
                <a:tab pos="3659188" algn="l"/>
                <a:tab pos="3943350" algn="l"/>
              </a:tabLst>
            </a:pPr>
            <a:r>
              <a:rPr lang="en-US" dirty="0"/>
              <a:t>Physical level describes how a record (e.g., </a:t>
            </a:r>
            <a:r>
              <a:rPr lang="en-US" dirty="0" smtClean="0"/>
              <a:t>employee ) </a:t>
            </a:r>
            <a:r>
              <a:rPr lang="en-US" dirty="0"/>
              <a:t>is stored.</a:t>
            </a:r>
          </a:p>
          <a:p>
            <a:pPr>
              <a:tabLst>
                <a:tab pos="1820863" algn="l"/>
                <a:tab pos="3659188" algn="l"/>
                <a:tab pos="3943350" algn="l"/>
              </a:tabLst>
            </a:pPr>
            <a:r>
              <a:rPr lang="en-US" dirty="0"/>
              <a:t>Logical level: describes data stored in database, and the relationships among the data</a:t>
            </a:r>
            <a:r>
              <a:rPr lang="en-US" dirty="0" smtClean="0"/>
              <a:t>.</a:t>
            </a:r>
          </a:p>
          <a:p>
            <a:pPr>
              <a:buFont typeface="Monotype Sorts" pitchFamily="2" charset="2"/>
              <a:buNone/>
              <a:tabLst>
                <a:tab pos="1820863" algn="l"/>
                <a:tab pos="3659188" algn="l"/>
                <a:tab pos="3943350" algn="l"/>
              </a:tabLst>
            </a:pPr>
            <a:r>
              <a:rPr lang="en-US" dirty="0"/>
              <a:t>		</a:t>
            </a:r>
            <a:r>
              <a:rPr lang="en-US" b="1" dirty="0"/>
              <a:t>type</a:t>
            </a:r>
            <a:r>
              <a:rPr lang="en-US" dirty="0"/>
              <a:t> </a:t>
            </a:r>
            <a:r>
              <a:rPr lang="en-US" dirty="0" smtClean="0"/>
              <a:t>employee </a:t>
            </a:r>
            <a:r>
              <a:rPr lang="en-US" dirty="0"/>
              <a:t>= </a:t>
            </a:r>
            <a:r>
              <a:rPr lang="en-US" b="1" dirty="0"/>
              <a:t>record</a:t>
            </a:r>
            <a:r>
              <a:rPr lang="en-US" dirty="0"/>
              <a:t/>
            </a:r>
            <a:br>
              <a:rPr lang="en-US" dirty="0"/>
            </a:br>
            <a:r>
              <a:rPr lang="en-US" dirty="0"/>
              <a:t>			</a:t>
            </a:r>
            <a:r>
              <a:rPr lang="en-US" i="1" dirty="0"/>
              <a:t>name</a:t>
            </a:r>
            <a:r>
              <a:rPr lang="en-US" dirty="0"/>
              <a:t> : string</a:t>
            </a:r>
            <a:r>
              <a:rPr lang="en-US" dirty="0" smtClean="0"/>
              <a:t>;</a:t>
            </a:r>
          </a:p>
          <a:p>
            <a:pPr>
              <a:buFont typeface="Monotype Sorts" pitchFamily="2" charset="2"/>
              <a:buNone/>
              <a:tabLst>
                <a:tab pos="1820863" algn="l"/>
                <a:tab pos="3659188" algn="l"/>
                <a:tab pos="3943350" algn="l"/>
              </a:tabLst>
            </a:pPr>
            <a:r>
              <a:rPr lang="en-US" dirty="0"/>
              <a:t> </a:t>
            </a:r>
            <a:r>
              <a:rPr lang="en-US" dirty="0" smtClean="0"/>
              <a:t>                                                             age : integer;</a:t>
            </a:r>
            <a:r>
              <a:rPr lang="en-US" dirty="0"/>
              <a:t/>
            </a:r>
            <a:br>
              <a:rPr lang="en-US" dirty="0"/>
            </a:br>
            <a:r>
              <a:rPr lang="en-US" dirty="0"/>
              <a:t>			</a:t>
            </a:r>
            <a:r>
              <a:rPr lang="en-US" i="1" dirty="0"/>
              <a:t>street</a:t>
            </a:r>
            <a:r>
              <a:rPr lang="en-US" dirty="0"/>
              <a:t> : string;</a:t>
            </a:r>
            <a:br>
              <a:rPr lang="en-US" dirty="0"/>
            </a:br>
            <a:r>
              <a:rPr lang="en-US" dirty="0"/>
              <a:t>			</a:t>
            </a:r>
            <a:r>
              <a:rPr lang="en-US" i="1" dirty="0"/>
              <a:t>city</a:t>
            </a:r>
            <a:r>
              <a:rPr lang="en-US" dirty="0"/>
              <a:t> : integer</a:t>
            </a:r>
            <a:r>
              <a:rPr lang="en-US" dirty="0" smtClean="0"/>
              <a:t>;</a:t>
            </a:r>
          </a:p>
          <a:p>
            <a:pPr>
              <a:buFont typeface="Monotype Sorts" pitchFamily="2" charset="2"/>
              <a:buNone/>
              <a:tabLst>
                <a:tab pos="1820863" algn="l"/>
                <a:tab pos="3659188" algn="l"/>
                <a:tab pos="3943350" algn="l"/>
              </a:tabLst>
            </a:pPr>
            <a:r>
              <a:rPr lang="en-US" dirty="0"/>
              <a:t> </a:t>
            </a:r>
            <a:r>
              <a:rPr lang="en-US" dirty="0" smtClean="0"/>
              <a:t>                                                             salary: float;</a:t>
            </a:r>
            <a:r>
              <a:rPr lang="en-US" dirty="0"/>
              <a:t/>
            </a:r>
            <a:br>
              <a:rPr lang="en-US" dirty="0"/>
            </a:br>
            <a:r>
              <a:rPr lang="en-US" dirty="0"/>
              <a:t>		</a:t>
            </a:r>
            <a:r>
              <a:rPr lang="en-US" b="1" dirty="0"/>
              <a:t>end</a:t>
            </a:r>
            <a:r>
              <a:rPr lang="en-US" dirty="0"/>
              <a:t>;</a:t>
            </a:r>
          </a:p>
          <a:p>
            <a:pPr>
              <a:tabLst>
                <a:tab pos="1820863" algn="l"/>
                <a:tab pos="3659188" algn="l"/>
                <a:tab pos="3943350" algn="l"/>
              </a:tabLst>
            </a:pPr>
            <a:r>
              <a:rPr lang="en-US" dirty="0"/>
              <a:t>View level: application programs hide details of data types.  Views can also hide information (e.g., salary) for security purposes. </a:t>
            </a:r>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253674987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8"/>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304800" y="990600"/>
            <a:ext cx="7772400" cy="5867400"/>
          </a:xfrm>
        </p:spPr>
      </p:pic>
      <p:sp>
        <p:nvSpPr>
          <p:cNvPr id="20484" name="Rectangle 4"/>
          <p:cNvSpPr>
            <a:spLocks noGrp="1" noChangeArrowheads="1"/>
          </p:cNvSpPr>
          <p:nvPr>
            <p:ph type="title"/>
          </p:nvPr>
        </p:nvSpPr>
        <p:spPr>
          <a:xfrm>
            <a:off x="0" y="-571500"/>
            <a:ext cx="8229600" cy="1143000"/>
          </a:xfrm>
        </p:spPr>
        <p:txBody>
          <a:bodyPr>
            <a:normAutofit fontScale="90000"/>
          </a:bodyPr>
          <a:lstStyle/>
          <a:p>
            <a:pPr eaLnBrk="1" hangingPunct="1">
              <a:defRPr/>
            </a:pPr>
            <a:r>
              <a:rPr lang="en-US" dirty="0" smtClean="0"/>
              <a:t/>
            </a:r>
            <a:br>
              <a:rPr lang="en-US" dirty="0" smtClean="0"/>
            </a:br>
            <a:r>
              <a:rPr lang="en-US" dirty="0" smtClean="0"/>
              <a:t>The Three </a:t>
            </a:r>
            <a:r>
              <a:rPr lang="en-US" dirty="0"/>
              <a:t>S</a:t>
            </a:r>
            <a:r>
              <a:rPr lang="en-US" dirty="0" smtClean="0"/>
              <a:t>chema architecture.</a:t>
            </a:r>
          </a:p>
        </p:txBody>
      </p:sp>
      <p:sp>
        <p:nvSpPr>
          <p:cNvPr id="2" name="Rectangle 9"/>
          <p:cNvSpPr>
            <a:spLocks noChangeArrowheads="1"/>
          </p:cNvSpPr>
          <p:nvPr/>
        </p:nvSpPr>
        <p:spPr bwMode="auto">
          <a:xfrm>
            <a:off x="2841625" y="324643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b="1"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249640486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Three Level Architecture</a:t>
            </a:r>
            <a:endParaRPr lang="en-IN" dirty="0">
              <a:solidFill>
                <a:srgbClr val="FF0000"/>
              </a:solidFill>
            </a:endParaRPr>
          </a:p>
        </p:txBody>
      </p:sp>
      <p:sp>
        <p:nvSpPr>
          <p:cNvPr id="3" name="Content Placeholder 2"/>
          <p:cNvSpPr>
            <a:spLocks noGrp="1"/>
          </p:cNvSpPr>
          <p:nvPr>
            <p:ph idx="1"/>
          </p:nvPr>
        </p:nvSpPr>
        <p:spPr/>
        <p:txBody>
          <a:bodyPr>
            <a:normAutofit lnSpcReduction="10000"/>
          </a:bodyPr>
          <a:lstStyle/>
          <a:p>
            <a:r>
              <a:rPr lang="en-IN" u="sng" dirty="0" smtClean="0">
                <a:solidFill>
                  <a:srgbClr val="00B050"/>
                </a:solidFill>
              </a:rPr>
              <a:t>External Level – C user</a:t>
            </a:r>
          </a:p>
          <a:p>
            <a:pPr marL="0" indent="0">
              <a:buNone/>
            </a:pPr>
            <a:r>
              <a:rPr lang="en-IN" dirty="0"/>
              <a:t> </a:t>
            </a:r>
            <a:r>
              <a:rPr lang="en-IN" dirty="0" err="1" smtClean="0">
                <a:solidFill>
                  <a:srgbClr val="FF0000"/>
                </a:solidFill>
              </a:rPr>
              <a:t>struct</a:t>
            </a:r>
            <a:r>
              <a:rPr lang="en-IN" dirty="0" smtClean="0">
                <a:solidFill>
                  <a:srgbClr val="FF0000"/>
                </a:solidFill>
              </a:rPr>
              <a:t> employee {  char </a:t>
            </a:r>
            <a:r>
              <a:rPr lang="en-IN" dirty="0" err="1" smtClean="0">
                <a:solidFill>
                  <a:srgbClr val="FF0000"/>
                </a:solidFill>
              </a:rPr>
              <a:t>empno</a:t>
            </a:r>
            <a:r>
              <a:rPr lang="en-IN" dirty="0" smtClean="0">
                <a:solidFill>
                  <a:srgbClr val="FF0000"/>
                </a:solidFill>
              </a:rPr>
              <a:t>(6);</a:t>
            </a:r>
          </a:p>
          <a:p>
            <a:pPr marL="0" indent="0">
              <a:buNone/>
            </a:pPr>
            <a:r>
              <a:rPr lang="en-IN" dirty="0">
                <a:solidFill>
                  <a:srgbClr val="FF0000"/>
                </a:solidFill>
              </a:rPr>
              <a:t> </a:t>
            </a:r>
            <a:r>
              <a:rPr lang="en-IN" dirty="0" smtClean="0">
                <a:solidFill>
                  <a:srgbClr val="FF0000"/>
                </a:solidFill>
              </a:rPr>
              <a:t>                                  </a:t>
            </a:r>
            <a:r>
              <a:rPr lang="en-IN" dirty="0" err="1" smtClean="0">
                <a:solidFill>
                  <a:srgbClr val="FF0000"/>
                </a:solidFill>
              </a:rPr>
              <a:t>int</a:t>
            </a:r>
            <a:r>
              <a:rPr lang="en-IN" dirty="0" smtClean="0">
                <a:solidFill>
                  <a:srgbClr val="FF0000"/>
                </a:solidFill>
              </a:rPr>
              <a:t> salary;</a:t>
            </a:r>
          </a:p>
          <a:p>
            <a:pPr marL="0" indent="0">
              <a:buNone/>
            </a:pPr>
            <a:r>
              <a:rPr lang="en-IN" dirty="0">
                <a:solidFill>
                  <a:srgbClr val="FF0000"/>
                </a:solidFill>
              </a:rPr>
              <a:t> </a:t>
            </a:r>
            <a:r>
              <a:rPr lang="en-IN" dirty="0" smtClean="0">
                <a:solidFill>
                  <a:srgbClr val="FF0000"/>
                </a:solidFill>
              </a:rPr>
              <a:t>                               };</a:t>
            </a:r>
          </a:p>
          <a:p>
            <a:pPr marL="0" indent="0">
              <a:buNone/>
            </a:pPr>
            <a:r>
              <a:rPr lang="en-IN" u="sng" dirty="0" smtClean="0">
                <a:solidFill>
                  <a:srgbClr val="00B050"/>
                </a:solidFill>
              </a:rPr>
              <a:t>External Level – COBOL</a:t>
            </a:r>
          </a:p>
          <a:p>
            <a:pPr marL="0" indent="0">
              <a:buNone/>
            </a:pPr>
            <a:r>
              <a:rPr lang="en-IN" dirty="0" smtClean="0">
                <a:solidFill>
                  <a:srgbClr val="FF0000"/>
                </a:solidFill>
              </a:rPr>
              <a:t>01 EMP.</a:t>
            </a:r>
          </a:p>
          <a:p>
            <a:pPr marL="0" indent="0">
              <a:buNone/>
            </a:pPr>
            <a:r>
              <a:rPr lang="en-IN" dirty="0">
                <a:solidFill>
                  <a:srgbClr val="FF0000"/>
                </a:solidFill>
              </a:rPr>
              <a:t> </a:t>
            </a:r>
            <a:r>
              <a:rPr lang="en-IN" dirty="0" smtClean="0">
                <a:solidFill>
                  <a:srgbClr val="FF0000"/>
                </a:solidFill>
              </a:rPr>
              <a:t>     02  EMPNO PIC X(6).</a:t>
            </a:r>
          </a:p>
          <a:p>
            <a:pPr marL="0" indent="0">
              <a:buNone/>
            </a:pPr>
            <a:r>
              <a:rPr lang="en-IN" dirty="0">
                <a:solidFill>
                  <a:srgbClr val="FF0000"/>
                </a:solidFill>
              </a:rPr>
              <a:t> </a:t>
            </a:r>
            <a:r>
              <a:rPr lang="en-IN" dirty="0" smtClean="0">
                <a:solidFill>
                  <a:srgbClr val="FF0000"/>
                </a:solidFill>
              </a:rPr>
              <a:t>     02  DEPTNO PIC X(4).</a:t>
            </a:r>
          </a:p>
          <a:p>
            <a:pPr marL="0" indent="0">
              <a:buNone/>
            </a:pPr>
            <a:endParaRPr lang="en-IN" dirty="0" smtClean="0">
              <a:solidFill>
                <a:srgbClr val="00B050"/>
              </a:solidFill>
            </a:endParaRPr>
          </a:p>
          <a:p>
            <a:pPr marL="0" indent="0">
              <a:buNone/>
            </a:pPr>
            <a:endParaRPr lang="en-IN" dirty="0" smtClean="0">
              <a:solidFill>
                <a:srgbClr val="00B050"/>
              </a:solidFill>
            </a:endParaRPr>
          </a:p>
          <a:p>
            <a:pPr marL="0" indent="0">
              <a:buNone/>
            </a:pPr>
            <a:endParaRPr lang="en-IN" dirty="0" smtClean="0"/>
          </a:p>
          <a:p>
            <a:pPr marL="0" indent="0">
              <a:buNone/>
            </a:pP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211759840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Three Level Architecture</a:t>
            </a:r>
            <a:endParaRPr lang="en-IN" dirty="0"/>
          </a:p>
        </p:txBody>
      </p:sp>
      <p:sp>
        <p:nvSpPr>
          <p:cNvPr id="3" name="Content Placeholder 2"/>
          <p:cNvSpPr>
            <a:spLocks noGrp="1"/>
          </p:cNvSpPr>
          <p:nvPr>
            <p:ph idx="1"/>
          </p:nvPr>
        </p:nvSpPr>
        <p:spPr/>
        <p:txBody>
          <a:bodyPr>
            <a:normAutofit lnSpcReduction="10000"/>
          </a:bodyPr>
          <a:lstStyle/>
          <a:p>
            <a:r>
              <a:rPr lang="en-IN" u="sng" dirty="0" smtClean="0">
                <a:solidFill>
                  <a:srgbClr val="00B050"/>
                </a:solidFill>
              </a:rPr>
              <a:t>CONCEPTUAL LEVEL</a:t>
            </a:r>
          </a:p>
          <a:p>
            <a:pPr marL="0" indent="0">
              <a:buNone/>
            </a:pPr>
            <a:r>
              <a:rPr lang="en-IN" dirty="0"/>
              <a:t> </a:t>
            </a:r>
            <a:r>
              <a:rPr lang="en-IN" dirty="0" smtClean="0"/>
              <a:t>  </a:t>
            </a:r>
            <a:r>
              <a:rPr lang="en-IN" dirty="0" smtClean="0">
                <a:solidFill>
                  <a:srgbClr val="7030A0"/>
                </a:solidFill>
              </a:rPr>
              <a:t>EMPLOYEE</a:t>
            </a:r>
          </a:p>
          <a:p>
            <a:pPr marL="0" indent="0">
              <a:buNone/>
            </a:pPr>
            <a:r>
              <a:rPr lang="en-IN" dirty="0">
                <a:solidFill>
                  <a:srgbClr val="7030A0"/>
                </a:solidFill>
              </a:rPr>
              <a:t> </a:t>
            </a:r>
            <a:r>
              <a:rPr lang="en-IN" dirty="0" smtClean="0">
                <a:solidFill>
                  <a:srgbClr val="7030A0"/>
                </a:solidFill>
              </a:rPr>
              <a:t>         EMPLOYEE_NUMBER CHARACTER(6);</a:t>
            </a:r>
          </a:p>
          <a:p>
            <a:pPr marL="0" indent="0">
              <a:buNone/>
            </a:pPr>
            <a:r>
              <a:rPr lang="en-IN" dirty="0">
                <a:solidFill>
                  <a:srgbClr val="7030A0"/>
                </a:solidFill>
              </a:rPr>
              <a:t> </a:t>
            </a:r>
            <a:r>
              <a:rPr lang="en-IN" dirty="0" smtClean="0">
                <a:solidFill>
                  <a:srgbClr val="7030A0"/>
                </a:solidFill>
              </a:rPr>
              <a:t>         EMPLOYEE_NAME  CHARACTER(20);</a:t>
            </a:r>
          </a:p>
          <a:p>
            <a:pPr marL="0" indent="0">
              <a:buNone/>
            </a:pPr>
            <a:r>
              <a:rPr lang="en-IN" dirty="0">
                <a:solidFill>
                  <a:srgbClr val="7030A0"/>
                </a:solidFill>
              </a:rPr>
              <a:t> </a:t>
            </a:r>
            <a:r>
              <a:rPr lang="en-IN" dirty="0" smtClean="0">
                <a:solidFill>
                  <a:srgbClr val="7030A0"/>
                </a:solidFill>
              </a:rPr>
              <a:t>         DEPARTMENT_NUMBER CHARACTER (4);</a:t>
            </a:r>
          </a:p>
          <a:p>
            <a:pPr marL="0" indent="0">
              <a:buNone/>
            </a:pPr>
            <a:r>
              <a:rPr lang="en-IN" dirty="0">
                <a:solidFill>
                  <a:srgbClr val="7030A0"/>
                </a:solidFill>
              </a:rPr>
              <a:t> </a:t>
            </a:r>
            <a:r>
              <a:rPr lang="en-IN" dirty="0" smtClean="0">
                <a:solidFill>
                  <a:srgbClr val="7030A0"/>
                </a:solidFill>
              </a:rPr>
              <a:t>         SALARY DECIMAL (5);</a:t>
            </a:r>
          </a:p>
          <a:p>
            <a:pPr marL="0" indent="0">
              <a:buNone/>
            </a:pPr>
            <a:r>
              <a:rPr lang="en-IN" dirty="0">
                <a:solidFill>
                  <a:srgbClr val="7030A0"/>
                </a:solidFill>
              </a:rPr>
              <a:t> </a:t>
            </a:r>
            <a:r>
              <a:rPr lang="en-IN" dirty="0" smtClean="0">
                <a:solidFill>
                  <a:srgbClr val="7030A0"/>
                </a:solidFill>
              </a:rPr>
              <a:t>         EMPLOYEE_ADDRESS CHAR(24);</a:t>
            </a:r>
          </a:p>
          <a:p>
            <a:pPr marL="0" indent="0">
              <a:buNone/>
            </a:pPr>
            <a:r>
              <a:rPr lang="en-IN" dirty="0"/>
              <a:t> </a:t>
            </a:r>
            <a:r>
              <a:rPr lang="en-IN" dirty="0" smtClean="0"/>
              <a:t>         </a:t>
            </a: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68568897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Three Level Architecture</a:t>
            </a:r>
            <a:endParaRPr lang="en-IN" dirty="0"/>
          </a:p>
        </p:txBody>
      </p:sp>
      <p:sp>
        <p:nvSpPr>
          <p:cNvPr id="3" name="Content Placeholder 2"/>
          <p:cNvSpPr>
            <a:spLocks noGrp="1"/>
          </p:cNvSpPr>
          <p:nvPr>
            <p:ph idx="1"/>
          </p:nvPr>
        </p:nvSpPr>
        <p:spPr/>
        <p:txBody>
          <a:bodyPr>
            <a:normAutofit lnSpcReduction="10000"/>
          </a:bodyPr>
          <a:lstStyle/>
          <a:p>
            <a:r>
              <a:rPr lang="en-IN" dirty="0" smtClean="0"/>
              <a:t>INTERNAL LEVEL</a:t>
            </a:r>
          </a:p>
          <a:p>
            <a:pPr marL="0" indent="0">
              <a:buNone/>
            </a:pPr>
            <a:r>
              <a:rPr lang="en-IN" dirty="0"/>
              <a:t> </a:t>
            </a:r>
            <a:r>
              <a:rPr lang="en-IN" dirty="0" smtClean="0"/>
              <a:t>  STORED_EMPLOYEE    BYTES = 64</a:t>
            </a:r>
          </a:p>
          <a:p>
            <a:pPr marL="0" indent="0">
              <a:buNone/>
            </a:pPr>
            <a:r>
              <a:rPr lang="en-IN" dirty="0"/>
              <a:t> </a:t>
            </a:r>
            <a:r>
              <a:rPr lang="en-IN" dirty="0" smtClean="0"/>
              <a:t>         </a:t>
            </a:r>
            <a:r>
              <a:rPr lang="en-IN" sz="2400" dirty="0" smtClean="0"/>
              <a:t>PREFIX         BYTES = 6, OFFSET = 0</a:t>
            </a:r>
          </a:p>
          <a:p>
            <a:pPr marL="0" indent="0">
              <a:buNone/>
            </a:pPr>
            <a:r>
              <a:rPr lang="en-IN" sz="2400" dirty="0"/>
              <a:t> </a:t>
            </a:r>
            <a:r>
              <a:rPr lang="en-IN" sz="2400" dirty="0" smtClean="0"/>
              <a:t>             EMP#           BYTES = 6, OFFSET = 6, INDEX =EMPX</a:t>
            </a:r>
          </a:p>
          <a:p>
            <a:pPr marL="0" indent="0">
              <a:buNone/>
            </a:pPr>
            <a:r>
              <a:rPr lang="en-IN" sz="2400" dirty="0"/>
              <a:t> </a:t>
            </a:r>
            <a:r>
              <a:rPr lang="en-IN" sz="2400" dirty="0" smtClean="0"/>
              <a:t>             ENAME        BYTES = 20, OFFSET = 12</a:t>
            </a:r>
          </a:p>
          <a:p>
            <a:pPr marL="0" indent="0">
              <a:buNone/>
            </a:pPr>
            <a:r>
              <a:rPr lang="en-IN" sz="2400" dirty="0"/>
              <a:t> </a:t>
            </a:r>
            <a:r>
              <a:rPr lang="en-IN" sz="2400" dirty="0" smtClean="0"/>
              <a:t>             DEPTNO       BYTES = 4,   OFFSET = 32</a:t>
            </a:r>
          </a:p>
          <a:p>
            <a:pPr marL="0" indent="0">
              <a:buNone/>
            </a:pPr>
            <a:r>
              <a:rPr lang="en-IN" sz="2400" dirty="0"/>
              <a:t> </a:t>
            </a:r>
            <a:r>
              <a:rPr lang="en-IN" sz="2400" dirty="0" smtClean="0"/>
              <a:t>             SALARY         BYTES = 10, OFFSET = 36</a:t>
            </a:r>
          </a:p>
          <a:p>
            <a:pPr marL="0" indent="0">
              <a:buNone/>
            </a:pPr>
            <a:r>
              <a:rPr lang="en-IN" sz="2400" dirty="0"/>
              <a:t> </a:t>
            </a:r>
            <a:r>
              <a:rPr lang="en-IN" sz="2400" dirty="0" smtClean="0"/>
              <a:t>             EADDRESS    BYTES = 24,  OFFSET= 40</a:t>
            </a:r>
          </a:p>
          <a:p>
            <a:pPr marL="0" indent="0">
              <a:buNone/>
            </a:pPr>
            <a:r>
              <a:rPr lang="en-IN" sz="2400" dirty="0"/>
              <a:t> </a:t>
            </a:r>
            <a:r>
              <a:rPr lang="en-IN" sz="2400" dirty="0" smtClean="0"/>
              <a:t>                 </a:t>
            </a:r>
          </a:p>
          <a:p>
            <a:pPr marL="0" indent="0">
              <a:buNone/>
            </a:pPr>
            <a:r>
              <a:rPr lang="en-IN" sz="2400" dirty="0"/>
              <a:t> </a:t>
            </a:r>
            <a:r>
              <a:rPr lang="en-IN" sz="2400" dirty="0" smtClean="0"/>
              <a:t>   </a:t>
            </a: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65007251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defRPr/>
            </a:pPr>
            <a:r>
              <a:rPr lang="en-US" smtClean="0">
                <a:solidFill>
                  <a:srgbClr val="FF0066"/>
                </a:solidFill>
                <a:latin typeface="Comic Sans MS" pitchFamily="66" charset="0"/>
              </a:rPr>
              <a:t>Three Schema Architecture</a:t>
            </a:r>
          </a:p>
        </p:txBody>
      </p:sp>
      <p:sp>
        <p:nvSpPr>
          <p:cNvPr id="19459" name="Rectangle 4"/>
          <p:cNvSpPr>
            <a:spLocks noGrp="1" noChangeArrowheads="1"/>
          </p:cNvSpPr>
          <p:nvPr>
            <p:ph type="body" idx="1"/>
          </p:nvPr>
        </p:nvSpPr>
        <p:spPr>
          <a:noFill/>
        </p:spPr>
        <p:txBody>
          <a:bodyPr/>
          <a:lstStyle/>
          <a:p>
            <a:pPr eaLnBrk="1" hangingPunct="1">
              <a:lnSpc>
                <a:spcPct val="90000"/>
              </a:lnSpc>
            </a:pPr>
            <a:r>
              <a:rPr lang="en-US" sz="2800" smtClean="0"/>
              <a:t>Defines DBMS schemas at </a:t>
            </a:r>
            <a:r>
              <a:rPr lang="en-US" sz="2800" i="1" smtClean="0"/>
              <a:t>three levels</a:t>
            </a:r>
            <a:r>
              <a:rPr lang="en-US" sz="2800" smtClean="0"/>
              <a:t>:	</a:t>
            </a:r>
          </a:p>
          <a:p>
            <a:pPr lvl="1" eaLnBrk="1" hangingPunct="1">
              <a:lnSpc>
                <a:spcPct val="90000"/>
              </a:lnSpc>
            </a:pPr>
            <a:r>
              <a:rPr lang="en-US" sz="2400" b="1" smtClean="0"/>
              <a:t>Internal schema</a:t>
            </a:r>
            <a:r>
              <a:rPr lang="en-US" sz="2400" smtClean="0"/>
              <a:t> at the internal level to describe physical storage structures and access paths. Typically uses a </a:t>
            </a:r>
            <a:r>
              <a:rPr lang="en-US" sz="2400" i="1" smtClean="0"/>
              <a:t>physical</a:t>
            </a:r>
            <a:r>
              <a:rPr lang="en-US" sz="2400" smtClean="0"/>
              <a:t> data model.</a:t>
            </a:r>
          </a:p>
          <a:p>
            <a:pPr lvl="1" eaLnBrk="1" hangingPunct="1">
              <a:lnSpc>
                <a:spcPct val="90000"/>
              </a:lnSpc>
            </a:pPr>
            <a:r>
              <a:rPr lang="en-US" sz="2400" b="1" smtClean="0"/>
              <a:t>Conceptual schema</a:t>
            </a:r>
            <a:r>
              <a:rPr lang="en-US" sz="2400" smtClean="0"/>
              <a:t> at the conceptual level to describe the structure and constraints for the </a:t>
            </a:r>
            <a:r>
              <a:rPr lang="en-US" sz="2400" i="1" smtClean="0"/>
              <a:t>whole</a:t>
            </a:r>
            <a:r>
              <a:rPr lang="en-US" sz="2400" smtClean="0"/>
              <a:t> database for a community of users. Uses a </a:t>
            </a:r>
            <a:r>
              <a:rPr lang="en-US" sz="2400" i="1" smtClean="0"/>
              <a:t>conceptual</a:t>
            </a:r>
            <a:r>
              <a:rPr lang="en-US" sz="2400" smtClean="0"/>
              <a:t> or an </a:t>
            </a:r>
            <a:r>
              <a:rPr lang="en-US" sz="2400" i="1" smtClean="0"/>
              <a:t>implementation</a:t>
            </a:r>
            <a:r>
              <a:rPr lang="en-US" sz="2400" smtClean="0"/>
              <a:t> data model.</a:t>
            </a:r>
          </a:p>
          <a:p>
            <a:pPr lvl="1" eaLnBrk="1" hangingPunct="1">
              <a:lnSpc>
                <a:spcPct val="90000"/>
              </a:lnSpc>
            </a:pPr>
            <a:r>
              <a:rPr lang="en-US" sz="2400" b="1" smtClean="0"/>
              <a:t>External schemas</a:t>
            </a:r>
            <a:r>
              <a:rPr lang="en-US" sz="2400" smtClean="0"/>
              <a:t> at the external level to describe the various user views. Usually uses the same data model as the conceptual level.</a:t>
            </a:r>
          </a:p>
          <a:p>
            <a:pPr eaLnBrk="1" hangingPunct="1">
              <a:lnSpc>
                <a:spcPct val="90000"/>
              </a:lnSpc>
            </a:pPr>
            <a:endParaRPr lang="en-US" sz="2400" smtClean="0">
              <a:solidFill>
                <a:srgbClr val="6666FF"/>
              </a:solidFill>
              <a:latin typeface="Comic Sans MS" pitchFamily="66" charset="0"/>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val="190194181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Database Users</a:t>
            </a:r>
            <a:endParaRPr lang="en-IN" dirty="0"/>
          </a:p>
        </p:txBody>
      </p:sp>
      <p:sp>
        <p:nvSpPr>
          <p:cNvPr id="3" name="Content Placeholder 2"/>
          <p:cNvSpPr>
            <a:spLocks noGrp="1"/>
          </p:cNvSpPr>
          <p:nvPr>
            <p:ph idx="1"/>
          </p:nvPr>
        </p:nvSpPr>
        <p:spPr/>
        <p:txBody>
          <a:bodyPr>
            <a:normAutofit lnSpcReduction="10000"/>
          </a:bodyPr>
          <a:lstStyle/>
          <a:p>
            <a:r>
              <a:rPr lang="en-GB" sz="2800" b="1" dirty="0">
                <a:latin typeface="Times New Roman" pitchFamily="18" charset="0"/>
                <a:cs typeface="Times New Roman" pitchFamily="18" charset="0"/>
              </a:rPr>
              <a:t>End users </a:t>
            </a:r>
          </a:p>
          <a:p>
            <a:pPr lvl="1"/>
            <a:r>
              <a:rPr lang="en-GB" b="1" dirty="0">
                <a:latin typeface="Times New Roman" pitchFamily="18" charset="0"/>
                <a:cs typeface="Times New Roman" pitchFamily="18" charset="0"/>
              </a:rPr>
              <a:t>Use the database system to achieve some </a:t>
            </a:r>
            <a:r>
              <a:rPr lang="en-GB" b="1" dirty="0" smtClean="0">
                <a:latin typeface="Times New Roman" pitchFamily="18" charset="0"/>
                <a:cs typeface="Times New Roman" pitchFamily="18" charset="0"/>
              </a:rPr>
              <a:t>goal.</a:t>
            </a:r>
            <a:endParaRPr lang="en-GB" b="1" dirty="0">
              <a:latin typeface="Times New Roman" pitchFamily="18" charset="0"/>
              <a:cs typeface="Times New Roman" pitchFamily="18" charset="0"/>
            </a:endParaRPr>
          </a:p>
          <a:p>
            <a:r>
              <a:rPr lang="en-GB" sz="2800" b="1" dirty="0">
                <a:latin typeface="Times New Roman" pitchFamily="18" charset="0"/>
                <a:cs typeface="Times New Roman" pitchFamily="18" charset="0"/>
              </a:rPr>
              <a:t>Application developers </a:t>
            </a:r>
          </a:p>
          <a:p>
            <a:pPr lvl="1"/>
            <a:r>
              <a:rPr lang="en-GB" b="1" dirty="0">
                <a:latin typeface="Times New Roman" pitchFamily="18" charset="0"/>
                <a:cs typeface="Times New Roman" pitchFamily="18" charset="0"/>
              </a:rPr>
              <a:t>Write software to allow end users to interface with the database </a:t>
            </a:r>
            <a:r>
              <a:rPr lang="en-GB" b="1" dirty="0" smtClean="0">
                <a:latin typeface="Times New Roman" pitchFamily="18" charset="0"/>
                <a:cs typeface="Times New Roman" pitchFamily="18" charset="0"/>
              </a:rPr>
              <a:t>system.</a:t>
            </a:r>
            <a:endParaRPr lang="en-GB" b="1" dirty="0">
              <a:latin typeface="Times New Roman" pitchFamily="18" charset="0"/>
              <a:cs typeface="Times New Roman" pitchFamily="18" charset="0"/>
            </a:endParaRPr>
          </a:p>
          <a:p>
            <a:r>
              <a:rPr lang="en-GB" sz="2800" b="1" dirty="0">
                <a:latin typeface="Times New Roman" pitchFamily="18" charset="0"/>
                <a:cs typeface="Times New Roman" pitchFamily="18" charset="0"/>
              </a:rPr>
              <a:t>Database Administrator (DBA)</a:t>
            </a:r>
          </a:p>
          <a:p>
            <a:pPr lvl="1"/>
            <a:r>
              <a:rPr lang="en-GB" b="1" dirty="0">
                <a:latin typeface="Times New Roman" pitchFamily="18" charset="0"/>
                <a:cs typeface="Times New Roman" pitchFamily="18" charset="0"/>
              </a:rPr>
              <a:t>Designs </a:t>
            </a:r>
            <a:r>
              <a:rPr lang="en-GB" b="1" dirty="0" smtClean="0">
                <a:latin typeface="Times New Roman" pitchFamily="18" charset="0"/>
                <a:cs typeface="Times New Roman" pitchFamily="18" charset="0"/>
              </a:rPr>
              <a:t>and  </a:t>
            </a:r>
            <a:r>
              <a:rPr lang="en-GB" b="1" dirty="0">
                <a:latin typeface="Times New Roman" pitchFamily="18" charset="0"/>
                <a:cs typeface="Times New Roman" pitchFamily="18" charset="0"/>
              </a:rPr>
              <a:t>manages the database </a:t>
            </a:r>
            <a:r>
              <a:rPr lang="en-GB" b="1" dirty="0" smtClean="0">
                <a:latin typeface="Times New Roman" pitchFamily="18" charset="0"/>
                <a:cs typeface="Times New Roman" pitchFamily="18" charset="0"/>
              </a:rPr>
              <a:t>system.</a:t>
            </a:r>
            <a:endParaRPr lang="en-GB" b="1" dirty="0">
              <a:latin typeface="Times New Roman" pitchFamily="18" charset="0"/>
              <a:cs typeface="Times New Roman" pitchFamily="18" charset="0"/>
            </a:endParaRPr>
          </a:p>
          <a:p>
            <a:r>
              <a:rPr lang="en-GB" sz="2800" b="1" dirty="0">
                <a:latin typeface="Times New Roman" pitchFamily="18" charset="0"/>
                <a:cs typeface="Times New Roman" pitchFamily="18" charset="0"/>
              </a:rPr>
              <a:t>Database systems programmer</a:t>
            </a:r>
          </a:p>
          <a:p>
            <a:pPr lvl="1"/>
            <a:r>
              <a:rPr lang="en-GB" b="1" dirty="0">
                <a:latin typeface="Times New Roman" pitchFamily="18" charset="0"/>
                <a:cs typeface="Times New Roman" pitchFamily="18" charset="0"/>
              </a:rPr>
              <a:t>Writes the database software </a:t>
            </a:r>
            <a:r>
              <a:rPr lang="en-GB" b="1" dirty="0" smtClean="0">
                <a:latin typeface="Times New Roman" pitchFamily="18" charset="0"/>
                <a:cs typeface="Times New Roman" pitchFamily="18" charset="0"/>
              </a:rPr>
              <a:t>itself.</a:t>
            </a:r>
            <a:endParaRPr lang="en-GB" b="1" dirty="0">
              <a:latin typeface="Times New Roman" pitchFamily="18" charset="0"/>
              <a:cs typeface="Times New Roman" pitchFamily="18" charset="0"/>
            </a:endParaRPr>
          </a:p>
          <a:p>
            <a:pPr marL="0" indent="0">
              <a:buNone/>
            </a:pP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p14="http://schemas.microsoft.com/office/powerpoint/2010/main" val="337266587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3"/>
          <p:cNvPicPr>
            <a:picLocks noGrp="1" noChangeAspect="1" noChangeArrowheads="1"/>
          </p:cNvPicPr>
          <p:nvPr>
            <p:ph type="body" idx="4294967295"/>
          </p:nvPr>
        </p:nvPicPr>
        <p:blipFill>
          <a:blip r:embed="rId2">
            <a:extLst>
              <a:ext uri="{28A0092B-C50C-407E-A947-70E740481C1C}">
                <a14:useLocalDpi xmlns:a14="http://schemas.microsoft.com/office/drawing/2010/main" val="0"/>
              </a:ext>
            </a:extLst>
          </a:blip>
          <a:srcRect/>
          <a:stretch>
            <a:fillRect/>
          </a:stretch>
        </p:blipFill>
        <p:spPr>
          <a:xfrm>
            <a:off x="0" y="228600"/>
            <a:ext cx="9144000" cy="6629400"/>
          </a:xfrm>
        </p:spPr>
      </p:pic>
      <p:sp>
        <p:nvSpPr>
          <p:cNvPr id="2" name="Slide Number Placeholder 1"/>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85194129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GB"/>
              <a:t>Data Dictionary - Metadata</a:t>
            </a:r>
          </a:p>
        </p:txBody>
      </p:sp>
      <p:sp>
        <p:nvSpPr>
          <p:cNvPr id="19459" name="Rectangle 3"/>
          <p:cNvSpPr>
            <a:spLocks noGrp="1" noChangeArrowheads="1"/>
          </p:cNvSpPr>
          <p:nvPr>
            <p:ph type="body" sz="half" idx="1"/>
          </p:nvPr>
        </p:nvSpPr>
        <p:spPr/>
        <p:txBody>
          <a:bodyPr/>
          <a:lstStyle/>
          <a:p>
            <a:r>
              <a:rPr lang="en-GB" sz="2400"/>
              <a:t>The dictionary or catalog stores information about the database itself</a:t>
            </a:r>
          </a:p>
          <a:p>
            <a:r>
              <a:rPr lang="en-GB" sz="2400"/>
              <a:t>This is data about data or ‘metadata’</a:t>
            </a:r>
          </a:p>
          <a:p>
            <a:r>
              <a:rPr lang="en-GB" sz="2400"/>
              <a:t>Almost every aspect of the DBMS uses the dictionary</a:t>
            </a:r>
          </a:p>
          <a:p>
            <a:endParaRPr lang="en-GB" sz="2400"/>
          </a:p>
        </p:txBody>
      </p:sp>
      <p:sp>
        <p:nvSpPr>
          <p:cNvPr id="19460" name="Rectangle 4"/>
          <p:cNvSpPr>
            <a:spLocks noGrp="1" noChangeArrowheads="1"/>
          </p:cNvSpPr>
          <p:nvPr>
            <p:ph type="body" sz="half" idx="2"/>
          </p:nvPr>
        </p:nvSpPr>
        <p:spPr/>
        <p:txBody>
          <a:bodyPr/>
          <a:lstStyle/>
          <a:p>
            <a:r>
              <a:rPr lang="en-GB" sz="2400"/>
              <a:t>The dictionary holds</a:t>
            </a:r>
          </a:p>
          <a:p>
            <a:pPr lvl="1"/>
            <a:r>
              <a:rPr lang="en-GB" sz="2000"/>
              <a:t>Descriptions of  database objects (tables, users, rules, views, indexes,…)</a:t>
            </a:r>
          </a:p>
          <a:p>
            <a:pPr lvl="1"/>
            <a:r>
              <a:rPr lang="en-GB" sz="2000"/>
              <a:t>Information about who is using which data (locks)</a:t>
            </a:r>
          </a:p>
          <a:p>
            <a:pPr lvl="1"/>
            <a:r>
              <a:rPr lang="en-GB" sz="2000"/>
              <a:t>Schemas and mappings</a:t>
            </a:r>
          </a:p>
        </p:txBody>
      </p:sp>
      <p:sp>
        <p:nvSpPr>
          <p:cNvPr id="2" name="Slide Number Placeholder 1"/>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57692405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552450" y="123825"/>
            <a:ext cx="8077200" cy="609600"/>
          </a:xfrm>
        </p:spPr>
        <p:txBody>
          <a:bodyPr>
            <a:normAutofit fontScale="90000"/>
          </a:bodyPr>
          <a:lstStyle/>
          <a:p>
            <a:r>
              <a:rPr lang="en-US"/>
              <a:t>Data Definition Language (DDL)</a:t>
            </a:r>
          </a:p>
        </p:txBody>
      </p:sp>
      <p:sp>
        <p:nvSpPr>
          <p:cNvPr id="41987" name="Rectangle 3"/>
          <p:cNvSpPr>
            <a:spLocks noGrp="1" noChangeArrowheads="1"/>
          </p:cNvSpPr>
          <p:nvPr>
            <p:ph type="body" idx="1"/>
          </p:nvPr>
        </p:nvSpPr>
        <p:spPr>
          <a:xfrm>
            <a:off x="571500" y="1152525"/>
            <a:ext cx="7848600" cy="4586288"/>
          </a:xfrm>
        </p:spPr>
        <p:txBody>
          <a:bodyPr>
            <a:normAutofit fontScale="62500" lnSpcReduction="20000"/>
          </a:bodyPr>
          <a:lstStyle/>
          <a:p>
            <a:r>
              <a:rPr lang="en-US" dirty="0"/>
              <a:t>Specification notation for defining the database schema</a:t>
            </a:r>
          </a:p>
          <a:p>
            <a:pPr lvl="1"/>
            <a:r>
              <a:rPr lang="en-US" dirty="0" smtClean="0"/>
              <a:t>E.g.  </a:t>
            </a:r>
            <a:br>
              <a:rPr lang="en-US" dirty="0" smtClean="0"/>
            </a:br>
            <a:r>
              <a:rPr lang="en-US" dirty="0" smtClean="0"/>
              <a:t>	</a:t>
            </a:r>
            <a:r>
              <a:rPr lang="en-US" b="1" dirty="0" smtClean="0"/>
              <a:t>create table</a:t>
            </a:r>
            <a:r>
              <a:rPr lang="en-US" dirty="0" smtClean="0"/>
              <a:t> </a:t>
            </a:r>
            <a:r>
              <a:rPr lang="en-US" i="1" dirty="0" smtClean="0"/>
              <a:t>account</a:t>
            </a:r>
            <a:r>
              <a:rPr lang="en-US" dirty="0" smtClean="0"/>
              <a:t> (</a:t>
            </a:r>
            <a:br>
              <a:rPr lang="en-US" dirty="0" smtClean="0"/>
            </a:br>
            <a:r>
              <a:rPr lang="en-US" dirty="0" smtClean="0"/>
              <a:t>             </a:t>
            </a:r>
            <a:r>
              <a:rPr lang="en-US" i="1" dirty="0" smtClean="0"/>
              <a:t>account-number</a:t>
            </a:r>
            <a:r>
              <a:rPr lang="en-US" dirty="0" smtClean="0"/>
              <a:t>    </a:t>
            </a:r>
            <a:r>
              <a:rPr lang="en-US" b="1" dirty="0" smtClean="0"/>
              <a:t>char</a:t>
            </a:r>
            <a:r>
              <a:rPr lang="en-US" dirty="0" smtClean="0"/>
              <a:t>(10), not null, 						primary key, </a:t>
            </a:r>
            <a:br>
              <a:rPr lang="en-US" dirty="0" smtClean="0"/>
            </a:br>
            <a:r>
              <a:rPr lang="en-US" dirty="0" smtClean="0"/>
              <a:t>             </a:t>
            </a:r>
            <a:r>
              <a:rPr lang="en-US" i="1" dirty="0" smtClean="0"/>
              <a:t>balance</a:t>
            </a:r>
            <a:r>
              <a:rPr lang="en-US" dirty="0" smtClean="0"/>
              <a:t>                 </a:t>
            </a:r>
            <a:r>
              <a:rPr lang="en-US" b="1" dirty="0" smtClean="0"/>
              <a:t>integer</a:t>
            </a:r>
            <a:r>
              <a:rPr lang="en-US" dirty="0" smtClean="0"/>
              <a:t>)</a:t>
            </a:r>
          </a:p>
          <a:p>
            <a:r>
              <a:rPr lang="en-US" dirty="0" smtClean="0"/>
              <a:t>DDL </a:t>
            </a:r>
            <a:r>
              <a:rPr lang="en-US" dirty="0"/>
              <a:t>compiler generates a set of tables stored in a </a:t>
            </a:r>
            <a:r>
              <a:rPr lang="en-US" i="1" dirty="0"/>
              <a:t>data </a:t>
            </a:r>
            <a:r>
              <a:rPr lang="en-US" i="1" dirty="0" smtClean="0"/>
              <a:t>dictionary.</a:t>
            </a:r>
            <a:endParaRPr lang="en-US" i="1" dirty="0"/>
          </a:p>
          <a:p>
            <a:r>
              <a:rPr lang="en-US" dirty="0"/>
              <a:t>Data dictionary contains metadata (i.e., data about data</a:t>
            </a:r>
            <a:r>
              <a:rPr lang="en-US" dirty="0" smtClean="0"/>
              <a:t>)</a:t>
            </a:r>
          </a:p>
          <a:p>
            <a:endParaRPr lang="en-US" dirty="0"/>
          </a:p>
          <a:p>
            <a:r>
              <a:rPr lang="en-US" dirty="0" smtClean="0"/>
              <a:t>Table name: account</a:t>
            </a:r>
          </a:p>
          <a:p>
            <a:r>
              <a:rPr lang="en-US" dirty="0" smtClean="0"/>
              <a:t>Owner: </a:t>
            </a:r>
            <a:r>
              <a:rPr lang="en-US" dirty="0" err="1" smtClean="0"/>
              <a:t>Kannan</a:t>
            </a:r>
            <a:endParaRPr lang="en-US" dirty="0" smtClean="0"/>
          </a:p>
          <a:p>
            <a:r>
              <a:rPr lang="en-US" dirty="0" smtClean="0"/>
              <a:t>Date: 05/08/2021</a:t>
            </a:r>
          </a:p>
          <a:p>
            <a:r>
              <a:rPr lang="en-US" dirty="0" smtClean="0"/>
              <a:t>Attributes: account-number , data type char(10), Constraints – not null, primary key</a:t>
            </a:r>
          </a:p>
          <a:p>
            <a:r>
              <a:rPr lang="en-US" dirty="0" smtClean="0"/>
              <a:t>Balance: integer</a:t>
            </a:r>
          </a:p>
          <a:p>
            <a:endParaRPr lang="en-US" dirty="0"/>
          </a:p>
          <a:p>
            <a:pPr lvl="1"/>
            <a:endParaRPr lang="en-US" sz="3100" dirty="0"/>
          </a:p>
        </p:txBody>
      </p:sp>
      <p:sp>
        <p:nvSpPr>
          <p:cNvPr id="2" name="Slide Number Placeholder 1"/>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258945554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normAutofit fontScale="90000"/>
          </a:bodyPr>
          <a:lstStyle/>
          <a:p>
            <a:r>
              <a:rPr lang="en-US"/>
              <a:t>Data Manipulation Language (DML)</a:t>
            </a:r>
          </a:p>
        </p:txBody>
      </p:sp>
      <p:sp>
        <p:nvSpPr>
          <p:cNvPr id="43011" name="Rectangle 3"/>
          <p:cNvSpPr>
            <a:spLocks noGrp="1" noChangeArrowheads="1"/>
          </p:cNvSpPr>
          <p:nvPr>
            <p:ph type="body" idx="1"/>
          </p:nvPr>
        </p:nvSpPr>
        <p:spPr/>
        <p:txBody>
          <a:bodyPr>
            <a:normAutofit fontScale="62500" lnSpcReduction="20000"/>
          </a:bodyPr>
          <a:lstStyle/>
          <a:p>
            <a:r>
              <a:rPr lang="en-US" dirty="0"/>
              <a:t>Language for accessing and manipulating the data organized by the appropriate data model</a:t>
            </a:r>
          </a:p>
          <a:p>
            <a:pPr lvl="1"/>
            <a:r>
              <a:rPr lang="en-US" dirty="0"/>
              <a:t>DML also known as query language</a:t>
            </a:r>
          </a:p>
          <a:p>
            <a:r>
              <a:rPr lang="en-US" dirty="0"/>
              <a:t>Two classes of languages </a:t>
            </a:r>
          </a:p>
          <a:p>
            <a:pPr lvl="1"/>
            <a:r>
              <a:rPr lang="en-US" dirty="0"/>
              <a:t>Procedural – user specifies what data is required and how to get those </a:t>
            </a:r>
            <a:r>
              <a:rPr lang="en-US" dirty="0" smtClean="0"/>
              <a:t>data. </a:t>
            </a:r>
          </a:p>
          <a:p>
            <a:pPr marL="457200" lvl="1" indent="0">
              <a:buNone/>
            </a:pPr>
            <a:r>
              <a:rPr lang="en-US" dirty="0" smtClean="0"/>
              <a:t>You must write Programs to get your data.</a:t>
            </a:r>
          </a:p>
          <a:p>
            <a:pPr marL="457200" lvl="1" indent="0">
              <a:buNone/>
            </a:pPr>
            <a:endParaRPr lang="en-US" dirty="0"/>
          </a:p>
          <a:p>
            <a:pPr lvl="1"/>
            <a:r>
              <a:rPr lang="en-US" dirty="0"/>
              <a:t>Nonprocedural – user specifies what data is required without specifying how to get those </a:t>
            </a:r>
            <a:r>
              <a:rPr lang="en-US" dirty="0" smtClean="0"/>
              <a:t>data.</a:t>
            </a:r>
          </a:p>
          <a:p>
            <a:pPr marL="457200" lvl="1" indent="0">
              <a:buNone/>
            </a:pPr>
            <a:endParaRPr lang="en-US" dirty="0" smtClean="0"/>
          </a:p>
          <a:p>
            <a:pPr lvl="1"/>
            <a:r>
              <a:rPr lang="en-US" dirty="0" smtClean="0"/>
              <a:t>Select </a:t>
            </a:r>
            <a:r>
              <a:rPr lang="en-US" dirty="0" err="1" smtClean="0"/>
              <a:t>rollno</a:t>
            </a:r>
            <a:r>
              <a:rPr lang="en-US" dirty="0" smtClean="0"/>
              <a:t>, name, address  from student;</a:t>
            </a:r>
          </a:p>
          <a:p>
            <a:pPr lvl="1"/>
            <a:endParaRPr lang="en-US" dirty="0"/>
          </a:p>
          <a:p>
            <a:r>
              <a:rPr lang="en-US" dirty="0"/>
              <a:t>SQL is the most widely used query </a:t>
            </a:r>
            <a:r>
              <a:rPr lang="en-US" dirty="0" smtClean="0"/>
              <a:t>language (Non-Procedural Language)</a:t>
            </a:r>
          </a:p>
          <a:p>
            <a:r>
              <a:rPr lang="en-US" dirty="0" smtClean="0"/>
              <a:t>SQL – Structured Query Language</a:t>
            </a:r>
            <a:endParaRPr lang="en-US" dirty="0"/>
          </a:p>
        </p:txBody>
      </p:sp>
      <p:sp>
        <p:nvSpPr>
          <p:cNvPr id="2" name="Slide Number Placeholder 1"/>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288997834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ORACLE</a:t>
            </a:r>
            <a:endParaRPr lang="en-IN" dirty="0"/>
          </a:p>
        </p:txBody>
      </p:sp>
      <p:sp>
        <p:nvSpPr>
          <p:cNvPr id="3" name="Content Placeholder 2"/>
          <p:cNvSpPr>
            <a:spLocks noGrp="1"/>
          </p:cNvSpPr>
          <p:nvPr>
            <p:ph idx="1"/>
          </p:nvPr>
        </p:nvSpPr>
        <p:spPr/>
        <p:txBody>
          <a:bodyPr/>
          <a:lstStyle/>
          <a:p>
            <a:r>
              <a:rPr lang="en-IN" dirty="0" smtClean="0"/>
              <a:t>CONNECT – Cannot create tables. Works in the tables created by others if they give permission.</a:t>
            </a:r>
          </a:p>
          <a:p>
            <a:r>
              <a:rPr lang="en-IN" dirty="0" smtClean="0"/>
              <a:t>Resource – Can create tables only in their account (area allotted to them), do operations only on their tables.</a:t>
            </a:r>
          </a:p>
          <a:p>
            <a:r>
              <a:rPr lang="en-IN" dirty="0" smtClean="0"/>
              <a:t>DBA – Powers with all users tables and accounts.</a:t>
            </a: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148293841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US"/>
              <a:t>Overall System Structure </a:t>
            </a:r>
          </a:p>
        </p:txBody>
      </p:sp>
      <p:pic>
        <p:nvPicPr>
          <p:cNvPr id="48133" name="Picture 5"/>
          <p:cNvPicPr>
            <a:picLocks noChangeAspect="1" noChangeArrowheads="1"/>
          </p:cNvPicPr>
          <p:nvPr/>
        </p:nvPicPr>
        <p:blipFill>
          <a:blip r:embed="rId2">
            <a:extLst>
              <a:ext uri="{28A0092B-C50C-407E-A947-70E740481C1C}">
                <a14:useLocalDpi xmlns:a14="http://schemas.microsoft.com/office/drawing/2010/main" val="0"/>
              </a:ext>
            </a:extLst>
          </a:blip>
          <a:srcRect l="24742" t="917" r="25085" b="3207"/>
          <a:stretch>
            <a:fillRect/>
          </a:stretch>
        </p:blipFill>
        <p:spPr bwMode="auto">
          <a:xfrm>
            <a:off x="2895600" y="1295400"/>
            <a:ext cx="4076700" cy="5843587"/>
          </a:xfrm>
          <a:prstGeom prst="rect">
            <a:avLst/>
          </a:prstGeom>
          <a:noFill/>
          <a:ln w="76200" cmpd="tri">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198331808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257368242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457200" y="-304800"/>
            <a:ext cx="8229600" cy="1143000"/>
          </a:xfrm>
        </p:spPr>
        <p:txBody>
          <a:bodyPr/>
          <a:lstStyle/>
          <a:p>
            <a:pPr eaLnBrk="1" hangingPunct="1">
              <a:defRPr/>
            </a:pPr>
            <a:r>
              <a:rPr lang="en-US" dirty="0" smtClean="0">
                <a:solidFill>
                  <a:schemeClr val="accent2"/>
                </a:solidFill>
              </a:rPr>
              <a:t>DATA  MODELS</a:t>
            </a:r>
          </a:p>
        </p:txBody>
      </p:sp>
      <p:sp>
        <p:nvSpPr>
          <p:cNvPr id="9219" name="Rectangle 3"/>
          <p:cNvSpPr>
            <a:spLocks noGrp="1" noChangeArrowheads="1"/>
          </p:cNvSpPr>
          <p:nvPr>
            <p:ph type="body" idx="1"/>
          </p:nvPr>
        </p:nvSpPr>
        <p:spPr>
          <a:xfrm>
            <a:off x="0" y="685800"/>
            <a:ext cx="8534400" cy="6172200"/>
          </a:xfrm>
        </p:spPr>
        <p:txBody>
          <a:bodyPr/>
          <a:lstStyle/>
          <a:p>
            <a:pPr eaLnBrk="1" hangingPunct="1">
              <a:lnSpc>
                <a:spcPct val="80000"/>
              </a:lnSpc>
            </a:pPr>
            <a:r>
              <a:rPr lang="en-US" sz="2800" dirty="0" smtClean="0">
                <a:solidFill>
                  <a:srgbClr val="00B050"/>
                </a:solidFill>
              </a:rPr>
              <a:t> Hierarchical Model, Network Model and Relational Model.</a:t>
            </a:r>
          </a:p>
          <a:p>
            <a:pPr>
              <a:lnSpc>
                <a:spcPct val="80000"/>
              </a:lnSpc>
            </a:pPr>
            <a:r>
              <a:rPr lang="en-US" sz="2800" dirty="0">
                <a:solidFill>
                  <a:srgbClr val="FF0000"/>
                </a:solidFill>
              </a:rPr>
              <a:t>Hierarchical Model:</a:t>
            </a:r>
          </a:p>
          <a:p>
            <a:pPr marL="0" indent="0">
              <a:lnSpc>
                <a:spcPct val="80000"/>
              </a:lnSpc>
              <a:buNone/>
            </a:pPr>
            <a:r>
              <a:rPr lang="en-US" sz="2800" dirty="0">
                <a:solidFill>
                  <a:srgbClr val="FF0000"/>
                </a:solidFill>
              </a:rPr>
              <a:t>   </a:t>
            </a:r>
            <a:r>
              <a:rPr lang="en-US" sz="2800" dirty="0" smtClean="0">
                <a:solidFill>
                  <a:srgbClr val="FF0000"/>
                </a:solidFill>
              </a:rPr>
              <a:t>-   Stores </a:t>
            </a:r>
            <a:r>
              <a:rPr lang="en-US" sz="2800" dirty="0">
                <a:solidFill>
                  <a:srgbClr val="FF0000"/>
                </a:solidFill>
              </a:rPr>
              <a:t>the data using </a:t>
            </a:r>
            <a:r>
              <a:rPr lang="en-US" sz="2800" dirty="0"/>
              <a:t>T</a:t>
            </a:r>
            <a:r>
              <a:rPr lang="en-US" sz="2800" dirty="0" smtClean="0"/>
              <a:t>ree </a:t>
            </a:r>
            <a:r>
              <a:rPr lang="en-US" sz="2800" dirty="0">
                <a:solidFill>
                  <a:srgbClr val="FF0000"/>
                </a:solidFill>
              </a:rPr>
              <a:t>Data Structures.</a:t>
            </a:r>
          </a:p>
          <a:p>
            <a:pPr marL="0" indent="0">
              <a:lnSpc>
                <a:spcPct val="80000"/>
              </a:lnSpc>
              <a:buNone/>
            </a:pPr>
            <a:r>
              <a:rPr lang="en-US" sz="2800" dirty="0">
                <a:solidFill>
                  <a:srgbClr val="FF0000"/>
                </a:solidFill>
              </a:rPr>
              <a:t>   </a:t>
            </a:r>
            <a:r>
              <a:rPr lang="en-US" sz="2800" dirty="0" smtClean="0">
                <a:solidFill>
                  <a:srgbClr val="FF0000"/>
                </a:solidFill>
              </a:rPr>
              <a:t>-   </a:t>
            </a:r>
            <a:r>
              <a:rPr lang="en-US" sz="2800" dirty="0" err="1" smtClean="0">
                <a:solidFill>
                  <a:srgbClr val="FF0000"/>
                </a:solidFill>
              </a:rPr>
              <a:t>Eg</a:t>
            </a:r>
            <a:r>
              <a:rPr lang="en-US" sz="2800" dirty="0">
                <a:solidFill>
                  <a:srgbClr val="FF0000"/>
                </a:solidFill>
              </a:rPr>
              <a:t>: IMS in IBM Main </a:t>
            </a:r>
            <a:r>
              <a:rPr lang="en-US" sz="2800" dirty="0" smtClean="0">
                <a:solidFill>
                  <a:srgbClr val="FF0000"/>
                </a:solidFill>
              </a:rPr>
              <a:t>Frames</a:t>
            </a:r>
          </a:p>
          <a:p>
            <a:pPr marL="0" indent="0">
              <a:lnSpc>
                <a:spcPct val="80000"/>
              </a:lnSpc>
              <a:buNone/>
            </a:pPr>
            <a:r>
              <a:rPr lang="en-US" sz="2800" dirty="0" smtClean="0">
                <a:solidFill>
                  <a:srgbClr val="FF0000"/>
                </a:solidFill>
              </a:rPr>
              <a:t>DL/1 – Data Language 1</a:t>
            </a:r>
          </a:p>
          <a:p>
            <a:pPr marL="0" indent="0">
              <a:lnSpc>
                <a:spcPct val="80000"/>
              </a:lnSpc>
              <a:buNone/>
            </a:pPr>
            <a:endParaRPr lang="en-US" sz="2800" dirty="0"/>
          </a:p>
          <a:p>
            <a:pPr eaLnBrk="1" hangingPunct="1">
              <a:lnSpc>
                <a:spcPct val="80000"/>
              </a:lnSpc>
            </a:pPr>
            <a:r>
              <a:rPr lang="en-US" sz="2800" dirty="0" smtClean="0">
                <a:solidFill>
                  <a:srgbClr val="00B050"/>
                </a:solidFill>
              </a:rPr>
              <a:t>Network Model</a:t>
            </a:r>
          </a:p>
          <a:p>
            <a:pPr marL="0" indent="0" eaLnBrk="1" hangingPunct="1">
              <a:lnSpc>
                <a:spcPct val="80000"/>
              </a:lnSpc>
              <a:buNone/>
            </a:pPr>
            <a:r>
              <a:rPr lang="en-US" sz="2800" dirty="0">
                <a:solidFill>
                  <a:srgbClr val="00B050"/>
                </a:solidFill>
              </a:rPr>
              <a:t> </a:t>
            </a:r>
            <a:r>
              <a:rPr lang="en-US" sz="2800" dirty="0" smtClean="0">
                <a:solidFill>
                  <a:srgbClr val="00B050"/>
                </a:solidFill>
              </a:rPr>
              <a:t>-    Stores the data using </a:t>
            </a:r>
            <a:r>
              <a:rPr lang="en-US" sz="2800" dirty="0" smtClean="0"/>
              <a:t>Graph</a:t>
            </a:r>
            <a:r>
              <a:rPr lang="en-US" sz="2800" dirty="0" smtClean="0">
                <a:solidFill>
                  <a:srgbClr val="00B050"/>
                </a:solidFill>
              </a:rPr>
              <a:t> Data Structure.</a:t>
            </a:r>
          </a:p>
          <a:p>
            <a:pPr marL="0" indent="0" eaLnBrk="1" hangingPunct="1">
              <a:lnSpc>
                <a:spcPct val="80000"/>
              </a:lnSpc>
              <a:buNone/>
            </a:pPr>
            <a:r>
              <a:rPr lang="en-US" sz="2800" dirty="0" smtClean="0">
                <a:solidFill>
                  <a:srgbClr val="00B050"/>
                </a:solidFill>
              </a:rPr>
              <a:t>-     </a:t>
            </a:r>
            <a:r>
              <a:rPr lang="en-US" sz="2800" dirty="0" err="1" smtClean="0">
                <a:solidFill>
                  <a:srgbClr val="00B050"/>
                </a:solidFill>
              </a:rPr>
              <a:t>Eg</a:t>
            </a:r>
            <a:r>
              <a:rPr lang="en-US" sz="2800" dirty="0" smtClean="0">
                <a:solidFill>
                  <a:srgbClr val="00B050"/>
                </a:solidFill>
              </a:rPr>
              <a:t>: IDMS from IBM Mainframe </a:t>
            </a:r>
          </a:p>
          <a:p>
            <a:pPr eaLnBrk="1" hangingPunct="1">
              <a:lnSpc>
                <a:spcPct val="80000"/>
              </a:lnSpc>
            </a:pPr>
            <a:endParaRPr lang="en-US" sz="2800" dirty="0" smtClean="0">
              <a:solidFill>
                <a:srgbClr val="00B050"/>
              </a:solidFill>
            </a:endParaRPr>
          </a:p>
          <a:p>
            <a:pPr eaLnBrk="1" hangingPunct="1">
              <a:lnSpc>
                <a:spcPct val="80000"/>
              </a:lnSpc>
            </a:pPr>
            <a:r>
              <a:rPr lang="en-US" sz="2800" dirty="0" smtClean="0">
                <a:solidFill>
                  <a:srgbClr val="7030A0"/>
                </a:solidFill>
              </a:rPr>
              <a:t>Relational  Model</a:t>
            </a:r>
          </a:p>
          <a:p>
            <a:pPr marL="0" indent="0" eaLnBrk="1" hangingPunct="1">
              <a:lnSpc>
                <a:spcPct val="80000"/>
              </a:lnSpc>
              <a:buNone/>
            </a:pPr>
            <a:r>
              <a:rPr lang="en-US" sz="2800" dirty="0" smtClean="0">
                <a:solidFill>
                  <a:srgbClr val="7030A0"/>
                </a:solidFill>
              </a:rPr>
              <a:t>        - Stores in the data in Table format.</a:t>
            </a:r>
          </a:p>
          <a:p>
            <a:pPr marL="0" indent="0" eaLnBrk="1" hangingPunct="1">
              <a:lnSpc>
                <a:spcPct val="80000"/>
              </a:lnSpc>
              <a:buNone/>
            </a:pPr>
            <a:r>
              <a:rPr lang="en-US" sz="2800" dirty="0" smtClean="0">
                <a:solidFill>
                  <a:srgbClr val="7030A0"/>
                </a:solidFill>
              </a:rPr>
              <a:t>Example: Oracle, SQL Server, MySQL, DB2 etc.</a:t>
            </a:r>
          </a:p>
          <a:p>
            <a:pPr marL="0" indent="0" eaLnBrk="1" hangingPunct="1">
              <a:lnSpc>
                <a:spcPct val="80000"/>
              </a:lnSpc>
              <a:buNone/>
            </a:pPr>
            <a:endParaRPr lang="en-US" sz="2800" dirty="0" smtClean="0"/>
          </a:p>
          <a:p>
            <a:pPr marL="0" indent="0" eaLnBrk="1" hangingPunct="1">
              <a:lnSpc>
                <a:spcPct val="80000"/>
              </a:lnSpc>
              <a:buNone/>
            </a:pPr>
            <a:endParaRPr lang="en-US" sz="2800" dirty="0" smtClean="0"/>
          </a:p>
        </p:txBody>
      </p:sp>
      <p:sp>
        <p:nvSpPr>
          <p:cNvPr id="2" name="Slide Number Placeholder 1"/>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96849461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defRPr/>
            </a:pPr>
            <a:r>
              <a:rPr lang="en-US" smtClean="0"/>
              <a:t>DATA MODELS</a:t>
            </a:r>
          </a:p>
        </p:txBody>
      </p:sp>
      <p:grpSp>
        <p:nvGrpSpPr>
          <p:cNvPr id="10243" name="Group 5"/>
          <p:cNvGrpSpPr>
            <a:grpSpLocks/>
          </p:cNvGrpSpPr>
          <p:nvPr/>
        </p:nvGrpSpPr>
        <p:grpSpPr bwMode="auto">
          <a:xfrm>
            <a:off x="1066800" y="2895600"/>
            <a:ext cx="2895600" cy="1981200"/>
            <a:chOff x="2928" y="864"/>
            <a:chExt cx="2400" cy="1440"/>
          </a:xfrm>
        </p:grpSpPr>
        <p:sp>
          <p:nvSpPr>
            <p:cNvPr id="10259" name="Rectangle 6"/>
            <p:cNvSpPr>
              <a:spLocks noChangeArrowheads="1"/>
            </p:cNvSpPr>
            <p:nvPr/>
          </p:nvSpPr>
          <p:spPr bwMode="auto">
            <a:xfrm>
              <a:off x="3648" y="864"/>
              <a:ext cx="576" cy="1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60" name="Rectangle 7"/>
            <p:cNvSpPr>
              <a:spLocks noChangeArrowheads="1"/>
            </p:cNvSpPr>
            <p:nvPr/>
          </p:nvSpPr>
          <p:spPr bwMode="auto">
            <a:xfrm>
              <a:off x="4368" y="1248"/>
              <a:ext cx="576" cy="1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61" name="Rectangle 8"/>
            <p:cNvSpPr>
              <a:spLocks noChangeArrowheads="1"/>
            </p:cNvSpPr>
            <p:nvPr/>
          </p:nvSpPr>
          <p:spPr bwMode="auto">
            <a:xfrm>
              <a:off x="2928" y="1248"/>
              <a:ext cx="576" cy="1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62" name="Rectangle 9"/>
            <p:cNvSpPr>
              <a:spLocks noChangeArrowheads="1"/>
            </p:cNvSpPr>
            <p:nvPr/>
          </p:nvSpPr>
          <p:spPr bwMode="auto">
            <a:xfrm>
              <a:off x="2928" y="1632"/>
              <a:ext cx="576" cy="1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63" name="Rectangle 10"/>
            <p:cNvSpPr>
              <a:spLocks noChangeArrowheads="1"/>
            </p:cNvSpPr>
            <p:nvPr/>
          </p:nvSpPr>
          <p:spPr bwMode="auto">
            <a:xfrm>
              <a:off x="4368" y="1632"/>
              <a:ext cx="576" cy="1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64" name="Rectangle 11"/>
            <p:cNvSpPr>
              <a:spLocks noChangeArrowheads="1"/>
            </p:cNvSpPr>
            <p:nvPr/>
          </p:nvSpPr>
          <p:spPr bwMode="auto">
            <a:xfrm>
              <a:off x="2928" y="1968"/>
              <a:ext cx="576" cy="1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65" name="Rectangle 12"/>
            <p:cNvSpPr>
              <a:spLocks noChangeArrowheads="1"/>
            </p:cNvSpPr>
            <p:nvPr/>
          </p:nvSpPr>
          <p:spPr bwMode="auto">
            <a:xfrm>
              <a:off x="3936" y="2112"/>
              <a:ext cx="576" cy="1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66" name="Rectangle 13"/>
            <p:cNvSpPr>
              <a:spLocks noChangeArrowheads="1"/>
            </p:cNvSpPr>
            <p:nvPr/>
          </p:nvSpPr>
          <p:spPr bwMode="auto">
            <a:xfrm>
              <a:off x="4752" y="2112"/>
              <a:ext cx="576" cy="1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67" name="Line 14"/>
            <p:cNvSpPr>
              <a:spLocks noChangeShapeType="1"/>
            </p:cNvSpPr>
            <p:nvPr/>
          </p:nvSpPr>
          <p:spPr bwMode="auto">
            <a:xfrm>
              <a:off x="3936" y="1056"/>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68" name="Line 15"/>
            <p:cNvSpPr>
              <a:spLocks noChangeShapeType="1"/>
            </p:cNvSpPr>
            <p:nvPr/>
          </p:nvSpPr>
          <p:spPr bwMode="auto">
            <a:xfrm flipH="1">
              <a:off x="3168" y="1152"/>
              <a:ext cx="15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69" name="Line 16"/>
            <p:cNvSpPr>
              <a:spLocks noChangeShapeType="1"/>
            </p:cNvSpPr>
            <p:nvPr/>
          </p:nvSpPr>
          <p:spPr bwMode="auto">
            <a:xfrm>
              <a:off x="3168" y="1152"/>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70" name="Line 17"/>
            <p:cNvSpPr>
              <a:spLocks noChangeShapeType="1"/>
            </p:cNvSpPr>
            <p:nvPr/>
          </p:nvSpPr>
          <p:spPr bwMode="auto">
            <a:xfrm flipH="1">
              <a:off x="4704" y="1152"/>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71" name="Line 18"/>
            <p:cNvSpPr>
              <a:spLocks noChangeShapeType="1"/>
            </p:cNvSpPr>
            <p:nvPr/>
          </p:nvSpPr>
          <p:spPr bwMode="auto">
            <a:xfrm>
              <a:off x="4704" y="1440"/>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72" name="Line 19"/>
            <p:cNvSpPr>
              <a:spLocks noChangeShapeType="1"/>
            </p:cNvSpPr>
            <p:nvPr/>
          </p:nvSpPr>
          <p:spPr bwMode="auto">
            <a:xfrm>
              <a:off x="3168" y="1440"/>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73" name="Line 20"/>
            <p:cNvSpPr>
              <a:spLocks noChangeShapeType="1"/>
            </p:cNvSpPr>
            <p:nvPr/>
          </p:nvSpPr>
          <p:spPr bwMode="auto">
            <a:xfrm>
              <a:off x="3168" y="1824"/>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74" name="Line 21"/>
            <p:cNvSpPr>
              <a:spLocks noChangeShapeType="1"/>
            </p:cNvSpPr>
            <p:nvPr/>
          </p:nvSpPr>
          <p:spPr bwMode="auto">
            <a:xfrm>
              <a:off x="4704" y="1824"/>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75" name="Line 22"/>
            <p:cNvSpPr>
              <a:spLocks noChangeShapeType="1"/>
            </p:cNvSpPr>
            <p:nvPr/>
          </p:nvSpPr>
          <p:spPr bwMode="auto">
            <a:xfrm>
              <a:off x="4272" y="1920"/>
              <a:ext cx="7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76" name="Line 23"/>
            <p:cNvSpPr>
              <a:spLocks noChangeShapeType="1"/>
            </p:cNvSpPr>
            <p:nvPr/>
          </p:nvSpPr>
          <p:spPr bwMode="auto">
            <a:xfrm>
              <a:off x="5040" y="1920"/>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77" name="Line 24"/>
            <p:cNvSpPr>
              <a:spLocks noChangeShapeType="1"/>
            </p:cNvSpPr>
            <p:nvPr/>
          </p:nvSpPr>
          <p:spPr bwMode="auto">
            <a:xfrm>
              <a:off x="4272" y="1920"/>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10244" name="Rectangle 25"/>
          <p:cNvSpPr>
            <a:spLocks noGrp="1" noChangeArrowheads="1"/>
          </p:cNvSpPr>
          <p:nvPr>
            <p:ph type="body" idx="1"/>
          </p:nvPr>
        </p:nvSpPr>
        <p:spPr>
          <a:noFill/>
          <a:extLst>
            <a:ext uri="{91240B29-F687-4F45-9708-019B960494DF}">
              <a14:hiddenLine xmlns:a14="http://schemas.microsoft.com/office/drawing/2010/main" w="12700" cap="sq">
                <a:solidFill>
                  <a:schemeClr val="tx1"/>
                </a:solidFill>
                <a:miter lim="800000"/>
                <a:headEnd type="none" w="sm" len="sm"/>
                <a:tailEnd type="none" w="sm" len="sm"/>
              </a14:hiddenLine>
            </a:ext>
          </a:extLst>
        </p:spPr>
        <p:txBody>
          <a:bodyPr/>
          <a:lstStyle/>
          <a:p>
            <a:pPr>
              <a:spcBef>
                <a:spcPct val="0"/>
              </a:spcBef>
              <a:buClrTx/>
              <a:buFontTx/>
              <a:buNone/>
            </a:pPr>
            <a:r>
              <a:rPr lang="en-US" smtClean="0"/>
              <a:t>HIERARCHICAL MODEL </a:t>
            </a:r>
          </a:p>
        </p:txBody>
      </p:sp>
      <p:grpSp>
        <p:nvGrpSpPr>
          <p:cNvPr id="10245" name="Group 26"/>
          <p:cNvGrpSpPr>
            <a:grpSpLocks/>
          </p:cNvGrpSpPr>
          <p:nvPr/>
        </p:nvGrpSpPr>
        <p:grpSpPr bwMode="auto">
          <a:xfrm>
            <a:off x="4953000" y="3048000"/>
            <a:ext cx="3276600" cy="1143000"/>
            <a:chOff x="1296" y="1392"/>
            <a:chExt cx="2544" cy="816"/>
          </a:xfrm>
        </p:grpSpPr>
        <p:sp>
          <p:nvSpPr>
            <p:cNvPr id="10247" name="Oval 27"/>
            <p:cNvSpPr>
              <a:spLocks noChangeArrowheads="1"/>
            </p:cNvSpPr>
            <p:nvPr/>
          </p:nvSpPr>
          <p:spPr bwMode="auto">
            <a:xfrm>
              <a:off x="2915" y="1478"/>
              <a:ext cx="727" cy="6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48" name="Oval 28"/>
            <p:cNvSpPr>
              <a:spLocks noChangeArrowheads="1"/>
            </p:cNvSpPr>
            <p:nvPr/>
          </p:nvSpPr>
          <p:spPr bwMode="auto">
            <a:xfrm>
              <a:off x="1494" y="1478"/>
              <a:ext cx="760" cy="55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49" name="Rectangle 29"/>
            <p:cNvSpPr>
              <a:spLocks noChangeArrowheads="1"/>
            </p:cNvSpPr>
            <p:nvPr/>
          </p:nvSpPr>
          <p:spPr bwMode="auto">
            <a:xfrm>
              <a:off x="1692" y="1392"/>
              <a:ext cx="364" cy="17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50" name="Rectangle 30"/>
            <p:cNvSpPr>
              <a:spLocks noChangeArrowheads="1"/>
            </p:cNvSpPr>
            <p:nvPr/>
          </p:nvSpPr>
          <p:spPr bwMode="auto">
            <a:xfrm>
              <a:off x="1296" y="1736"/>
              <a:ext cx="363" cy="171"/>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51" name="Rectangle 31"/>
            <p:cNvSpPr>
              <a:spLocks noChangeArrowheads="1"/>
            </p:cNvSpPr>
            <p:nvPr/>
          </p:nvSpPr>
          <p:spPr bwMode="auto">
            <a:xfrm>
              <a:off x="2056" y="1736"/>
              <a:ext cx="363" cy="171"/>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52" name="Rectangle 32"/>
            <p:cNvSpPr>
              <a:spLocks noChangeArrowheads="1"/>
            </p:cNvSpPr>
            <p:nvPr/>
          </p:nvSpPr>
          <p:spPr bwMode="auto">
            <a:xfrm>
              <a:off x="1692" y="1993"/>
              <a:ext cx="364" cy="17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53" name="Rectangle 33"/>
            <p:cNvSpPr>
              <a:spLocks noChangeArrowheads="1"/>
            </p:cNvSpPr>
            <p:nvPr/>
          </p:nvSpPr>
          <p:spPr bwMode="auto">
            <a:xfrm>
              <a:off x="3080" y="1392"/>
              <a:ext cx="364" cy="17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54" name="Rectangle 34"/>
            <p:cNvSpPr>
              <a:spLocks noChangeArrowheads="1"/>
            </p:cNvSpPr>
            <p:nvPr/>
          </p:nvSpPr>
          <p:spPr bwMode="auto">
            <a:xfrm>
              <a:off x="2684" y="1736"/>
              <a:ext cx="363" cy="171"/>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55" name="Rectangle 35"/>
            <p:cNvSpPr>
              <a:spLocks noChangeArrowheads="1"/>
            </p:cNvSpPr>
            <p:nvPr/>
          </p:nvSpPr>
          <p:spPr bwMode="auto">
            <a:xfrm>
              <a:off x="3477" y="1779"/>
              <a:ext cx="363" cy="171"/>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56" name="Rectangle 36"/>
            <p:cNvSpPr>
              <a:spLocks noChangeArrowheads="1"/>
            </p:cNvSpPr>
            <p:nvPr/>
          </p:nvSpPr>
          <p:spPr bwMode="auto">
            <a:xfrm>
              <a:off x="3080" y="2036"/>
              <a:ext cx="364" cy="17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57" name="Arc 37"/>
            <p:cNvSpPr>
              <a:spLocks/>
            </p:cNvSpPr>
            <p:nvPr/>
          </p:nvSpPr>
          <p:spPr bwMode="auto">
            <a:xfrm flipH="1">
              <a:off x="2254" y="1435"/>
              <a:ext cx="364" cy="25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58" name="Arc 38"/>
            <p:cNvSpPr>
              <a:spLocks/>
            </p:cNvSpPr>
            <p:nvPr/>
          </p:nvSpPr>
          <p:spPr bwMode="auto">
            <a:xfrm>
              <a:off x="2618" y="1435"/>
              <a:ext cx="330" cy="301"/>
            </a:xfrm>
            <a:custGeom>
              <a:avLst/>
              <a:gdLst>
                <a:gd name="T0" fmla="*/ 0 w 21600"/>
                <a:gd name="T1" fmla="*/ 0 h 31064"/>
                <a:gd name="T2" fmla="*/ 0 w 21600"/>
                <a:gd name="T3" fmla="*/ 0 h 31064"/>
                <a:gd name="T4" fmla="*/ 0 w 21600"/>
                <a:gd name="T5" fmla="*/ 0 h 31064"/>
                <a:gd name="T6" fmla="*/ 0 60000 65536"/>
                <a:gd name="T7" fmla="*/ 0 60000 65536"/>
                <a:gd name="T8" fmla="*/ 0 60000 65536"/>
              </a:gdLst>
              <a:ahLst/>
              <a:cxnLst>
                <a:cxn ang="T6">
                  <a:pos x="T0" y="T1"/>
                </a:cxn>
                <a:cxn ang="T7">
                  <a:pos x="T2" y="T3"/>
                </a:cxn>
                <a:cxn ang="T8">
                  <a:pos x="T4" y="T5"/>
                </a:cxn>
              </a:cxnLst>
              <a:rect l="0" t="0" r="r" b="b"/>
              <a:pathLst>
                <a:path w="21600" h="31064" fill="none" extrusionOk="0">
                  <a:moveTo>
                    <a:pt x="2905" y="0"/>
                  </a:moveTo>
                  <a:cubicBezTo>
                    <a:pt x="13614" y="1454"/>
                    <a:pt x="21600" y="10597"/>
                    <a:pt x="21600" y="21404"/>
                  </a:cubicBezTo>
                  <a:cubicBezTo>
                    <a:pt x="21600" y="24757"/>
                    <a:pt x="20819" y="28064"/>
                    <a:pt x="19319" y="31063"/>
                  </a:cubicBezTo>
                </a:path>
                <a:path w="21600" h="31064" stroke="0" extrusionOk="0">
                  <a:moveTo>
                    <a:pt x="2905" y="0"/>
                  </a:moveTo>
                  <a:cubicBezTo>
                    <a:pt x="13614" y="1454"/>
                    <a:pt x="21600" y="10597"/>
                    <a:pt x="21600" y="21404"/>
                  </a:cubicBezTo>
                  <a:cubicBezTo>
                    <a:pt x="21600" y="24757"/>
                    <a:pt x="20819" y="28064"/>
                    <a:pt x="19319" y="31063"/>
                  </a:cubicBezTo>
                  <a:lnTo>
                    <a:pt x="0" y="21404"/>
                  </a:lnTo>
                  <a:lnTo>
                    <a:pt x="2905" y="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10246" name="Rectangle 39"/>
          <p:cNvSpPr>
            <a:spLocks noChangeArrowheads="1"/>
          </p:cNvSpPr>
          <p:nvPr/>
        </p:nvSpPr>
        <p:spPr bwMode="auto">
          <a:xfrm>
            <a:off x="6019800" y="1600200"/>
            <a:ext cx="3124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400">
                <a:latin typeface="Comic Sans MS" pitchFamily="66" charset="0"/>
              </a:rPr>
              <a:t>NETWORK MODEL </a:t>
            </a:r>
          </a:p>
        </p:txBody>
      </p:sp>
      <p:sp>
        <p:nvSpPr>
          <p:cNvPr id="2" name="Slide Number Placeholder 1"/>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p14="http://schemas.microsoft.com/office/powerpoint/2010/main" val="127014602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ctrTitle"/>
          </p:nvPr>
        </p:nvSpPr>
        <p:spPr>
          <a:xfrm>
            <a:off x="762000" y="0"/>
            <a:ext cx="7467600" cy="914400"/>
          </a:xfrm>
        </p:spPr>
        <p:txBody>
          <a:bodyPr/>
          <a:lstStyle/>
          <a:p>
            <a:pPr eaLnBrk="1" hangingPunct="1">
              <a:defRPr/>
            </a:pPr>
            <a:r>
              <a:rPr lang="en-US" smtClean="0">
                <a:solidFill>
                  <a:srgbClr val="FF0000"/>
                </a:solidFill>
              </a:rPr>
              <a:t>DATA MODELS</a:t>
            </a:r>
          </a:p>
        </p:txBody>
      </p:sp>
      <p:sp>
        <p:nvSpPr>
          <p:cNvPr id="12291" name="Text Box 3"/>
          <p:cNvSpPr txBox="1">
            <a:spLocks noChangeArrowheads="1"/>
          </p:cNvSpPr>
          <p:nvPr/>
        </p:nvSpPr>
        <p:spPr bwMode="auto">
          <a:xfrm>
            <a:off x="838200" y="1447800"/>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sz="2400">
              <a:latin typeface="Times New Roman" charset="0"/>
            </a:endParaRPr>
          </a:p>
        </p:txBody>
      </p:sp>
      <p:sp>
        <p:nvSpPr>
          <p:cNvPr id="12292" name="Text Box 4"/>
          <p:cNvSpPr txBox="1">
            <a:spLocks noChangeArrowheads="1"/>
          </p:cNvSpPr>
          <p:nvPr/>
        </p:nvSpPr>
        <p:spPr bwMode="auto">
          <a:xfrm>
            <a:off x="533400" y="1385888"/>
            <a:ext cx="8001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800" b="1" i="1">
                <a:latin typeface="Times New Roman" charset="0"/>
              </a:rPr>
              <a:t>Hierarchial DBMS</a:t>
            </a:r>
          </a:p>
        </p:txBody>
      </p:sp>
      <p:sp>
        <p:nvSpPr>
          <p:cNvPr id="12293" name="Text Box 5"/>
          <p:cNvSpPr txBox="1">
            <a:spLocks noChangeArrowheads="1"/>
          </p:cNvSpPr>
          <p:nvPr/>
        </p:nvSpPr>
        <p:spPr bwMode="auto">
          <a:xfrm>
            <a:off x="609600" y="2362200"/>
            <a:ext cx="77724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buFontTx/>
              <a:buChar char="•"/>
            </a:pPr>
            <a:r>
              <a:rPr lang="en-US" sz="2400">
                <a:latin typeface="Times New Roman" charset="0"/>
              </a:rPr>
              <a:t>Understands relations in the form of one to many data connections made by you at the time of data definition</a:t>
            </a:r>
          </a:p>
          <a:p>
            <a:pPr>
              <a:spcBef>
                <a:spcPct val="50000"/>
              </a:spcBef>
              <a:buFontTx/>
              <a:buChar char="•"/>
            </a:pPr>
            <a:r>
              <a:rPr lang="en-US" sz="2400">
                <a:latin typeface="Times New Roman" charset="0"/>
              </a:rPr>
              <a:t>It is like a tree structure</a:t>
            </a:r>
          </a:p>
          <a:p>
            <a:pPr>
              <a:spcBef>
                <a:spcPct val="50000"/>
              </a:spcBef>
              <a:buFontTx/>
              <a:buChar char="•"/>
            </a:pPr>
            <a:r>
              <a:rPr lang="en-US" sz="2400">
                <a:latin typeface="Times New Roman" charset="0"/>
              </a:rPr>
              <a:t>Explores from a parent to one or more children </a:t>
            </a:r>
          </a:p>
        </p:txBody>
      </p:sp>
      <p:sp>
        <p:nvSpPr>
          <p:cNvPr id="2" name="Slide Number Placeholder 1"/>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3475509080"/>
      </p:ext>
    </p:extLst>
  </p:cSld>
  <p:clrMapOvr>
    <a:masterClrMapping/>
  </p:clrMapOvr>
  <p:transition>
    <p:cover dir="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6" name="Group 4"/>
          <p:cNvGrpSpPr>
            <a:grpSpLocks/>
          </p:cNvGrpSpPr>
          <p:nvPr/>
        </p:nvGrpSpPr>
        <p:grpSpPr bwMode="auto">
          <a:xfrm>
            <a:off x="914400" y="1905000"/>
            <a:ext cx="7045325" cy="3276600"/>
            <a:chOff x="2204" y="3264"/>
            <a:chExt cx="3196" cy="912"/>
          </a:xfrm>
        </p:grpSpPr>
        <p:grpSp>
          <p:nvGrpSpPr>
            <p:cNvPr id="11268" name="Group 5"/>
            <p:cNvGrpSpPr>
              <a:grpSpLocks/>
            </p:cNvGrpSpPr>
            <p:nvPr/>
          </p:nvGrpSpPr>
          <p:grpSpPr bwMode="auto">
            <a:xfrm>
              <a:off x="2592" y="3360"/>
              <a:ext cx="2304" cy="816"/>
              <a:chOff x="1824" y="3312"/>
              <a:chExt cx="2208" cy="672"/>
            </a:xfrm>
          </p:grpSpPr>
          <p:sp>
            <p:nvSpPr>
              <p:cNvPr id="11273" name="Rectangle 6"/>
              <p:cNvSpPr>
                <a:spLocks noChangeArrowheads="1"/>
              </p:cNvSpPr>
              <p:nvPr/>
            </p:nvSpPr>
            <p:spPr bwMode="auto">
              <a:xfrm>
                <a:off x="2016" y="3456"/>
                <a:ext cx="1776" cy="5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74" name="Line 7"/>
              <p:cNvSpPr>
                <a:spLocks noChangeShapeType="1"/>
              </p:cNvSpPr>
              <p:nvPr/>
            </p:nvSpPr>
            <p:spPr bwMode="auto">
              <a:xfrm>
                <a:off x="2016" y="3792"/>
                <a:ext cx="17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75" name="Line 8"/>
              <p:cNvSpPr>
                <a:spLocks noChangeShapeType="1"/>
              </p:cNvSpPr>
              <p:nvPr/>
            </p:nvSpPr>
            <p:spPr bwMode="auto">
              <a:xfrm>
                <a:off x="2352" y="3456"/>
                <a:ext cx="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76" name="Line 9"/>
              <p:cNvSpPr>
                <a:spLocks noChangeShapeType="1"/>
              </p:cNvSpPr>
              <p:nvPr/>
            </p:nvSpPr>
            <p:spPr bwMode="auto">
              <a:xfrm>
                <a:off x="2832" y="3456"/>
                <a:ext cx="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77" name="Line 10"/>
              <p:cNvSpPr>
                <a:spLocks noChangeShapeType="1"/>
              </p:cNvSpPr>
              <p:nvPr/>
            </p:nvSpPr>
            <p:spPr bwMode="auto">
              <a:xfrm>
                <a:off x="3216" y="3456"/>
                <a:ext cx="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78" name="Line 11"/>
              <p:cNvSpPr>
                <a:spLocks noChangeShapeType="1"/>
              </p:cNvSpPr>
              <p:nvPr/>
            </p:nvSpPr>
            <p:spPr bwMode="auto">
              <a:xfrm>
                <a:off x="2016" y="3600"/>
                <a:ext cx="17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79" name="Line 12"/>
              <p:cNvSpPr>
                <a:spLocks noChangeShapeType="1"/>
              </p:cNvSpPr>
              <p:nvPr/>
            </p:nvSpPr>
            <p:spPr bwMode="auto">
              <a:xfrm>
                <a:off x="3840" y="3504"/>
                <a:ext cx="192"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80" name="Line 13"/>
              <p:cNvSpPr>
                <a:spLocks noChangeShapeType="1"/>
              </p:cNvSpPr>
              <p:nvPr/>
            </p:nvSpPr>
            <p:spPr bwMode="auto">
              <a:xfrm>
                <a:off x="4032" y="3504"/>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81" name="Line 14"/>
              <p:cNvSpPr>
                <a:spLocks noChangeShapeType="1"/>
              </p:cNvSpPr>
              <p:nvPr/>
            </p:nvSpPr>
            <p:spPr bwMode="auto">
              <a:xfrm flipH="1">
                <a:off x="3840" y="3840"/>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82" name="Line 15"/>
              <p:cNvSpPr>
                <a:spLocks noChangeShapeType="1"/>
              </p:cNvSpPr>
              <p:nvPr/>
            </p:nvSpPr>
            <p:spPr bwMode="auto">
              <a:xfrm>
                <a:off x="3176" y="3312"/>
                <a:ext cx="2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83" name="Line 16"/>
              <p:cNvSpPr>
                <a:spLocks noChangeShapeType="1"/>
              </p:cNvSpPr>
              <p:nvPr/>
            </p:nvSpPr>
            <p:spPr bwMode="auto">
              <a:xfrm>
                <a:off x="3396" y="3312"/>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84" name="Line 17"/>
              <p:cNvSpPr>
                <a:spLocks noChangeShapeType="1"/>
              </p:cNvSpPr>
              <p:nvPr/>
            </p:nvSpPr>
            <p:spPr bwMode="auto">
              <a:xfrm>
                <a:off x="1824" y="3696"/>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11269" name="Rectangle 18"/>
            <p:cNvSpPr>
              <a:spLocks noChangeArrowheads="1"/>
            </p:cNvSpPr>
            <p:nvPr/>
          </p:nvSpPr>
          <p:spPr bwMode="auto">
            <a:xfrm>
              <a:off x="5094" y="3696"/>
              <a:ext cx="306" cy="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200">
                  <a:latin typeface="Times New Roman" charset="0"/>
                </a:rPr>
                <a:t>TABLE</a:t>
              </a:r>
            </a:p>
          </p:txBody>
        </p:sp>
        <p:sp>
          <p:nvSpPr>
            <p:cNvPr id="11270" name="Rectangle 19"/>
            <p:cNvSpPr>
              <a:spLocks noChangeArrowheads="1"/>
            </p:cNvSpPr>
            <p:nvPr/>
          </p:nvSpPr>
          <p:spPr bwMode="auto">
            <a:xfrm>
              <a:off x="2204" y="3744"/>
              <a:ext cx="245" cy="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200">
                  <a:latin typeface="Times New Roman" charset="0"/>
                </a:rPr>
                <a:t>ROW</a:t>
              </a:r>
            </a:p>
          </p:txBody>
        </p:sp>
        <p:sp>
          <p:nvSpPr>
            <p:cNvPr id="11271" name="Rectangle 20"/>
            <p:cNvSpPr>
              <a:spLocks noChangeArrowheads="1"/>
            </p:cNvSpPr>
            <p:nvPr/>
          </p:nvSpPr>
          <p:spPr bwMode="auto">
            <a:xfrm>
              <a:off x="3453" y="3264"/>
              <a:ext cx="383" cy="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200">
                  <a:latin typeface="Times New Roman" charset="0"/>
                </a:rPr>
                <a:t>COLUMN</a:t>
              </a:r>
            </a:p>
          </p:txBody>
        </p:sp>
        <p:sp>
          <p:nvSpPr>
            <p:cNvPr id="11272" name="Rectangle 21"/>
            <p:cNvSpPr>
              <a:spLocks noChangeArrowheads="1"/>
            </p:cNvSpPr>
            <p:nvPr/>
          </p:nvSpPr>
          <p:spPr bwMode="auto">
            <a:xfrm>
              <a:off x="3216" y="3763"/>
              <a:ext cx="317" cy="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200">
                  <a:latin typeface="Times New Roman" charset="0"/>
                </a:rPr>
                <a:t>VALUE</a:t>
              </a:r>
            </a:p>
          </p:txBody>
        </p:sp>
      </p:grpSp>
      <p:sp>
        <p:nvSpPr>
          <p:cNvPr id="11267" name="Rectangle 22"/>
          <p:cNvSpPr>
            <a:spLocks noChangeArrowheads="1"/>
          </p:cNvSpPr>
          <p:nvPr/>
        </p:nvSpPr>
        <p:spPr bwMode="auto">
          <a:xfrm>
            <a:off x="1676400" y="838200"/>
            <a:ext cx="670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400">
                <a:latin typeface="Comic Sans MS" pitchFamily="66" charset="0"/>
                <a:hlinkClick r:id="" action="ppaction://noaction">
                  <a:snd r:embed="rId2" name="camera.wav"/>
                </a:hlinkClick>
              </a:rPr>
              <a:t>RELATIONAL</a:t>
            </a:r>
            <a:r>
              <a:rPr lang="en-US" sz="2400">
                <a:latin typeface="Comic Sans MS" pitchFamily="66" charset="0"/>
              </a:rPr>
              <a:t> MODEL</a:t>
            </a:r>
          </a:p>
        </p:txBody>
      </p:sp>
      <p:sp>
        <p:nvSpPr>
          <p:cNvPr id="2" name="Slide Number Placeholder 1"/>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398271012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Relation Example</a:t>
            </a:r>
            <a:endParaRPr lang="en-IN" dirty="0"/>
          </a:p>
        </p:txBody>
      </p:sp>
      <p:sp>
        <p:nvSpPr>
          <p:cNvPr id="3" name="Content Placeholder 2"/>
          <p:cNvSpPr>
            <a:spLocks noGrp="1"/>
          </p:cNvSpPr>
          <p:nvPr>
            <p:ph idx="1"/>
          </p:nvPr>
        </p:nvSpPr>
        <p:spPr/>
        <p:txBody>
          <a:bodyPr>
            <a:normAutofit fontScale="85000" lnSpcReduction="10000"/>
          </a:bodyPr>
          <a:lstStyle/>
          <a:p>
            <a:r>
              <a:rPr lang="en-IN" dirty="0" smtClean="0">
                <a:solidFill>
                  <a:srgbClr val="FF0000"/>
                </a:solidFill>
              </a:rPr>
              <a:t>Relational Database Management Systems (RDBMS</a:t>
            </a:r>
            <a:r>
              <a:rPr lang="en-IN" dirty="0" smtClean="0"/>
              <a:t>)</a:t>
            </a:r>
          </a:p>
          <a:p>
            <a:r>
              <a:rPr lang="en-IN" dirty="0" err="1" smtClean="0"/>
              <a:t>Rollno</a:t>
            </a:r>
            <a:r>
              <a:rPr lang="en-IN" dirty="0" smtClean="0"/>
              <a:t> = { 1, 2, 3}</a:t>
            </a:r>
          </a:p>
          <a:p>
            <a:r>
              <a:rPr lang="en-IN" dirty="0" smtClean="0"/>
              <a:t>Names = { A, B, C}</a:t>
            </a:r>
          </a:p>
          <a:p>
            <a:r>
              <a:rPr lang="en-IN" dirty="0" smtClean="0"/>
              <a:t>Cartesian product – The set of all ordered pairs.</a:t>
            </a:r>
          </a:p>
          <a:p>
            <a:r>
              <a:rPr lang="en-IN" dirty="0" smtClean="0"/>
              <a:t>R= </a:t>
            </a:r>
            <a:r>
              <a:rPr lang="en-IN" dirty="0" err="1" smtClean="0"/>
              <a:t>Rollno</a:t>
            </a:r>
            <a:r>
              <a:rPr lang="en-IN" dirty="0" smtClean="0"/>
              <a:t> x Names = { (1,A), (1,B), (1,C), (2,A), (2,B), (2,C), (3,A), (3,B), (3,C) }</a:t>
            </a:r>
          </a:p>
          <a:p>
            <a:r>
              <a:rPr lang="en-IN" dirty="0" smtClean="0"/>
              <a:t>Relations : Subset of Cartesian Product.</a:t>
            </a:r>
          </a:p>
          <a:p>
            <a:r>
              <a:rPr lang="en-IN" dirty="0" err="1" smtClean="0"/>
              <a:t>Eg</a:t>
            </a:r>
            <a:r>
              <a:rPr lang="en-IN" dirty="0" smtClean="0"/>
              <a:t>: R1= { (1,A), (2,B)} is a subset of R.</a:t>
            </a:r>
          </a:p>
          <a:p>
            <a:r>
              <a:rPr lang="en-IN" dirty="0" smtClean="0"/>
              <a:t>Student = { (1,A), (2,B), (3,C) } is another subset of R</a:t>
            </a:r>
          </a:p>
          <a:p>
            <a:r>
              <a:rPr lang="en-IN" dirty="0" smtClean="0"/>
              <a:t>R2  = { (1,B), (1,C), (2,A), (2,B), (3,A), (3,C) }</a:t>
            </a: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41954437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Relations</a:t>
            </a:r>
            <a:endParaRPr lang="en-IN" dirty="0"/>
          </a:p>
        </p:txBody>
      </p:sp>
      <p:sp>
        <p:nvSpPr>
          <p:cNvPr id="3" name="Content Placeholder 2"/>
          <p:cNvSpPr>
            <a:spLocks noGrp="1"/>
          </p:cNvSpPr>
          <p:nvPr>
            <p:ph idx="1"/>
          </p:nvPr>
        </p:nvSpPr>
        <p:spPr/>
        <p:txBody>
          <a:bodyPr>
            <a:normAutofit fontScale="40000" lnSpcReduction="20000"/>
          </a:bodyPr>
          <a:lstStyle/>
          <a:p>
            <a:r>
              <a:rPr lang="en-IN" sz="4200" dirty="0" smtClean="0"/>
              <a:t>Relations can be represented in the form Tables.</a:t>
            </a:r>
          </a:p>
          <a:p>
            <a:pPr marL="0" indent="0">
              <a:buNone/>
            </a:pPr>
            <a:r>
              <a:rPr lang="en-IN" sz="4200" dirty="0" smtClean="0"/>
              <a:t>              Table Name : Student </a:t>
            </a:r>
          </a:p>
          <a:p>
            <a:endParaRPr lang="en-IN" dirty="0"/>
          </a:p>
          <a:p>
            <a:endParaRPr lang="en-IN" dirty="0" smtClean="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sz="5100" dirty="0" smtClean="0"/>
          </a:p>
          <a:p>
            <a:r>
              <a:rPr lang="en-IN" sz="5100" dirty="0" smtClean="0"/>
              <a:t>The Schema for this relation is:</a:t>
            </a:r>
          </a:p>
          <a:p>
            <a:pPr marL="0" indent="0">
              <a:buNone/>
            </a:pPr>
            <a:r>
              <a:rPr lang="en-IN" sz="5100" dirty="0" smtClean="0"/>
              <a:t>   Student(</a:t>
            </a:r>
            <a:r>
              <a:rPr lang="en-IN" sz="5100" dirty="0" err="1" smtClean="0"/>
              <a:t>Rollno</a:t>
            </a:r>
            <a:r>
              <a:rPr lang="en-IN" sz="5100" dirty="0" smtClean="0"/>
              <a:t>, Name)</a:t>
            </a:r>
          </a:p>
          <a:p>
            <a:pPr marL="0" indent="0">
              <a:buNone/>
            </a:pPr>
            <a:r>
              <a:rPr lang="en-IN" sz="5100" dirty="0"/>
              <a:t> </a:t>
            </a:r>
            <a:r>
              <a:rPr lang="en-IN" sz="5100" dirty="0" smtClean="0"/>
              <a:t>  Here, student is the Table name  ;</a:t>
            </a:r>
          </a:p>
          <a:p>
            <a:pPr marL="0" indent="0">
              <a:buNone/>
            </a:pPr>
            <a:r>
              <a:rPr lang="en-IN" sz="5100" dirty="0"/>
              <a:t> </a:t>
            </a:r>
            <a:r>
              <a:rPr lang="en-IN" sz="5100" dirty="0" smtClean="0"/>
              <a:t>  </a:t>
            </a:r>
            <a:r>
              <a:rPr lang="en-IN" sz="5100" dirty="0" err="1" smtClean="0"/>
              <a:t>Rollno</a:t>
            </a:r>
            <a:r>
              <a:rPr lang="en-IN" sz="5100" dirty="0" smtClean="0"/>
              <a:t> and Name are the Attribute Names.</a:t>
            </a:r>
          </a:p>
          <a:p>
            <a:endParaRPr lang="en-IN" sz="5100" dirty="0"/>
          </a:p>
          <a:p>
            <a:endParaRPr lang="en-IN" sz="51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209568894"/>
              </p:ext>
            </p:extLst>
          </p:nvPr>
        </p:nvGraphicFramePr>
        <p:xfrm>
          <a:off x="1752600" y="2407920"/>
          <a:ext cx="6096000" cy="2087880"/>
        </p:xfrm>
        <a:graphic>
          <a:graphicData uri="http://schemas.openxmlformats.org/drawingml/2006/table">
            <a:tbl>
              <a:tblPr firstRow="1" bandRow="1">
                <a:tableStyleId>{5C22544A-7EE6-4342-B048-85BDC9FD1C3A}</a:tableStyleId>
              </a:tblPr>
              <a:tblGrid>
                <a:gridCol w="3048000"/>
                <a:gridCol w="3048000"/>
              </a:tblGrid>
              <a:tr h="980440">
                <a:tc>
                  <a:txBody>
                    <a:bodyPr/>
                    <a:lstStyle/>
                    <a:p>
                      <a:r>
                        <a:rPr lang="en-IN" dirty="0" smtClean="0"/>
                        <a:t>    </a:t>
                      </a:r>
                      <a:r>
                        <a:rPr lang="en-IN" baseline="0" dirty="0" smtClean="0"/>
                        <a:t>           </a:t>
                      </a:r>
                      <a:r>
                        <a:rPr lang="en-IN" baseline="0" dirty="0" err="1" smtClean="0"/>
                        <a:t>Rollno</a:t>
                      </a:r>
                      <a:endParaRPr lang="en-IN" dirty="0"/>
                    </a:p>
                  </a:txBody>
                  <a:tcPr/>
                </a:tc>
                <a:tc>
                  <a:txBody>
                    <a:bodyPr/>
                    <a:lstStyle/>
                    <a:p>
                      <a:r>
                        <a:rPr lang="en-IN" dirty="0" smtClean="0"/>
                        <a:t>                 Name</a:t>
                      </a:r>
                      <a:endParaRPr lang="en-IN" dirty="0"/>
                    </a:p>
                  </a:txBody>
                  <a:tcPr/>
                </a:tc>
              </a:tr>
              <a:tr h="370840">
                <a:tc>
                  <a:txBody>
                    <a:bodyPr/>
                    <a:lstStyle/>
                    <a:p>
                      <a:r>
                        <a:rPr lang="en-IN" dirty="0" smtClean="0"/>
                        <a:t>                  1</a:t>
                      </a:r>
                      <a:endParaRPr lang="en-IN" dirty="0"/>
                    </a:p>
                  </a:txBody>
                  <a:tcPr/>
                </a:tc>
                <a:tc>
                  <a:txBody>
                    <a:bodyPr/>
                    <a:lstStyle/>
                    <a:p>
                      <a:r>
                        <a:rPr lang="en-IN" dirty="0" smtClean="0"/>
                        <a:t>                  A</a:t>
                      </a:r>
                      <a:endParaRPr lang="en-IN" dirty="0"/>
                    </a:p>
                  </a:txBody>
                  <a:tcPr/>
                </a:tc>
              </a:tr>
              <a:tr h="370840">
                <a:tc>
                  <a:txBody>
                    <a:bodyPr/>
                    <a:lstStyle/>
                    <a:p>
                      <a:r>
                        <a:rPr lang="en-IN" dirty="0" smtClean="0"/>
                        <a:t>                   2                                                       </a:t>
                      </a:r>
                      <a:endParaRPr lang="en-IN" dirty="0"/>
                    </a:p>
                  </a:txBody>
                  <a:tcPr/>
                </a:tc>
                <a:tc>
                  <a:txBody>
                    <a:bodyPr/>
                    <a:lstStyle/>
                    <a:p>
                      <a:r>
                        <a:rPr lang="en-IN" dirty="0" smtClean="0"/>
                        <a:t>                   B</a:t>
                      </a:r>
                      <a:endParaRPr lang="en-IN" dirty="0"/>
                    </a:p>
                  </a:txBody>
                  <a:tcPr/>
                </a:tc>
              </a:tr>
              <a:tr h="137160">
                <a:tc>
                  <a:txBody>
                    <a:bodyPr/>
                    <a:lstStyle/>
                    <a:p>
                      <a:r>
                        <a:rPr lang="en-IN" dirty="0" smtClean="0"/>
                        <a:t>                   3</a:t>
                      </a:r>
                      <a:r>
                        <a:rPr lang="en-IN" baseline="0" dirty="0" smtClean="0"/>
                        <a:t>    </a:t>
                      </a:r>
                      <a:endParaRPr lang="en-IN" dirty="0"/>
                    </a:p>
                  </a:txBody>
                  <a:tcPr/>
                </a:tc>
                <a:tc>
                  <a:txBody>
                    <a:bodyPr/>
                    <a:lstStyle/>
                    <a:p>
                      <a:r>
                        <a:rPr lang="en-IN" dirty="0" smtClean="0"/>
                        <a:t>                   C</a:t>
                      </a:r>
                      <a:endParaRPr lang="en-IN" dirty="0"/>
                    </a:p>
                  </a:txBody>
                  <a:tcPr/>
                </a:tc>
              </a:tr>
            </a:tbl>
          </a:graphicData>
        </a:graphic>
      </p:graphicFrame>
    </p:spTree>
    <p:extLst>
      <p:ext uri="{BB962C8B-B14F-4D97-AF65-F5344CB8AC3E}">
        <p14:creationId xmlns:p14="http://schemas.microsoft.com/office/powerpoint/2010/main" val="271217307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Relational Model</a:t>
            </a:r>
            <a:endParaRPr lang="en-IN" dirty="0"/>
          </a:p>
        </p:txBody>
      </p:sp>
      <p:sp>
        <p:nvSpPr>
          <p:cNvPr id="3" name="Content Placeholder 2"/>
          <p:cNvSpPr>
            <a:spLocks noGrp="1"/>
          </p:cNvSpPr>
          <p:nvPr>
            <p:ph idx="1"/>
          </p:nvPr>
        </p:nvSpPr>
        <p:spPr/>
        <p:txBody>
          <a:bodyPr>
            <a:normAutofit fontScale="92500" lnSpcReduction="10000"/>
          </a:bodyPr>
          <a:lstStyle/>
          <a:p>
            <a:r>
              <a:rPr lang="en-IN" dirty="0" smtClean="0"/>
              <a:t>Data are stored in the form of tables</a:t>
            </a:r>
          </a:p>
          <a:p>
            <a:r>
              <a:rPr lang="en-IN" dirty="0" smtClean="0"/>
              <a:t>Rows can be in any order</a:t>
            </a:r>
          </a:p>
          <a:p>
            <a:r>
              <a:rPr lang="en-IN" dirty="0" smtClean="0"/>
              <a:t>Columns can be in any order</a:t>
            </a:r>
          </a:p>
          <a:p>
            <a:r>
              <a:rPr lang="en-IN" dirty="0" smtClean="0"/>
              <a:t>No two rows are equal</a:t>
            </a:r>
          </a:p>
          <a:p>
            <a:r>
              <a:rPr lang="en-IN" dirty="0" smtClean="0"/>
              <a:t>No two columns are equal</a:t>
            </a:r>
          </a:p>
          <a:p>
            <a:r>
              <a:rPr lang="en-IN" dirty="0"/>
              <a:t>Let A and B be any two sets. Then a relation R can be defined as a subset of A x  B.( A cross B).</a:t>
            </a:r>
          </a:p>
          <a:p>
            <a:r>
              <a:rPr lang="en-IN" dirty="0"/>
              <a:t>Therefore, a relation is nothing but a subset of the Cartesian Product.</a:t>
            </a:r>
          </a:p>
          <a:p>
            <a:endParaRPr lang="en-IN" dirty="0" smtClean="0"/>
          </a:p>
          <a:p>
            <a:pPr marL="0" indent="0">
              <a:buNone/>
            </a:pP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p14="http://schemas.microsoft.com/office/powerpoint/2010/main" val="28495669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Relational Model</a:t>
            </a:r>
          </a:p>
        </p:txBody>
      </p:sp>
      <p:sp>
        <p:nvSpPr>
          <p:cNvPr id="3" name="Content Placeholder 2"/>
          <p:cNvSpPr>
            <a:spLocks noGrp="1"/>
          </p:cNvSpPr>
          <p:nvPr>
            <p:ph idx="1"/>
          </p:nvPr>
        </p:nvSpPr>
        <p:spPr/>
        <p:txBody>
          <a:bodyPr>
            <a:normAutofit/>
          </a:bodyPr>
          <a:lstStyle/>
          <a:p>
            <a:r>
              <a:rPr lang="en-IN" dirty="0" smtClean="0"/>
              <a:t>Table </a:t>
            </a:r>
            <a:r>
              <a:rPr lang="en-IN" dirty="0"/>
              <a:t>name is called as relation.</a:t>
            </a:r>
          </a:p>
          <a:p>
            <a:r>
              <a:rPr lang="en-IN" dirty="0"/>
              <a:t>Rows are called Tuples</a:t>
            </a:r>
          </a:p>
          <a:p>
            <a:r>
              <a:rPr lang="en-IN" dirty="0"/>
              <a:t>Columns are called as Attributes</a:t>
            </a:r>
          </a:p>
          <a:p>
            <a:r>
              <a:rPr lang="en-IN" dirty="0"/>
              <a:t>There must be a primary key formed from one or more attributes.</a:t>
            </a:r>
          </a:p>
          <a:p>
            <a:r>
              <a:rPr lang="en-IN" dirty="0"/>
              <a:t>The data sub language must be based on Relational Algebra or Relational Calculus. </a:t>
            </a:r>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p14="http://schemas.microsoft.com/office/powerpoint/2010/main" val="193308042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ctrTitle"/>
          </p:nvPr>
        </p:nvSpPr>
        <p:spPr>
          <a:xfrm>
            <a:off x="2514600" y="0"/>
            <a:ext cx="4114800" cy="914400"/>
          </a:xfrm>
        </p:spPr>
        <p:txBody>
          <a:bodyPr>
            <a:normAutofit fontScale="90000"/>
          </a:bodyPr>
          <a:lstStyle/>
          <a:p>
            <a:pPr eaLnBrk="1" hangingPunct="1">
              <a:defRPr/>
            </a:pPr>
            <a:r>
              <a:rPr lang="en-US" sz="7200" b="1" smtClean="0">
                <a:solidFill>
                  <a:srgbClr val="FF0000"/>
                </a:solidFill>
              </a:rPr>
              <a:t>RDBMS</a:t>
            </a:r>
            <a:r>
              <a:rPr lang="en-US" smtClean="0">
                <a:solidFill>
                  <a:srgbClr val="FF0000"/>
                </a:solidFill>
              </a:rPr>
              <a:t> </a:t>
            </a:r>
          </a:p>
        </p:txBody>
      </p:sp>
      <p:sp>
        <p:nvSpPr>
          <p:cNvPr id="28675" name="Text Box 3"/>
          <p:cNvSpPr txBox="1">
            <a:spLocks noChangeArrowheads="1"/>
          </p:cNvSpPr>
          <p:nvPr/>
        </p:nvSpPr>
        <p:spPr bwMode="auto">
          <a:xfrm>
            <a:off x="838200" y="1447800"/>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sz="2400">
              <a:latin typeface="Times New Roman" charset="0"/>
            </a:endParaRPr>
          </a:p>
        </p:txBody>
      </p:sp>
      <p:sp>
        <p:nvSpPr>
          <p:cNvPr id="28676" name="Text Box 4"/>
          <p:cNvSpPr txBox="1">
            <a:spLocks noChangeArrowheads="1"/>
          </p:cNvSpPr>
          <p:nvPr/>
        </p:nvSpPr>
        <p:spPr bwMode="auto">
          <a:xfrm>
            <a:off x="533400" y="1385888"/>
            <a:ext cx="8001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800" b="1" i="1" dirty="0">
                <a:latin typeface="Times New Roman" charset="0"/>
              </a:rPr>
              <a:t>CODD’s 12 Rules					Rule 1</a:t>
            </a:r>
          </a:p>
        </p:txBody>
      </p:sp>
      <p:sp>
        <p:nvSpPr>
          <p:cNvPr id="28677" name="Text Box 5"/>
          <p:cNvSpPr txBox="1">
            <a:spLocks noChangeArrowheads="1"/>
          </p:cNvSpPr>
          <p:nvPr/>
        </p:nvSpPr>
        <p:spPr bwMode="auto">
          <a:xfrm>
            <a:off x="685800" y="2362200"/>
            <a:ext cx="473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28678" name="Text Box 6"/>
          <p:cNvSpPr txBox="1">
            <a:spLocks noChangeArrowheads="1"/>
          </p:cNvSpPr>
          <p:nvPr/>
        </p:nvSpPr>
        <p:spPr bwMode="auto">
          <a:xfrm>
            <a:off x="4594225" y="3886200"/>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28679" name="Text Box 7"/>
          <p:cNvSpPr txBox="1">
            <a:spLocks noChangeArrowheads="1"/>
          </p:cNvSpPr>
          <p:nvPr/>
        </p:nvSpPr>
        <p:spPr bwMode="auto">
          <a:xfrm>
            <a:off x="609600" y="1919000"/>
            <a:ext cx="7924800" cy="3046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400" b="1" u="sng" dirty="0">
                <a:latin typeface="Times New Roman" charset="0"/>
              </a:rPr>
              <a:t>Information Rule</a:t>
            </a:r>
          </a:p>
          <a:p>
            <a:pPr>
              <a:spcBef>
                <a:spcPct val="50000"/>
              </a:spcBef>
            </a:pPr>
            <a:r>
              <a:rPr lang="en-US" sz="2400" dirty="0">
                <a:latin typeface="Times New Roman" charset="0"/>
              </a:rPr>
              <a:t>All Information in a relational database including table names, column names are represented explicitly by values in tables.</a:t>
            </a:r>
          </a:p>
          <a:p>
            <a:pPr>
              <a:spcBef>
                <a:spcPct val="50000"/>
              </a:spcBef>
            </a:pPr>
            <a:r>
              <a:rPr lang="en-US" sz="2400" dirty="0">
                <a:latin typeface="Times New Roman" charset="0"/>
              </a:rPr>
              <a:t>Knowledge of only one language is necessary to access all </a:t>
            </a:r>
            <a:r>
              <a:rPr lang="en-US" sz="2400" dirty="0" smtClean="0">
                <a:latin typeface="Times New Roman" charset="0"/>
              </a:rPr>
              <a:t>data</a:t>
            </a:r>
          </a:p>
          <a:p>
            <a:pPr>
              <a:spcBef>
                <a:spcPct val="50000"/>
              </a:spcBef>
            </a:pPr>
            <a:r>
              <a:rPr lang="en-US" sz="2400" b="1" u="sng" dirty="0" err="1" smtClean="0">
                <a:latin typeface="Times New Roman" charset="0"/>
              </a:rPr>
              <a:t>Dr.E.F.CODD</a:t>
            </a:r>
            <a:endParaRPr lang="en-US" sz="2400" b="1" u="sng" dirty="0">
              <a:latin typeface="Times New Roman" charset="0"/>
            </a:endParaRPr>
          </a:p>
          <a:p>
            <a:pPr>
              <a:spcBef>
                <a:spcPct val="50000"/>
              </a:spcBef>
            </a:pPr>
            <a:endParaRPr lang="en-US" sz="2400" dirty="0">
              <a:latin typeface="Times New Roman" charset="0"/>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p14="http://schemas.microsoft.com/office/powerpoint/2010/main" val="2086334497"/>
      </p:ext>
    </p:extLst>
  </p:cSld>
  <p:clrMapOvr>
    <a:masterClrMapping/>
  </p:clrMapOvr>
  <p:transition>
    <p:cover dir="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ctrTitle"/>
          </p:nvPr>
        </p:nvSpPr>
        <p:spPr>
          <a:xfrm>
            <a:off x="2514600" y="0"/>
            <a:ext cx="4114800" cy="914400"/>
          </a:xfrm>
        </p:spPr>
        <p:txBody>
          <a:bodyPr>
            <a:normAutofit fontScale="90000"/>
          </a:bodyPr>
          <a:lstStyle/>
          <a:p>
            <a:pPr eaLnBrk="1" hangingPunct="1">
              <a:defRPr/>
            </a:pPr>
            <a:r>
              <a:rPr lang="en-US" sz="7200" b="1" smtClean="0">
                <a:solidFill>
                  <a:srgbClr val="FF0000"/>
                </a:solidFill>
              </a:rPr>
              <a:t>RDBMS</a:t>
            </a:r>
            <a:r>
              <a:rPr lang="en-US" smtClean="0">
                <a:solidFill>
                  <a:srgbClr val="FF0000"/>
                </a:solidFill>
              </a:rPr>
              <a:t> </a:t>
            </a:r>
          </a:p>
        </p:txBody>
      </p:sp>
      <p:sp>
        <p:nvSpPr>
          <p:cNvPr id="29699" name="Text Box 3"/>
          <p:cNvSpPr txBox="1">
            <a:spLocks noChangeArrowheads="1"/>
          </p:cNvSpPr>
          <p:nvPr/>
        </p:nvSpPr>
        <p:spPr bwMode="auto">
          <a:xfrm>
            <a:off x="838200" y="1447800"/>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sz="2400">
              <a:latin typeface="Times New Roman" charset="0"/>
            </a:endParaRPr>
          </a:p>
        </p:txBody>
      </p:sp>
      <p:sp>
        <p:nvSpPr>
          <p:cNvPr id="29700" name="Text Box 4"/>
          <p:cNvSpPr txBox="1">
            <a:spLocks noChangeArrowheads="1"/>
          </p:cNvSpPr>
          <p:nvPr/>
        </p:nvSpPr>
        <p:spPr bwMode="auto">
          <a:xfrm>
            <a:off x="533400" y="1385888"/>
            <a:ext cx="8001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800" b="1" i="1">
                <a:latin typeface="Times New Roman" charset="0"/>
              </a:rPr>
              <a:t>CODD’s 12 Rules					 Rule 2</a:t>
            </a:r>
          </a:p>
        </p:txBody>
      </p:sp>
      <p:sp>
        <p:nvSpPr>
          <p:cNvPr id="29701" name="Text Box 5"/>
          <p:cNvSpPr txBox="1">
            <a:spLocks noChangeArrowheads="1"/>
          </p:cNvSpPr>
          <p:nvPr/>
        </p:nvSpPr>
        <p:spPr bwMode="auto">
          <a:xfrm>
            <a:off x="685800" y="2362200"/>
            <a:ext cx="473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29702" name="Text Box 6"/>
          <p:cNvSpPr txBox="1">
            <a:spLocks noChangeArrowheads="1"/>
          </p:cNvSpPr>
          <p:nvPr/>
        </p:nvSpPr>
        <p:spPr bwMode="auto">
          <a:xfrm>
            <a:off x="4594225" y="3886200"/>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29703" name="Text Box 7"/>
          <p:cNvSpPr txBox="1">
            <a:spLocks noChangeArrowheads="1"/>
          </p:cNvSpPr>
          <p:nvPr/>
        </p:nvSpPr>
        <p:spPr bwMode="auto">
          <a:xfrm>
            <a:off x="609600" y="2362200"/>
            <a:ext cx="7924800" cy="2647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400" b="1" u="sng">
                <a:latin typeface="Times New Roman" charset="0"/>
              </a:rPr>
              <a:t>Guaranteed Access Rule</a:t>
            </a:r>
          </a:p>
          <a:p>
            <a:pPr>
              <a:spcBef>
                <a:spcPct val="50000"/>
              </a:spcBef>
            </a:pPr>
            <a:r>
              <a:rPr lang="en-US" sz="2400">
                <a:latin typeface="Times New Roman" charset="0"/>
              </a:rPr>
              <a:t>Every piece of data in the relational database, can be accessed by using a combination of a table name, a primary key value that identifies the row and a column name that identifies the cell. This will avoid using physical pointers.</a:t>
            </a:r>
            <a:endParaRPr lang="en-US" sz="2400" b="1" u="sng">
              <a:latin typeface="Times New Roman" charset="0"/>
            </a:endParaRPr>
          </a:p>
          <a:p>
            <a:pPr>
              <a:spcBef>
                <a:spcPct val="50000"/>
              </a:spcBef>
            </a:pPr>
            <a:endParaRPr lang="en-US" sz="2400">
              <a:latin typeface="Times New Roman" charset="0"/>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p14="http://schemas.microsoft.com/office/powerpoint/2010/main" val="2236938645"/>
      </p:ext>
    </p:extLst>
  </p:cSld>
  <p:clrMapOvr>
    <a:masterClrMapping/>
  </p:clrMapOvr>
  <p:transition>
    <p:cover dir="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ctrTitle"/>
          </p:nvPr>
        </p:nvSpPr>
        <p:spPr>
          <a:xfrm>
            <a:off x="2514600" y="0"/>
            <a:ext cx="4114800" cy="914400"/>
          </a:xfrm>
        </p:spPr>
        <p:txBody>
          <a:bodyPr>
            <a:normAutofit fontScale="90000"/>
          </a:bodyPr>
          <a:lstStyle/>
          <a:p>
            <a:pPr eaLnBrk="1" hangingPunct="1">
              <a:defRPr/>
            </a:pPr>
            <a:r>
              <a:rPr lang="en-US" sz="7200" b="1" smtClean="0">
                <a:solidFill>
                  <a:srgbClr val="FF0000"/>
                </a:solidFill>
              </a:rPr>
              <a:t>RDBMS</a:t>
            </a:r>
            <a:r>
              <a:rPr lang="en-US" smtClean="0">
                <a:solidFill>
                  <a:srgbClr val="FF0000"/>
                </a:solidFill>
              </a:rPr>
              <a:t> </a:t>
            </a:r>
          </a:p>
        </p:txBody>
      </p:sp>
      <p:sp>
        <p:nvSpPr>
          <p:cNvPr id="30723" name="Text Box 3"/>
          <p:cNvSpPr txBox="1">
            <a:spLocks noChangeArrowheads="1"/>
          </p:cNvSpPr>
          <p:nvPr/>
        </p:nvSpPr>
        <p:spPr bwMode="auto">
          <a:xfrm>
            <a:off x="838200" y="1447800"/>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sz="2400">
              <a:latin typeface="Times New Roman" charset="0"/>
            </a:endParaRPr>
          </a:p>
        </p:txBody>
      </p:sp>
      <p:sp>
        <p:nvSpPr>
          <p:cNvPr id="30724" name="Text Box 4"/>
          <p:cNvSpPr txBox="1">
            <a:spLocks noChangeArrowheads="1"/>
          </p:cNvSpPr>
          <p:nvPr/>
        </p:nvSpPr>
        <p:spPr bwMode="auto">
          <a:xfrm>
            <a:off x="533400" y="1385888"/>
            <a:ext cx="8001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800" b="1" i="1">
                <a:latin typeface="Times New Roman" charset="0"/>
              </a:rPr>
              <a:t>CODD’s 12 Rules					 Rule 3</a:t>
            </a:r>
          </a:p>
        </p:txBody>
      </p:sp>
      <p:sp>
        <p:nvSpPr>
          <p:cNvPr id="30725" name="Text Box 5"/>
          <p:cNvSpPr txBox="1">
            <a:spLocks noChangeArrowheads="1"/>
          </p:cNvSpPr>
          <p:nvPr/>
        </p:nvSpPr>
        <p:spPr bwMode="auto">
          <a:xfrm>
            <a:off x="685800" y="2362200"/>
            <a:ext cx="473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0726" name="Text Box 6"/>
          <p:cNvSpPr txBox="1">
            <a:spLocks noChangeArrowheads="1"/>
          </p:cNvSpPr>
          <p:nvPr/>
        </p:nvSpPr>
        <p:spPr bwMode="auto">
          <a:xfrm>
            <a:off x="4594225" y="3886200"/>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0727" name="Text Box 7"/>
          <p:cNvSpPr txBox="1">
            <a:spLocks noChangeArrowheads="1"/>
          </p:cNvSpPr>
          <p:nvPr/>
        </p:nvSpPr>
        <p:spPr bwMode="auto">
          <a:xfrm>
            <a:off x="609600" y="2362200"/>
            <a:ext cx="7924800" cy="2282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400" b="1" u="sng">
                <a:latin typeface="Times New Roman" charset="0"/>
              </a:rPr>
              <a:t>Systematic Treatment of Nulls Rule</a:t>
            </a:r>
          </a:p>
          <a:p>
            <a:pPr>
              <a:spcBef>
                <a:spcPct val="50000"/>
              </a:spcBef>
            </a:pPr>
            <a:r>
              <a:rPr lang="en-US" sz="2400">
                <a:latin typeface="Times New Roman" charset="0"/>
              </a:rPr>
              <a:t>The RDBMS handles records that have unknown values in a predefined fashion. RDBMS distinguishes between zeroes, blanks and nulls in records.</a:t>
            </a:r>
            <a:endParaRPr lang="en-US" sz="2400" b="1" u="sng">
              <a:latin typeface="Times New Roman" charset="0"/>
            </a:endParaRPr>
          </a:p>
          <a:p>
            <a:pPr>
              <a:spcBef>
                <a:spcPct val="50000"/>
              </a:spcBef>
            </a:pPr>
            <a:endParaRPr lang="en-US" sz="2400">
              <a:latin typeface="Times New Roman" charset="0"/>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p14="http://schemas.microsoft.com/office/powerpoint/2010/main" val="3531536628"/>
      </p:ext>
    </p:extLst>
  </p:cSld>
  <p:clrMapOvr>
    <a:masterClrMapping/>
  </p:clrMapOvr>
  <p:transition>
    <p:cover dir="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ctrTitle"/>
          </p:nvPr>
        </p:nvSpPr>
        <p:spPr>
          <a:xfrm>
            <a:off x="2514600" y="0"/>
            <a:ext cx="4114800" cy="914400"/>
          </a:xfrm>
        </p:spPr>
        <p:txBody>
          <a:bodyPr>
            <a:normAutofit fontScale="90000"/>
          </a:bodyPr>
          <a:lstStyle/>
          <a:p>
            <a:pPr eaLnBrk="1" hangingPunct="1">
              <a:defRPr/>
            </a:pPr>
            <a:r>
              <a:rPr lang="en-US" sz="7200" b="1" smtClean="0">
                <a:solidFill>
                  <a:srgbClr val="FF0000"/>
                </a:solidFill>
              </a:rPr>
              <a:t>RDBMS</a:t>
            </a:r>
            <a:r>
              <a:rPr lang="en-US" smtClean="0">
                <a:solidFill>
                  <a:srgbClr val="FF0000"/>
                </a:solidFill>
              </a:rPr>
              <a:t> </a:t>
            </a:r>
          </a:p>
        </p:txBody>
      </p:sp>
      <p:sp>
        <p:nvSpPr>
          <p:cNvPr id="31747" name="Text Box 3"/>
          <p:cNvSpPr txBox="1">
            <a:spLocks noChangeArrowheads="1"/>
          </p:cNvSpPr>
          <p:nvPr/>
        </p:nvSpPr>
        <p:spPr bwMode="auto">
          <a:xfrm>
            <a:off x="838200" y="1447800"/>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sz="2400">
              <a:latin typeface="Times New Roman" charset="0"/>
            </a:endParaRPr>
          </a:p>
        </p:txBody>
      </p:sp>
      <p:sp>
        <p:nvSpPr>
          <p:cNvPr id="31748" name="Text Box 4"/>
          <p:cNvSpPr txBox="1">
            <a:spLocks noChangeArrowheads="1"/>
          </p:cNvSpPr>
          <p:nvPr/>
        </p:nvSpPr>
        <p:spPr bwMode="auto">
          <a:xfrm>
            <a:off x="533400" y="1385888"/>
            <a:ext cx="8001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800" b="1" i="1">
                <a:latin typeface="Times New Roman" charset="0"/>
              </a:rPr>
              <a:t>CODD’s 12 Rules					 Rule 4</a:t>
            </a:r>
          </a:p>
        </p:txBody>
      </p:sp>
      <p:sp>
        <p:nvSpPr>
          <p:cNvPr id="31749" name="Text Box 5"/>
          <p:cNvSpPr txBox="1">
            <a:spLocks noChangeArrowheads="1"/>
          </p:cNvSpPr>
          <p:nvPr/>
        </p:nvSpPr>
        <p:spPr bwMode="auto">
          <a:xfrm>
            <a:off x="685800" y="2362200"/>
            <a:ext cx="473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1750" name="Text Box 6"/>
          <p:cNvSpPr txBox="1">
            <a:spLocks noChangeArrowheads="1"/>
          </p:cNvSpPr>
          <p:nvPr/>
        </p:nvSpPr>
        <p:spPr bwMode="auto">
          <a:xfrm>
            <a:off x="4594225" y="3886200"/>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1751" name="Text Box 7"/>
          <p:cNvSpPr txBox="1">
            <a:spLocks noChangeArrowheads="1"/>
          </p:cNvSpPr>
          <p:nvPr/>
        </p:nvSpPr>
        <p:spPr bwMode="auto">
          <a:xfrm>
            <a:off x="609600" y="2286000"/>
            <a:ext cx="7924800" cy="191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400" b="1" u="sng">
                <a:latin typeface="Times New Roman" charset="0"/>
              </a:rPr>
              <a:t>Active on-line catalog based on the relational model</a:t>
            </a:r>
          </a:p>
          <a:p>
            <a:pPr>
              <a:spcBef>
                <a:spcPct val="50000"/>
              </a:spcBef>
            </a:pPr>
            <a:r>
              <a:rPr lang="en-US" sz="2400">
                <a:latin typeface="Times New Roman" charset="0"/>
              </a:rPr>
              <a:t>The description of a database and its contents are database tables and queries can be online via the data language</a:t>
            </a:r>
            <a:endParaRPr lang="en-US" sz="2400" b="1" u="sng">
              <a:latin typeface="Times New Roman" charset="0"/>
            </a:endParaRPr>
          </a:p>
          <a:p>
            <a:pPr>
              <a:spcBef>
                <a:spcPct val="50000"/>
              </a:spcBef>
            </a:pPr>
            <a:endParaRPr lang="en-US" sz="2400">
              <a:latin typeface="Times New Roman" charset="0"/>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pPr/>
              <a:t>41</a:t>
            </a:fld>
            <a:endParaRPr lang="en-US"/>
          </a:p>
        </p:txBody>
      </p:sp>
    </p:spTree>
    <p:extLst>
      <p:ext uri="{BB962C8B-B14F-4D97-AF65-F5344CB8AC3E}">
        <p14:creationId xmlns:p14="http://schemas.microsoft.com/office/powerpoint/2010/main" val="2443601040"/>
      </p:ext>
    </p:extLst>
  </p:cSld>
  <p:clrMapOvr>
    <a:masterClrMapping/>
  </p:clrMapOvr>
  <p:transition>
    <p:cover dir="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ctrTitle"/>
          </p:nvPr>
        </p:nvSpPr>
        <p:spPr>
          <a:xfrm>
            <a:off x="2514600" y="0"/>
            <a:ext cx="4114800" cy="914400"/>
          </a:xfrm>
        </p:spPr>
        <p:txBody>
          <a:bodyPr>
            <a:normAutofit fontScale="90000"/>
          </a:bodyPr>
          <a:lstStyle/>
          <a:p>
            <a:pPr eaLnBrk="1" hangingPunct="1">
              <a:defRPr/>
            </a:pPr>
            <a:r>
              <a:rPr lang="en-US" sz="7200" b="1" smtClean="0">
                <a:solidFill>
                  <a:srgbClr val="FF0000"/>
                </a:solidFill>
              </a:rPr>
              <a:t>RDBMS</a:t>
            </a:r>
            <a:r>
              <a:rPr lang="en-US" smtClean="0">
                <a:solidFill>
                  <a:srgbClr val="FF0000"/>
                </a:solidFill>
              </a:rPr>
              <a:t> </a:t>
            </a:r>
          </a:p>
        </p:txBody>
      </p:sp>
      <p:sp>
        <p:nvSpPr>
          <p:cNvPr id="32771" name="Text Box 3"/>
          <p:cNvSpPr txBox="1">
            <a:spLocks noChangeArrowheads="1"/>
          </p:cNvSpPr>
          <p:nvPr/>
        </p:nvSpPr>
        <p:spPr bwMode="auto">
          <a:xfrm>
            <a:off x="838200" y="1447800"/>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sz="2400">
              <a:latin typeface="Times New Roman" charset="0"/>
            </a:endParaRPr>
          </a:p>
        </p:txBody>
      </p:sp>
      <p:sp>
        <p:nvSpPr>
          <p:cNvPr id="32772" name="Text Box 4"/>
          <p:cNvSpPr txBox="1">
            <a:spLocks noChangeArrowheads="1"/>
          </p:cNvSpPr>
          <p:nvPr/>
        </p:nvSpPr>
        <p:spPr bwMode="auto">
          <a:xfrm>
            <a:off x="533400" y="1385888"/>
            <a:ext cx="8001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800" b="1" i="1">
                <a:latin typeface="Times New Roman" charset="0"/>
              </a:rPr>
              <a:t>CODD’s 12 Rules					 Rule 5</a:t>
            </a:r>
          </a:p>
        </p:txBody>
      </p:sp>
      <p:sp>
        <p:nvSpPr>
          <p:cNvPr id="32773" name="Text Box 5"/>
          <p:cNvSpPr txBox="1">
            <a:spLocks noChangeArrowheads="1"/>
          </p:cNvSpPr>
          <p:nvPr/>
        </p:nvSpPr>
        <p:spPr bwMode="auto">
          <a:xfrm>
            <a:off x="685800" y="2362200"/>
            <a:ext cx="473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2774" name="Text Box 6"/>
          <p:cNvSpPr txBox="1">
            <a:spLocks noChangeArrowheads="1"/>
          </p:cNvSpPr>
          <p:nvPr/>
        </p:nvSpPr>
        <p:spPr bwMode="auto">
          <a:xfrm>
            <a:off x="4594225" y="3886200"/>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2775" name="Text Box 7"/>
          <p:cNvSpPr txBox="1">
            <a:spLocks noChangeArrowheads="1"/>
          </p:cNvSpPr>
          <p:nvPr/>
        </p:nvSpPr>
        <p:spPr bwMode="auto">
          <a:xfrm>
            <a:off x="609600" y="2457450"/>
            <a:ext cx="7924800" cy="2647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400" b="1" u="sng">
                <a:latin typeface="Times New Roman" charset="0"/>
              </a:rPr>
              <a:t>Comprehensive Data Sublanguage Rule</a:t>
            </a:r>
          </a:p>
          <a:p>
            <a:pPr>
              <a:spcBef>
                <a:spcPct val="50000"/>
              </a:spcBef>
            </a:pPr>
            <a:r>
              <a:rPr lang="en-US" sz="2400">
                <a:latin typeface="Times New Roman" charset="0"/>
              </a:rPr>
              <a:t>A RDBMS may support several languages, but atleast one of them allows the user to do all of the following : define tables, query and update data, set integrity constraints, set authorization and define transactions</a:t>
            </a:r>
            <a:endParaRPr lang="en-US" sz="2400" b="1" u="sng">
              <a:latin typeface="Times New Roman" charset="0"/>
            </a:endParaRPr>
          </a:p>
          <a:p>
            <a:pPr>
              <a:spcBef>
                <a:spcPct val="50000"/>
              </a:spcBef>
            </a:pPr>
            <a:endParaRPr lang="en-US" sz="2400">
              <a:latin typeface="Times New Roman" charset="0"/>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pPr/>
              <a:t>42</a:t>
            </a:fld>
            <a:endParaRPr lang="en-US"/>
          </a:p>
        </p:txBody>
      </p:sp>
    </p:spTree>
    <p:extLst>
      <p:ext uri="{BB962C8B-B14F-4D97-AF65-F5344CB8AC3E}">
        <p14:creationId xmlns:p14="http://schemas.microsoft.com/office/powerpoint/2010/main" val="3106866752"/>
      </p:ext>
    </p:extLst>
  </p:cSld>
  <p:clrMapOvr>
    <a:masterClrMapping/>
  </p:clrMapOvr>
  <p:transition>
    <p:cover dir="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ctrTitle"/>
          </p:nvPr>
        </p:nvSpPr>
        <p:spPr>
          <a:xfrm>
            <a:off x="2514600" y="0"/>
            <a:ext cx="4114800" cy="914400"/>
          </a:xfrm>
        </p:spPr>
        <p:txBody>
          <a:bodyPr>
            <a:normAutofit fontScale="90000"/>
          </a:bodyPr>
          <a:lstStyle/>
          <a:p>
            <a:pPr eaLnBrk="1" hangingPunct="1">
              <a:defRPr/>
            </a:pPr>
            <a:r>
              <a:rPr lang="en-US" sz="7200" b="1" smtClean="0">
                <a:solidFill>
                  <a:srgbClr val="FF0000"/>
                </a:solidFill>
              </a:rPr>
              <a:t>RDBMS</a:t>
            </a:r>
            <a:r>
              <a:rPr lang="en-US" smtClean="0">
                <a:solidFill>
                  <a:srgbClr val="FF0000"/>
                </a:solidFill>
              </a:rPr>
              <a:t> </a:t>
            </a:r>
          </a:p>
        </p:txBody>
      </p:sp>
      <p:sp>
        <p:nvSpPr>
          <p:cNvPr id="33795" name="Text Box 3"/>
          <p:cNvSpPr txBox="1">
            <a:spLocks noChangeArrowheads="1"/>
          </p:cNvSpPr>
          <p:nvPr/>
        </p:nvSpPr>
        <p:spPr bwMode="auto">
          <a:xfrm>
            <a:off x="838200" y="1447800"/>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sz="2400">
              <a:latin typeface="Times New Roman" charset="0"/>
            </a:endParaRPr>
          </a:p>
        </p:txBody>
      </p:sp>
      <p:sp>
        <p:nvSpPr>
          <p:cNvPr id="33796" name="Text Box 4"/>
          <p:cNvSpPr txBox="1">
            <a:spLocks noChangeArrowheads="1"/>
          </p:cNvSpPr>
          <p:nvPr/>
        </p:nvSpPr>
        <p:spPr bwMode="auto">
          <a:xfrm>
            <a:off x="533400" y="1385888"/>
            <a:ext cx="8001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800" b="1" i="1">
                <a:latin typeface="Times New Roman" charset="0"/>
              </a:rPr>
              <a:t>CODD’s 12 Rules					 Rule 6</a:t>
            </a:r>
          </a:p>
        </p:txBody>
      </p:sp>
      <p:sp>
        <p:nvSpPr>
          <p:cNvPr id="33797" name="Text Box 5"/>
          <p:cNvSpPr txBox="1">
            <a:spLocks noChangeArrowheads="1"/>
          </p:cNvSpPr>
          <p:nvPr/>
        </p:nvSpPr>
        <p:spPr bwMode="auto">
          <a:xfrm>
            <a:off x="685800" y="2362200"/>
            <a:ext cx="473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3798" name="Text Box 6"/>
          <p:cNvSpPr txBox="1">
            <a:spLocks noChangeArrowheads="1"/>
          </p:cNvSpPr>
          <p:nvPr/>
        </p:nvSpPr>
        <p:spPr bwMode="auto">
          <a:xfrm>
            <a:off x="4594225" y="3886200"/>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3799" name="Text Box 7"/>
          <p:cNvSpPr txBox="1">
            <a:spLocks noChangeArrowheads="1"/>
          </p:cNvSpPr>
          <p:nvPr/>
        </p:nvSpPr>
        <p:spPr bwMode="auto">
          <a:xfrm>
            <a:off x="609600" y="1242270"/>
            <a:ext cx="7924800" cy="5078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sz="2400" b="1" u="sng" dirty="0" smtClean="0">
              <a:latin typeface="Times New Roman" charset="0"/>
            </a:endParaRPr>
          </a:p>
          <a:p>
            <a:pPr>
              <a:spcBef>
                <a:spcPct val="50000"/>
              </a:spcBef>
            </a:pPr>
            <a:r>
              <a:rPr lang="en-US" sz="2400" b="1" u="sng" dirty="0" smtClean="0">
                <a:latin typeface="Times New Roman" charset="0"/>
              </a:rPr>
              <a:t>View </a:t>
            </a:r>
            <a:r>
              <a:rPr lang="en-US" sz="2400" b="1" u="sng" dirty="0">
                <a:latin typeface="Times New Roman" charset="0"/>
              </a:rPr>
              <a:t>Updating Rule</a:t>
            </a:r>
          </a:p>
          <a:p>
            <a:pPr>
              <a:spcBef>
                <a:spcPct val="50000"/>
              </a:spcBef>
            </a:pPr>
            <a:r>
              <a:rPr lang="en-US" sz="2400" dirty="0">
                <a:latin typeface="Times New Roman" charset="0"/>
              </a:rPr>
              <a:t>Any view that is theoretically updatable, if changes can be made to the tables that effect the desired changes in the </a:t>
            </a:r>
            <a:r>
              <a:rPr lang="en-US" sz="2400" dirty="0" err="1">
                <a:latin typeface="Times New Roman" charset="0"/>
              </a:rPr>
              <a:t>veiw</a:t>
            </a:r>
            <a:r>
              <a:rPr lang="en-US" sz="2400" dirty="0">
                <a:latin typeface="Times New Roman" charset="0"/>
              </a:rPr>
              <a:t>. Data consistency is ensured since in the underlying tables are transmitted to the view they support. Logical data independence reduces maintenance cost</a:t>
            </a:r>
            <a:r>
              <a:rPr lang="en-US" sz="2400" dirty="0" smtClean="0">
                <a:latin typeface="Times New Roman" charset="0"/>
              </a:rPr>
              <a:t>.</a:t>
            </a:r>
          </a:p>
          <a:p>
            <a:pPr>
              <a:spcBef>
                <a:spcPct val="50000"/>
              </a:spcBef>
            </a:pPr>
            <a:r>
              <a:rPr lang="en-US" sz="2400" b="1" dirty="0" smtClean="0">
                <a:latin typeface="Times New Roman" charset="0"/>
              </a:rPr>
              <a:t>Base Table: The table exists physically</a:t>
            </a:r>
          </a:p>
          <a:p>
            <a:pPr>
              <a:spcBef>
                <a:spcPct val="50000"/>
              </a:spcBef>
            </a:pPr>
            <a:r>
              <a:rPr lang="en-US" sz="2400" b="1" dirty="0" smtClean="0">
                <a:latin typeface="Times New Roman" charset="0"/>
              </a:rPr>
              <a:t>View Table: It is a virtual table created from one or more base tables.</a:t>
            </a:r>
            <a:endParaRPr lang="en-US" sz="2400" b="1" dirty="0">
              <a:latin typeface="Times New Roman" charset="0"/>
            </a:endParaRPr>
          </a:p>
          <a:p>
            <a:pPr>
              <a:spcBef>
                <a:spcPct val="50000"/>
              </a:spcBef>
            </a:pPr>
            <a:endParaRPr lang="en-US" sz="2400" dirty="0">
              <a:latin typeface="Times New Roman" charset="0"/>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pPr/>
              <a:t>43</a:t>
            </a:fld>
            <a:endParaRPr lang="en-US"/>
          </a:p>
        </p:txBody>
      </p:sp>
    </p:spTree>
    <p:extLst>
      <p:ext uri="{BB962C8B-B14F-4D97-AF65-F5344CB8AC3E}">
        <p14:creationId xmlns:p14="http://schemas.microsoft.com/office/powerpoint/2010/main" val="207158578"/>
      </p:ext>
    </p:extLst>
  </p:cSld>
  <p:clrMapOvr>
    <a:masterClrMapping/>
  </p:clrMapOvr>
  <p:transition>
    <p:cover dir="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ctrTitle"/>
          </p:nvPr>
        </p:nvSpPr>
        <p:spPr>
          <a:xfrm>
            <a:off x="2514600" y="0"/>
            <a:ext cx="4114800" cy="914400"/>
          </a:xfrm>
        </p:spPr>
        <p:txBody>
          <a:bodyPr>
            <a:normAutofit fontScale="90000"/>
          </a:bodyPr>
          <a:lstStyle/>
          <a:p>
            <a:pPr eaLnBrk="1" hangingPunct="1">
              <a:defRPr/>
            </a:pPr>
            <a:r>
              <a:rPr lang="en-US" sz="7200" b="1" smtClean="0">
                <a:solidFill>
                  <a:srgbClr val="FF0000"/>
                </a:solidFill>
              </a:rPr>
              <a:t>RDBMS</a:t>
            </a:r>
            <a:r>
              <a:rPr lang="en-US" smtClean="0">
                <a:solidFill>
                  <a:srgbClr val="FF0000"/>
                </a:solidFill>
              </a:rPr>
              <a:t> </a:t>
            </a:r>
          </a:p>
        </p:txBody>
      </p:sp>
      <p:sp>
        <p:nvSpPr>
          <p:cNvPr id="34819" name="Text Box 3"/>
          <p:cNvSpPr txBox="1">
            <a:spLocks noChangeArrowheads="1"/>
          </p:cNvSpPr>
          <p:nvPr/>
        </p:nvSpPr>
        <p:spPr bwMode="auto">
          <a:xfrm>
            <a:off x="838200" y="1447800"/>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sz="2400">
              <a:latin typeface="Times New Roman" charset="0"/>
            </a:endParaRPr>
          </a:p>
        </p:txBody>
      </p:sp>
      <p:sp>
        <p:nvSpPr>
          <p:cNvPr id="34820" name="Text Box 4"/>
          <p:cNvSpPr txBox="1">
            <a:spLocks noChangeArrowheads="1"/>
          </p:cNvSpPr>
          <p:nvPr/>
        </p:nvSpPr>
        <p:spPr bwMode="auto">
          <a:xfrm>
            <a:off x="533400" y="1385888"/>
            <a:ext cx="8001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800" b="1" i="1">
                <a:latin typeface="Times New Roman" charset="0"/>
              </a:rPr>
              <a:t>CODD’s 12 Rules					 Rule 7</a:t>
            </a:r>
          </a:p>
        </p:txBody>
      </p:sp>
      <p:sp>
        <p:nvSpPr>
          <p:cNvPr id="34821" name="Text Box 5"/>
          <p:cNvSpPr txBox="1">
            <a:spLocks noChangeArrowheads="1"/>
          </p:cNvSpPr>
          <p:nvPr/>
        </p:nvSpPr>
        <p:spPr bwMode="auto">
          <a:xfrm>
            <a:off x="685800" y="2362200"/>
            <a:ext cx="473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4822" name="Text Box 6"/>
          <p:cNvSpPr txBox="1">
            <a:spLocks noChangeArrowheads="1"/>
          </p:cNvSpPr>
          <p:nvPr/>
        </p:nvSpPr>
        <p:spPr bwMode="auto">
          <a:xfrm>
            <a:off x="4594225" y="3886200"/>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4823" name="Text Box 7"/>
          <p:cNvSpPr txBox="1">
            <a:spLocks noChangeArrowheads="1"/>
          </p:cNvSpPr>
          <p:nvPr/>
        </p:nvSpPr>
        <p:spPr bwMode="auto">
          <a:xfrm>
            <a:off x="533400" y="2438400"/>
            <a:ext cx="7924800" cy="2282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400" b="1" u="sng">
                <a:latin typeface="Times New Roman" charset="0"/>
              </a:rPr>
              <a:t>High level inserts, Update and Delete</a:t>
            </a:r>
          </a:p>
          <a:p>
            <a:pPr>
              <a:spcBef>
                <a:spcPct val="50000"/>
              </a:spcBef>
            </a:pPr>
            <a:r>
              <a:rPr lang="en-US" sz="2400">
                <a:latin typeface="Times New Roman" charset="0"/>
              </a:rPr>
              <a:t>The RDBMS supports insertion, updation and deletion at a table level. With this the RDBMS can improve performance by optimizing the path to be taken to execute the action.</a:t>
            </a:r>
            <a:endParaRPr lang="en-US" sz="2400" b="1" u="sng">
              <a:latin typeface="Times New Roman" charset="0"/>
            </a:endParaRPr>
          </a:p>
          <a:p>
            <a:pPr>
              <a:spcBef>
                <a:spcPct val="50000"/>
              </a:spcBef>
            </a:pPr>
            <a:endParaRPr lang="en-US" sz="2400">
              <a:latin typeface="Times New Roman" charset="0"/>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pPr/>
              <a:t>44</a:t>
            </a:fld>
            <a:endParaRPr lang="en-US"/>
          </a:p>
        </p:txBody>
      </p:sp>
    </p:spTree>
    <p:extLst>
      <p:ext uri="{BB962C8B-B14F-4D97-AF65-F5344CB8AC3E}">
        <p14:creationId xmlns:p14="http://schemas.microsoft.com/office/powerpoint/2010/main" val="1449384967"/>
      </p:ext>
    </p:extLst>
  </p:cSld>
  <p:clrMapOvr>
    <a:masterClrMapping/>
  </p:clrMapOvr>
  <p:transition>
    <p:cover dir="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ctrTitle"/>
          </p:nvPr>
        </p:nvSpPr>
        <p:spPr>
          <a:xfrm>
            <a:off x="2514600" y="0"/>
            <a:ext cx="4114800" cy="914400"/>
          </a:xfrm>
        </p:spPr>
        <p:txBody>
          <a:bodyPr>
            <a:normAutofit fontScale="90000"/>
          </a:bodyPr>
          <a:lstStyle/>
          <a:p>
            <a:pPr eaLnBrk="1" hangingPunct="1">
              <a:defRPr/>
            </a:pPr>
            <a:r>
              <a:rPr lang="en-US" sz="7200" b="1" smtClean="0">
                <a:solidFill>
                  <a:srgbClr val="FF0000"/>
                </a:solidFill>
              </a:rPr>
              <a:t>RDBMS</a:t>
            </a:r>
            <a:r>
              <a:rPr lang="en-US" smtClean="0">
                <a:solidFill>
                  <a:srgbClr val="FF0000"/>
                </a:solidFill>
              </a:rPr>
              <a:t> </a:t>
            </a:r>
          </a:p>
        </p:txBody>
      </p:sp>
      <p:sp>
        <p:nvSpPr>
          <p:cNvPr id="35843" name="Text Box 3"/>
          <p:cNvSpPr txBox="1">
            <a:spLocks noChangeArrowheads="1"/>
          </p:cNvSpPr>
          <p:nvPr/>
        </p:nvSpPr>
        <p:spPr bwMode="auto">
          <a:xfrm>
            <a:off x="838200" y="1447800"/>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sz="2400">
              <a:latin typeface="Times New Roman" charset="0"/>
            </a:endParaRPr>
          </a:p>
        </p:txBody>
      </p:sp>
      <p:sp>
        <p:nvSpPr>
          <p:cNvPr id="35844" name="Text Box 4"/>
          <p:cNvSpPr txBox="1">
            <a:spLocks noChangeArrowheads="1"/>
          </p:cNvSpPr>
          <p:nvPr/>
        </p:nvSpPr>
        <p:spPr bwMode="auto">
          <a:xfrm>
            <a:off x="533400" y="1385888"/>
            <a:ext cx="8001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800" b="1" i="1">
                <a:latin typeface="Times New Roman" charset="0"/>
              </a:rPr>
              <a:t>CODD’s 12 Rules					 Rule 8</a:t>
            </a:r>
          </a:p>
        </p:txBody>
      </p:sp>
      <p:sp>
        <p:nvSpPr>
          <p:cNvPr id="35845" name="Text Box 5"/>
          <p:cNvSpPr txBox="1">
            <a:spLocks noChangeArrowheads="1"/>
          </p:cNvSpPr>
          <p:nvPr/>
        </p:nvSpPr>
        <p:spPr bwMode="auto">
          <a:xfrm>
            <a:off x="685800" y="2362200"/>
            <a:ext cx="473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5846" name="Text Box 6"/>
          <p:cNvSpPr txBox="1">
            <a:spLocks noChangeArrowheads="1"/>
          </p:cNvSpPr>
          <p:nvPr/>
        </p:nvSpPr>
        <p:spPr bwMode="auto">
          <a:xfrm>
            <a:off x="4594225" y="3886200"/>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5847" name="Text Box 7"/>
          <p:cNvSpPr txBox="1">
            <a:spLocks noChangeArrowheads="1"/>
          </p:cNvSpPr>
          <p:nvPr/>
        </p:nvSpPr>
        <p:spPr bwMode="auto">
          <a:xfrm>
            <a:off x="533400" y="2528888"/>
            <a:ext cx="7924800" cy="2100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400" b="1" u="sng">
                <a:latin typeface="Times New Roman" charset="0"/>
              </a:rPr>
              <a:t>Physical Data Independence</a:t>
            </a:r>
          </a:p>
          <a:p>
            <a:pPr>
              <a:spcBef>
                <a:spcPct val="50000"/>
              </a:spcBef>
            </a:pPr>
            <a:r>
              <a:rPr lang="en-US" sz="2400">
                <a:latin typeface="Times New Roman" charset="0"/>
              </a:rPr>
              <a:t>The execution of adhoc requests and application programs is not affected by changes in the physical data access and storage methods. DBA’s (DataBase Administrators) can make changes to the physical data</a:t>
            </a:r>
          </a:p>
        </p:txBody>
      </p:sp>
      <p:sp>
        <p:nvSpPr>
          <p:cNvPr id="2" name="Slide Number Placeholder 1"/>
          <p:cNvSpPr>
            <a:spLocks noGrp="1"/>
          </p:cNvSpPr>
          <p:nvPr>
            <p:ph type="sldNum" sz="quarter" idx="12"/>
          </p:nvPr>
        </p:nvSpPr>
        <p:spPr/>
        <p:txBody>
          <a:bodyPr/>
          <a:lstStyle/>
          <a:p>
            <a:fld id="{B6F15528-21DE-4FAA-801E-634DDDAF4B2B}" type="slidenum">
              <a:rPr lang="en-US" smtClean="0"/>
              <a:pPr/>
              <a:t>45</a:t>
            </a:fld>
            <a:endParaRPr lang="en-US"/>
          </a:p>
        </p:txBody>
      </p:sp>
    </p:spTree>
    <p:extLst>
      <p:ext uri="{BB962C8B-B14F-4D97-AF65-F5344CB8AC3E}">
        <p14:creationId xmlns:p14="http://schemas.microsoft.com/office/powerpoint/2010/main" val="3330720964"/>
      </p:ext>
    </p:extLst>
  </p:cSld>
  <p:clrMapOvr>
    <a:masterClrMapping/>
  </p:clrMapOvr>
  <p:transition>
    <p:cover dir="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ctrTitle"/>
          </p:nvPr>
        </p:nvSpPr>
        <p:spPr>
          <a:xfrm>
            <a:off x="2514600" y="0"/>
            <a:ext cx="4114800" cy="914400"/>
          </a:xfrm>
        </p:spPr>
        <p:txBody>
          <a:bodyPr>
            <a:normAutofit fontScale="90000"/>
          </a:bodyPr>
          <a:lstStyle/>
          <a:p>
            <a:pPr eaLnBrk="1" hangingPunct="1">
              <a:defRPr/>
            </a:pPr>
            <a:r>
              <a:rPr lang="en-US" sz="7200" b="1" smtClean="0">
                <a:solidFill>
                  <a:srgbClr val="FF0000"/>
                </a:solidFill>
              </a:rPr>
              <a:t>RDBMS</a:t>
            </a:r>
            <a:r>
              <a:rPr lang="en-US" smtClean="0">
                <a:solidFill>
                  <a:srgbClr val="FF0000"/>
                </a:solidFill>
              </a:rPr>
              <a:t> </a:t>
            </a:r>
          </a:p>
        </p:txBody>
      </p:sp>
      <p:sp>
        <p:nvSpPr>
          <p:cNvPr id="36867" name="Text Box 3"/>
          <p:cNvSpPr txBox="1">
            <a:spLocks noChangeArrowheads="1"/>
          </p:cNvSpPr>
          <p:nvPr/>
        </p:nvSpPr>
        <p:spPr bwMode="auto">
          <a:xfrm>
            <a:off x="838200" y="1447800"/>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sz="2400">
              <a:latin typeface="Times New Roman" charset="0"/>
            </a:endParaRPr>
          </a:p>
        </p:txBody>
      </p:sp>
      <p:sp>
        <p:nvSpPr>
          <p:cNvPr id="36868" name="Text Box 4"/>
          <p:cNvSpPr txBox="1">
            <a:spLocks noChangeArrowheads="1"/>
          </p:cNvSpPr>
          <p:nvPr/>
        </p:nvSpPr>
        <p:spPr bwMode="auto">
          <a:xfrm>
            <a:off x="533400" y="1385888"/>
            <a:ext cx="8001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800" b="1" i="1">
                <a:latin typeface="Times New Roman" charset="0"/>
              </a:rPr>
              <a:t>CODD’s 12 Rules					 Rule 9</a:t>
            </a:r>
          </a:p>
        </p:txBody>
      </p:sp>
      <p:sp>
        <p:nvSpPr>
          <p:cNvPr id="36869" name="Text Box 5"/>
          <p:cNvSpPr txBox="1">
            <a:spLocks noChangeArrowheads="1"/>
          </p:cNvSpPr>
          <p:nvPr/>
        </p:nvSpPr>
        <p:spPr bwMode="auto">
          <a:xfrm>
            <a:off x="685800" y="2362200"/>
            <a:ext cx="473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6870" name="Text Box 6"/>
          <p:cNvSpPr txBox="1">
            <a:spLocks noChangeArrowheads="1"/>
          </p:cNvSpPr>
          <p:nvPr/>
        </p:nvSpPr>
        <p:spPr bwMode="auto">
          <a:xfrm>
            <a:off x="4594225" y="3886200"/>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6871" name="Text Box 7"/>
          <p:cNvSpPr txBox="1">
            <a:spLocks noChangeArrowheads="1"/>
          </p:cNvSpPr>
          <p:nvPr/>
        </p:nvSpPr>
        <p:spPr bwMode="auto">
          <a:xfrm>
            <a:off x="533400" y="2517190"/>
            <a:ext cx="7924800" cy="21236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400" b="1" u="sng" dirty="0">
                <a:latin typeface="Times New Roman" charset="0"/>
              </a:rPr>
              <a:t>Logical Data Independence</a:t>
            </a:r>
          </a:p>
          <a:p>
            <a:pPr>
              <a:spcBef>
                <a:spcPct val="50000"/>
              </a:spcBef>
            </a:pPr>
            <a:r>
              <a:rPr lang="en-US" sz="2400" dirty="0">
                <a:latin typeface="Times New Roman" charset="0"/>
              </a:rPr>
              <a:t>Logical changes in tables and view such as adding / deleting columns or changing field lengths do not necessitate modifications in application programs or in the format of </a:t>
            </a:r>
            <a:r>
              <a:rPr lang="en-US" sz="2400" dirty="0" err="1">
                <a:latin typeface="Times New Roman" charset="0"/>
              </a:rPr>
              <a:t>adhoc</a:t>
            </a:r>
            <a:r>
              <a:rPr lang="en-US" sz="2400">
                <a:latin typeface="Times New Roman" charset="0"/>
              </a:rPr>
              <a:t> </a:t>
            </a:r>
            <a:r>
              <a:rPr lang="en-US" sz="2400" smtClean="0">
                <a:latin typeface="Times New Roman" charset="0"/>
              </a:rPr>
              <a:t>requests.</a:t>
            </a:r>
            <a:endParaRPr lang="en-US" sz="2400">
              <a:latin typeface="Times New Roman" charset="0"/>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pPr/>
              <a:t>46</a:t>
            </a:fld>
            <a:endParaRPr lang="en-US"/>
          </a:p>
        </p:txBody>
      </p:sp>
    </p:spTree>
    <p:extLst>
      <p:ext uri="{BB962C8B-B14F-4D97-AF65-F5344CB8AC3E}">
        <p14:creationId xmlns:p14="http://schemas.microsoft.com/office/powerpoint/2010/main" val="2875573704"/>
      </p:ext>
    </p:extLst>
  </p:cSld>
  <p:clrMapOvr>
    <a:masterClrMapping/>
  </p:clrMapOvr>
  <p:transition>
    <p:cover dir="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ctrTitle"/>
          </p:nvPr>
        </p:nvSpPr>
        <p:spPr>
          <a:xfrm>
            <a:off x="2514600" y="0"/>
            <a:ext cx="4114800" cy="914400"/>
          </a:xfrm>
        </p:spPr>
        <p:txBody>
          <a:bodyPr>
            <a:normAutofit fontScale="90000"/>
          </a:bodyPr>
          <a:lstStyle/>
          <a:p>
            <a:pPr eaLnBrk="1" hangingPunct="1">
              <a:defRPr/>
            </a:pPr>
            <a:r>
              <a:rPr lang="en-US" sz="7200" b="1" smtClean="0">
                <a:solidFill>
                  <a:srgbClr val="FF0000"/>
                </a:solidFill>
              </a:rPr>
              <a:t>RDBMS</a:t>
            </a:r>
            <a:r>
              <a:rPr lang="en-US" smtClean="0">
                <a:solidFill>
                  <a:srgbClr val="FF0000"/>
                </a:solidFill>
              </a:rPr>
              <a:t> </a:t>
            </a:r>
          </a:p>
        </p:txBody>
      </p:sp>
      <p:sp>
        <p:nvSpPr>
          <p:cNvPr id="37891" name="Text Box 3"/>
          <p:cNvSpPr txBox="1">
            <a:spLocks noChangeArrowheads="1"/>
          </p:cNvSpPr>
          <p:nvPr/>
        </p:nvSpPr>
        <p:spPr bwMode="auto">
          <a:xfrm>
            <a:off x="838200" y="1447800"/>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sz="2400">
              <a:latin typeface="Times New Roman" charset="0"/>
            </a:endParaRPr>
          </a:p>
        </p:txBody>
      </p:sp>
      <p:sp>
        <p:nvSpPr>
          <p:cNvPr id="37892" name="Text Box 4"/>
          <p:cNvSpPr txBox="1">
            <a:spLocks noChangeArrowheads="1"/>
          </p:cNvSpPr>
          <p:nvPr/>
        </p:nvSpPr>
        <p:spPr bwMode="auto">
          <a:xfrm>
            <a:off x="533400" y="1066800"/>
            <a:ext cx="8001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800" b="1" i="1">
                <a:latin typeface="Times New Roman" charset="0"/>
              </a:rPr>
              <a:t>CODD’s 12 Rules					 Rule 10</a:t>
            </a:r>
          </a:p>
        </p:txBody>
      </p:sp>
      <p:sp>
        <p:nvSpPr>
          <p:cNvPr id="37893" name="Text Box 5"/>
          <p:cNvSpPr txBox="1">
            <a:spLocks noChangeArrowheads="1"/>
          </p:cNvSpPr>
          <p:nvPr/>
        </p:nvSpPr>
        <p:spPr bwMode="auto">
          <a:xfrm>
            <a:off x="685800" y="2362200"/>
            <a:ext cx="473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7894" name="Text Box 6"/>
          <p:cNvSpPr txBox="1">
            <a:spLocks noChangeArrowheads="1"/>
          </p:cNvSpPr>
          <p:nvPr/>
        </p:nvSpPr>
        <p:spPr bwMode="auto">
          <a:xfrm>
            <a:off x="4594225" y="3886200"/>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7895" name="Text Box 7"/>
          <p:cNvSpPr txBox="1">
            <a:spLocks noChangeArrowheads="1"/>
          </p:cNvSpPr>
          <p:nvPr/>
        </p:nvSpPr>
        <p:spPr bwMode="auto">
          <a:xfrm>
            <a:off x="533400" y="1828800"/>
            <a:ext cx="7924800" cy="429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400" b="1" u="sng">
                <a:latin typeface="Times New Roman" charset="0"/>
              </a:rPr>
              <a:t>Integrity  Independence</a:t>
            </a:r>
          </a:p>
          <a:p>
            <a:pPr>
              <a:spcBef>
                <a:spcPct val="50000"/>
              </a:spcBef>
            </a:pPr>
            <a:r>
              <a:rPr lang="en-US" sz="2400">
                <a:latin typeface="Times New Roman" charset="0"/>
              </a:rPr>
              <a:t>Like table definitions integrity constraints are stored in the online catalog. The following two integrity constraints must be supported.</a:t>
            </a:r>
          </a:p>
          <a:p>
            <a:pPr>
              <a:spcBef>
                <a:spcPct val="50000"/>
              </a:spcBef>
            </a:pPr>
            <a:r>
              <a:rPr lang="en-US" sz="2400" b="1" u="sng">
                <a:latin typeface="Times New Roman" charset="0"/>
              </a:rPr>
              <a:t>Entity Integrity</a:t>
            </a:r>
          </a:p>
          <a:p>
            <a:pPr>
              <a:spcBef>
                <a:spcPct val="50000"/>
              </a:spcBef>
            </a:pPr>
            <a:r>
              <a:rPr lang="en-US" sz="2400">
                <a:latin typeface="Times New Roman" charset="0"/>
              </a:rPr>
              <a:t>No component of primary key is allowed to have a null value</a:t>
            </a:r>
          </a:p>
          <a:p>
            <a:pPr>
              <a:spcBef>
                <a:spcPct val="50000"/>
              </a:spcBef>
            </a:pPr>
            <a:r>
              <a:rPr lang="en-US" sz="2400" b="1" u="sng">
                <a:latin typeface="Times New Roman" charset="0"/>
              </a:rPr>
              <a:t>Referential Integrity</a:t>
            </a:r>
          </a:p>
          <a:p>
            <a:pPr>
              <a:spcBef>
                <a:spcPct val="50000"/>
              </a:spcBef>
            </a:pPr>
            <a:r>
              <a:rPr lang="en-US" sz="2400">
                <a:latin typeface="Times New Roman" charset="0"/>
              </a:rPr>
              <a:t>For each non null foreign key value in a table, there must exist a matching primary key</a:t>
            </a:r>
          </a:p>
        </p:txBody>
      </p:sp>
      <p:sp>
        <p:nvSpPr>
          <p:cNvPr id="2" name="Slide Number Placeholder 1"/>
          <p:cNvSpPr>
            <a:spLocks noGrp="1"/>
          </p:cNvSpPr>
          <p:nvPr>
            <p:ph type="sldNum" sz="quarter" idx="12"/>
          </p:nvPr>
        </p:nvSpPr>
        <p:spPr/>
        <p:txBody>
          <a:bodyPr/>
          <a:lstStyle/>
          <a:p>
            <a:fld id="{B6F15528-21DE-4FAA-801E-634DDDAF4B2B}" type="slidenum">
              <a:rPr lang="en-US" smtClean="0"/>
              <a:pPr/>
              <a:t>47</a:t>
            </a:fld>
            <a:endParaRPr lang="en-US"/>
          </a:p>
        </p:txBody>
      </p:sp>
    </p:spTree>
    <p:extLst>
      <p:ext uri="{BB962C8B-B14F-4D97-AF65-F5344CB8AC3E}">
        <p14:creationId xmlns:p14="http://schemas.microsoft.com/office/powerpoint/2010/main" val="2875428301"/>
      </p:ext>
    </p:extLst>
  </p:cSld>
  <p:clrMapOvr>
    <a:masterClrMapping/>
  </p:clrMapOvr>
  <p:transition>
    <p:cover dir="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ctrTitle"/>
          </p:nvPr>
        </p:nvSpPr>
        <p:spPr>
          <a:xfrm>
            <a:off x="2514600" y="0"/>
            <a:ext cx="4114800" cy="914400"/>
          </a:xfrm>
        </p:spPr>
        <p:txBody>
          <a:bodyPr>
            <a:normAutofit fontScale="90000"/>
          </a:bodyPr>
          <a:lstStyle/>
          <a:p>
            <a:pPr eaLnBrk="1" hangingPunct="1">
              <a:defRPr/>
            </a:pPr>
            <a:r>
              <a:rPr lang="en-US" sz="7200" b="1" smtClean="0">
                <a:solidFill>
                  <a:srgbClr val="FF0000"/>
                </a:solidFill>
              </a:rPr>
              <a:t>RDBMS</a:t>
            </a:r>
            <a:r>
              <a:rPr lang="en-US" smtClean="0">
                <a:solidFill>
                  <a:srgbClr val="FF0000"/>
                </a:solidFill>
              </a:rPr>
              <a:t> </a:t>
            </a:r>
          </a:p>
        </p:txBody>
      </p:sp>
      <p:sp>
        <p:nvSpPr>
          <p:cNvPr id="38915" name="Text Box 3"/>
          <p:cNvSpPr txBox="1">
            <a:spLocks noChangeArrowheads="1"/>
          </p:cNvSpPr>
          <p:nvPr/>
        </p:nvSpPr>
        <p:spPr bwMode="auto">
          <a:xfrm>
            <a:off x="838200" y="1447800"/>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sz="2400">
              <a:latin typeface="Times New Roman" charset="0"/>
            </a:endParaRPr>
          </a:p>
        </p:txBody>
      </p:sp>
      <p:sp>
        <p:nvSpPr>
          <p:cNvPr id="38916" name="Text Box 4"/>
          <p:cNvSpPr txBox="1">
            <a:spLocks noChangeArrowheads="1"/>
          </p:cNvSpPr>
          <p:nvPr/>
        </p:nvSpPr>
        <p:spPr bwMode="auto">
          <a:xfrm>
            <a:off x="533400" y="1066800"/>
            <a:ext cx="8001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800" b="1" i="1">
                <a:latin typeface="Times New Roman" charset="0"/>
              </a:rPr>
              <a:t>CODD’s 12 Rules					 Rule 11</a:t>
            </a:r>
          </a:p>
        </p:txBody>
      </p:sp>
      <p:sp>
        <p:nvSpPr>
          <p:cNvPr id="38917" name="Text Box 5"/>
          <p:cNvSpPr txBox="1">
            <a:spLocks noChangeArrowheads="1"/>
          </p:cNvSpPr>
          <p:nvPr/>
        </p:nvSpPr>
        <p:spPr bwMode="auto">
          <a:xfrm>
            <a:off x="685800" y="2362200"/>
            <a:ext cx="473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8918" name="Text Box 6"/>
          <p:cNvSpPr txBox="1">
            <a:spLocks noChangeArrowheads="1"/>
          </p:cNvSpPr>
          <p:nvPr/>
        </p:nvSpPr>
        <p:spPr bwMode="auto">
          <a:xfrm>
            <a:off x="4594225" y="3886200"/>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8919" name="Text Box 7"/>
          <p:cNvSpPr txBox="1">
            <a:spLocks noChangeArrowheads="1"/>
          </p:cNvSpPr>
          <p:nvPr/>
        </p:nvSpPr>
        <p:spPr bwMode="auto">
          <a:xfrm>
            <a:off x="533400" y="2438400"/>
            <a:ext cx="7924800" cy="1370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400" b="1" u="sng">
                <a:latin typeface="Times New Roman" charset="0"/>
              </a:rPr>
              <a:t>Distribution  Independence</a:t>
            </a:r>
          </a:p>
          <a:p>
            <a:pPr>
              <a:spcBef>
                <a:spcPct val="50000"/>
              </a:spcBef>
            </a:pPr>
            <a:r>
              <a:rPr lang="en-US" sz="2400">
                <a:latin typeface="Times New Roman" charset="0"/>
              </a:rPr>
              <a:t>Application programs and adhoc requests are not affected by changes in the distribution of the physical data</a:t>
            </a:r>
          </a:p>
        </p:txBody>
      </p:sp>
      <p:sp>
        <p:nvSpPr>
          <p:cNvPr id="2" name="Slide Number Placeholder 1"/>
          <p:cNvSpPr>
            <a:spLocks noGrp="1"/>
          </p:cNvSpPr>
          <p:nvPr>
            <p:ph type="sldNum" sz="quarter" idx="12"/>
          </p:nvPr>
        </p:nvSpPr>
        <p:spPr/>
        <p:txBody>
          <a:bodyPr/>
          <a:lstStyle/>
          <a:p>
            <a:fld id="{B6F15528-21DE-4FAA-801E-634DDDAF4B2B}" type="slidenum">
              <a:rPr lang="en-US" smtClean="0"/>
              <a:pPr/>
              <a:t>48</a:t>
            </a:fld>
            <a:endParaRPr lang="en-US"/>
          </a:p>
        </p:txBody>
      </p:sp>
    </p:spTree>
    <p:extLst>
      <p:ext uri="{BB962C8B-B14F-4D97-AF65-F5344CB8AC3E}">
        <p14:creationId xmlns:p14="http://schemas.microsoft.com/office/powerpoint/2010/main" val="846689241"/>
      </p:ext>
    </p:extLst>
  </p:cSld>
  <p:clrMapOvr>
    <a:masterClrMapping/>
  </p:clrMapOvr>
  <p:transition>
    <p:cover dir="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ctrTitle"/>
          </p:nvPr>
        </p:nvSpPr>
        <p:spPr>
          <a:xfrm>
            <a:off x="2514600" y="0"/>
            <a:ext cx="4114800" cy="914400"/>
          </a:xfrm>
        </p:spPr>
        <p:txBody>
          <a:bodyPr>
            <a:normAutofit fontScale="90000"/>
          </a:bodyPr>
          <a:lstStyle/>
          <a:p>
            <a:pPr eaLnBrk="1" hangingPunct="1">
              <a:defRPr/>
            </a:pPr>
            <a:r>
              <a:rPr lang="en-US" sz="7200" b="1" smtClean="0">
                <a:solidFill>
                  <a:srgbClr val="FF0000"/>
                </a:solidFill>
              </a:rPr>
              <a:t>RDBMS</a:t>
            </a:r>
            <a:r>
              <a:rPr lang="en-US" smtClean="0">
                <a:solidFill>
                  <a:srgbClr val="FF0000"/>
                </a:solidFill>
              </a:rPr>
              <a:t> </a:t>
            </a:r>
          </a:p>
        </p:txBody>
      </p:sp>
      <p:sp>
        <p:nvSpPr>
          <p:cNvPr id="39939" name="Text Box 3"/>
          <p:cNvSpPr txBox="1">
            <a:spLocks noChangeArrowheads="1"/>
          </p:cNvSpPr>
          <p:nvPr/>
        </p:nvSpPr>
        <p:spPr bwMode="auto">
          <a:xfrm>
            <a:off x="838200" y="1447800"/>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sz="2400">
              <a:latin typeface="Times New Roman" charset="0"/>
            </a:endParaRPr>
          </a:p>
        </p:txBody>
      </p:sp>
      <p:sp>
        <p:nvSpPr>
          <p:cNvPr id="39940" name="Text Box 4"/>
          <p:cNvSpPr txBox="1">
            <a:spLocks noChangeArrowheads="1"/>
          </p:cNvSpPr>
          <p:nvPr/>
        </p:nvSpPr>
        <p:spPr bwMode="auto">
          <a:xfrm>
            <a:off x="533400" y="1066800"/>
            <a:ext cx="8001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800" b="1" i="1">
                <a:latin typeface="Times New Roman" charset="0"/>
              </a:rPr>
              <a:t>CODD’s 12 Rules					 Rule 12</a:t>
            </a:r>
          </a:p>
        </p:txBody>
      </p:sp>
      <p:sp>
        <p:nvSpPr>
          <p:cNvPr id="39941" name="Text Box 5"/>
          <p:cNvSpPr txBox="1">
            <a:spLocks noChangeArrowheads="1"/>
          </p:cNvSpPr>
          <p:nvPr/>
        </p:nvSpPr>
        <p:spPr bwMode="auto">
          <a:xfrm>
            <a:off x="685800" y="2362200"/>
            <a:ext cx="473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9942" name="Text Box 6"/>
          <p:cNvSpPr txBox="1">
            <a:spLocks noChangeArrowheads="1"/>
          </p:cNvSpPr>
          <p:nvPr/>
        </p:nvSpPr>
        <p:spPr bwMode="auto">
          <a:xfrm>
            <a:off x="4594225" y="3886200"/>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endParaRPr lang="en-US" sz="2400">
              <a:latin typeface="Times New Roman" charset="0"/>
            </a:endParaRPr>
          </a:p>
        </p:txBody>
      </p:sp>
      <p:sp>
        <p:nvSpPr>
          <p:cNvPr id="39943" name="Text Box 7"/>
          <p:cNvSpPr txBox="1">
            <a:spLocks noChangeArrowheads="1"/>
          </p:cNvSpPr>
          <p:nvPr/>
        </p:nvSpPr>
        <p:spPr bwMode="auto">
          <a:xfrm>
            <a:off x="533400" y="1890713"/>
            <a:ext cx="7924800" cy="2465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2400" b="1" u="sng">
                <a:latin typeface="Times New Roman" charset="0"/>
              </a:rPr>
              <a:t>Non Subversion Rule</a:t>
            </a:r>
          </a:p>
          <a:p>
            <a:pPr>
              <a:spcBef>
                <a:spcPct val="50000"/>
              </a:spcBef>
            </a:pPr>
            <a:r>
              <a:rPr lang="en-US" sz="2400">
                <a:latin typeface="Times New Roman" charset="0"/>
              </a:rPr>
              <a:t>If the RDBMS has a language change that accesses the information of a record at a time, this language cannot be used to by-pass the integrity constraints. In order to adhere to this rule the RDBMS must have an active catalog that contains the constraints.</a:t>
            </a:r>
          </a:p>
        </p:txBody>
      </p:sp>
      <p:sp>
        <p:nvSpPr>
          <p:cNvPr id="2" name="Slide Number Placeholder 1"/>
          <p:cNvSpPr>
            <a:spLocks noGrp="1"/>
          </p:cNvSpPr>
          <p:nvPr>
            <p:ph type="sldNum" sz="quarter" idx="12"/>
          </p:nvPr>
        </p:nvSpPr>
        <p:spPr/>
        <p:txBody>
          <a:bodyPr/>
          <a:lstStyle/>
          <a:p>
            <a:fld id="{B6F15528-21DE-4FAA-801E-634DDDAF4B2B}" type="slidenum">
              <a:rPr lang="en-US" smtClean="0"/>
              <a:pPr/>
              <a:t>49</a:t>
            </a:fld>
            <a:endParaRPr lang="en-US"/>
          </a:p>
        </p:txBody>
      </p:sp>
    </p:spTree>
    <p:extLst>
      <p:ext uri="{BB962C8B-B14F-4D97-AF65-F5344CB8AC3E}">
        <p14:creationId xmlns:p14="http://schemas.microsoft.com/office/powerpoint/2010/main" val="1024023421"/>
      </p:ext>
    </p:extLst>
  </p:cSld>
  <p:clrMapOvr>
    <a:masterClrMapping/>
  </p:clrMapOvr>
  <p:transition>
    <p:cover dir="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Conclusion</a:t>
            </a:r>
            <a:endParaRPr lang="en-IN" dirty="0"/>
          </a:p>
        </p:txBody>
      </p:sp>
      <p:sp>
        <p:nvSpPr>
          <p:cNvPr id="3" name="Content Placeholder 2"/>
          <p:cNvSpPr>
            <a:spLocks noGrp="1"/>
          </p:cNvSpPr>
          <p:nvPr>
            <p:ph idx="1"/>
          </p:nvPr>
        </p:nvSpPr>
        <p:spPr/>
        <p:txBody>
          <a:bodyPr/>
          <a:lstStyle/>
          <a:p>
            <a:r>
              <a:rPr lang="en-IN" dirty="0" smtClean="0"/>
              <a:t>Database</a:t>
            </a:r>
          </a:p>
          <a:p>
            <a:r>
              <a:rPr lang="en-IN" dirty="0" smtClean="0"/>
              <a:t>DBMS</a:t>
            </a:r>
          </a:p>
          <a:p>
            <a:r>
              <a:rPr lang="en-IN" dirty="0" smtClean="0"/>
              <a:t>Data Models</a:t>
            </a:r>
          </a:p>
          <a:p>
            <a:r>
              <a:rPr lang="en-IN" dirty="0" smtClean="0"/>
              <a:t>Query Languages</a:t>
            </a:r>
          </a:p>
          <a:p>
            <a:r>
              <a:rPr lang="en-IN" dirty="0" smtClean="0"/>
              <a:t>Architecture</a:t>
            </a:r>
          </a:p>
          <a:p>
            <a:r>
              <a:rPr lang="en-IN" smtClean="0"/>
              <a:t>Data Structures</a:t>
            </a:r>
            <a:endParaRPr lang="en-IN"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50</a:t>
            </a:fld>
            <a:endParaRPr lang="en-US"/>
          </a:p>
        </p:txBody>
      </p:sp>
    </p:spTree>
    <p:extLst>
      <p:ext uri="{BB962C8B-B14F-4D97-AF65-F5344CB8AC3E}">
        <p14:creationId xmlns:p14="http://schemas.microsoft.com/office/powerpoint/2010/main" val="178545245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640</TotalTime>
  <Words>2200</Words>
  <Application>Microsoft Office PowerPoint</Application>
  <PresentationFormat>On-screen Show (4:3)</PresentationFormat>
  <Paragraphs>440</Paragraphs>
  <Slides>50</Slides>
  <Notes>13</Notes>
  <HiddenSlides>0</HiddenSlides>
  <MMClips>0</MMClip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Office Theme</vt:lpstr>
      <vt:lpstr>RELATIONAL DATABASE MANAGEMENT SYSTEMS</vt:lpstr>
      <vt:lpstr> Database Management Systems (DBMS) </vt:lpstr>
      <vt:lpstr>Student Student(Rollno, Sname, Age, Branch, City, Marks)</vt:lpstr>
      <vt:lpstr>Examples of commercial database management systems</vt:lpstr>
      <vt:lpstr>Database Management System </vt:lpstr>
      <vt:lpstr>Operations on Databases</vt:lpstr>
      <vt:lpstr> Database Applications </vt:lpstr>
      <vt:lpstr>Purpose of Database Systems</vt:lpstr>
      <vt:lpstr>ADVANTAGES OF DBMS</vt:lpstr>
      <vt:lpstr>KEYS </vt:lpstr>
      <vt:lpstr>Candidate Keys</vt:lpstr>
      <vt:lpstr>Foreign Key </vt:lpstr>
      <vt:lpstr>Integrity Rules</vt:lpstr>
      <vt:lpstr>Schema and Sub Schema</vt:lpstr>
      <vt:lpstr>Data Sub Language</vt:lpstr>
      <vt:lpstr>Levels of Abstraction</vt:lpstr>
      <vt:lpstr> The Three Schema architecture.</vt:lpstr>
      <vt:lpstr>Three Level Architecture</vt:lpstr>
      <vt:lpstr>Three Level Architecture</vt:lpstr>
      <vt:lpstr>Three Level Architecture</vt:lpstr>
      <vt:lpstr>Three Schema Architecture</vt:lpstr>
      <vt:lpstr>Database Users</vt:lpstr>
      <vt:lpstr>PowerPoint Presentation</vt:lpstr>
      <vt:lpstr>Data Dictionary - Metadata</vt:lpstr>
      <vt:lpstr>Data Definition Language (DDL)</vt:lpstr>
      <vt:lpstr>Data Manipulation Language (DML)</vt:lpstr>
      <vt:lpstr>ORACLE</vt:lpstr>
      <vt:lpstr>Overall System Structure </vt:lpstr>
      <vt:lpstr>PowerPoint Presentation</vt:lpstr>
      <vt:lpstr>DATA  MODELS</vt:lpstr>
      <vt:lpstr>DATA MODELS</vt:lpstr>
      <vt:lpstr>DATA MODELS</vt:lpstr>
      <vt:lpstr>PowerPoint Presentation</vt:lpstr>
      <vt:lpstr>Relation Example</vt:lpstr>
      <vt:lpstr>Relations</vt:lpstr>
      <vt:lpstr>Relational Model</vt:lpstr>
      <vt:lpstr>Relational Model</vt:lpstr>
      <vt:lpstr>RDBMS </vt:lpstr>
      <vt:lpstr>RDBMS </vt:lpstr>
      <vt:lpstr>RDBMS </vt:lpstr>
      <vt:lpstr>RDBMS </vt:lpstr>
      <vt:lpstr>RDBMS </vt:lpstr>
      <vt:lpstr>RDBMS </vt:lpstr>
      <vt:lpstr>RDBMS </vt:lpstr>
      <vt:lpstr>RDBMS </vt:lpstr>
      <vt:lpstr>RDBMS </vt:lpstr>
      <vt:lpstr>RDBMS </vt:lpstr>
      <vt:lpstr>RDBMS </vt:lpstr>
      <vt:lpstr>RDBMS </vt:lpstr>
      <vt:lpstr>Conclusion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MANAGEMENT SYSTEMS</dc:title>
  <dc:creator>Admin</dc:creator>
  <cp:lastModifiedBy>DELL</cp:lastModifiedBy>
  <cp:revision>155</cp:revision>
  <dcterms:created xsi:type="dcterms:W3CDTF">2006-08-16T00:00:00Z</dcterms:created>
  <dcterms:modified xsi:type="dcterms:W3CDTF">2025-10-31T04:46:34Z</dcterms:modified>
</cp:coreProperties>
</file>