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50"/>
  </p:notesMasterIdLst>
  <p:sldIdLst>
    <p:sldId id="256" r:id="rId4"/>
    <p:sldId id="257" r:id="rId5"/>
    <p:sldId id="258" r:id="rId6"/>
    <p:sldId id="259" r:id="rId7"/>
    <p:sldId id="260" r:id="rId8"/>
    <p:sldId id="290" r:id="rId9"/>
    <p:sldId id="261" r:id="rId10"/>
    <p:sldId id="298" r:id="rId11"/>
    <p:sldId id="262" r:id="rId12"/>
    <p:sldId id="292" r:id="rId13"/>
    <p:sldId id="263" r:id="rId14"/>
    <p:sldId id="264" r:id="rId15"/>
    <p:sldId id="265" r:id="rId16"/>
    <p:sldId id="266" r:id="rId17"/>
    <p:sldId id="267" r:id="rId18"/>
    <p:sldId id="268" r:id="rId19"/>
    <p:sldId id="293" r:id="rId20"/>
    <p:sldId id="269" r:id="rId21"/>
    <p:sldId id="270" r:id="rId22"/>
    <p:sldId id="272" r:id="rId23"/>
    <p:sldId id="273" r:id="rId24"/>
    <p:sldId id="274" r:id="rId25"/>
    <p:sldId id="275" r:id="rId26"/>
    <p:sldId id="276" r:id="rId27"/>
    <p:sldId id="278" r:id="rId28"/>
    <p:sldId id="279" r:id="rId29"/>
    <p:sldId id="277" r:id="rId30"/>
    <p:sldId id="280" r:id="rId31"/>
    <p:sldId id="281" r:id="rId32"/>
    <p:sldId id="282" r:id="rId33"/>
    <p:sldId id="283" r:id="rId34"/>
    <p:sldId id="294" r:id="rId35"/>
    <p:sldId id="297" r:id="rId36"/>
    <p:sldId id="295" r:id="rId37"/>
    <p:sldId id="296" r:id="rId38"/>
    <p:sldId id="284" r:id="rId39"/>
    <p:sldId id="299" r:id="rId40"/>
    <p:sldId id="300" r:id="rId41"/>
    <p:sldId id="301" r:id="rId42"/>
    <p:sldId id="302" r:id="rId43"/>
    <p:sldId id="303" r:id="rId44"/>
    <p:sldId id="286" r:id="rId45"/>
    <p:sldId id="287" r:id="rId46"/>
    <p:sldId id="288" r:id="rId47"/>
    <p:sldId id="289" r:id="rId48"/>
    <p:sldId id="291"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drawings/_rels/vmlDrawing2.vml.rels><?xml version="1.0" encoding="UTF-8" standalone="yes"?>
<Relationships xmlns="http://schemas.openxmlformats.org/package/2006/relationships"><Relationship Id="rId1" Type="http://schemas.openxmlformats.org/officeDocument/2006/relationships/image" Target="NULL"/></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9.wmf"/><Relationship Id="rId7" Type="http://schemas.openxmlformats.org/officeDocument/2006/relationships/image" Target="../media/image33.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 Id="rId5" Type="http://schemas.openxmlformats.org/officeDocument/2006/relationships/image" Target="../media/image40.wmf"/><Relationship Id="rId4" Type="http://schemas.openxmlformats.org/officeDocument/2006/relationships/image" Target="../media/image39.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 Id="rId4" Type="http://schemas.openxmlformats.org/officeDocument/2006/relationships/image" Target="../media/image4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F570191-F34F-4B57-863D-9D08177935C9}" type="datetimeFigureOut">
              <a:rPr lang="en-IN" smtClean="0"/>
              <a:t>07-07-2026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E92038-BBA6-4FCC-AD71-D7C5C96155EA}" type="slidenum">
              <a:rPr lang="en-IN" smtClean="0"/>
              <a:t>‹#›</a:t>
            </a:fld>
            <a:endParaRPr lang="en-IN"/>
          </a:p>
        </p:txBody>
      </p:sp>
    </p:spTree>
    <p:extLst>
      <p:ext uri="{BB962C8B-B14F-4D97-AF65-F5344CB8AC3E}">
        <p14:creationId xmlns:p14="http://schemas.microsoft.com/office/powerpoint/2010/main" val="3731487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7891"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13</a:t>
            </a:r>
          </a:p>
        </p:txBody>
      </p:sp>
      <p:sp>
        <p:nvSpPr>
          <p:cNvPr id="3789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789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7894" name="Rectangle 6"/>
          <p:cNvSpPr>
            <a:spLocks noGrp="1" noRot="1" noChangeAspect="1" noChangeArrowheads="1" noTextEdit="1"/>
          </p:cNvSpPr>
          <p:nvPr>
            <p:ph type="sldImg"/>
          </p:nvPr>
        </p:nvSpPr>
        <p:spPr>
          <a:xfrm>
            <a:off x="1150938" y="692150"/>
            <a:ext cx="4556125" cy="3416300"/>
          </a:xfrm>
          <a:ln cap="flat"/>
        </p:spPr>
      </p:sp>
      <p:sp>
        <p:nvSpPr>
          <p:cNvPr id="37895"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8915"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14</a:t>
            </a:r>
          </a:p>
        </p:txBody>
      </p:sp>
      <p:sp>
        <p:nvSpPr>
          <p:cNvPr id="3891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891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38918" name="Rectangle 6"/>
          <p:cNvSpPr>
            <a:spLocks noGrp="1" noRot="1" noChangeAspect="1" noChangeArrowheads="1" noTextEdit="1"/>
          </p:cNvSpPr>
          <p:nvPr>
            <p:ph type="sldImg"/>
          </p:nvPr>
        </p:nvSpPr>
        <p:spPr>
          <a:xfrm>
            <a:off x="1150938" y="692150"/>
            <a:ext cx="4556125" cy="3416300"/>
          </a:xfrm>
          <a:ln cap="flat"/>
        </p:spPr>
      </p:sp>
      <p:sp>
        <p:nvSpPr>
          <p:cNvPr id="3891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0963"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15</a:t>
            </a:r>
          </a:p>
        </p:txBody>
      </p:sp>
      <p:sp>
        <p:nvSpPr>
          <p:cNvPr id="40964"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0965"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0966" name="Rectangle 6"/>
          <p:cNvSpPr>
            <a:spLocks noGrp="1" noRot="1" noChangeAspect="1" noChangeArrowheads="1" noTextEdit="1"/>
          </p:cNvSpPr>
          <p:nvPr>
            <p:ph type="sldImg"/>
          </p:nvPr>
        </p:nvSpPr>
        <p:spPr>
          <a:xfrm>
            <a:off x="1150938" y="692150"/>
            <a:ext cx="4556125" cy="3416300"/>
          </a:xfrm>
          <a:ln cap="flat"/>
        </p:spPr>
      </p:sp>
      <p:sp>
        <p:nvSpPr>
          <p:cNvPr id="40967"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1987"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16</a:t>
            </a:r>
          </a:p>
        </p:txBody>
      </p:sp>
      <p:sp>
        <p:nvSpPr>
          <p:cNvPr id="41988"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1989"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1990" name="Rectangle 6"/>
          <p:cNvSpPr>
            <a:spLocks noGrp="1" noRot="1" noChangeAspect="1" noChangeArrowheads="1" noTextEdit="1"/>
          </p:cNvSpPr>
          <p:nvPr>
            <p:ph type="sldImg"/>
          </p:nvPr>
        </p:nvSpPr>
        <p:spPr>
          <a:xfrm>
            <a:off x="1150938" y="692150"/>
            <a:ext cx="4556125" cy="3416300"/>
          </a:xfrm>
          <a:ln cap="flat"/>
        </p:spPr>
      </p:sp>
      <p:sp>
        <p:nvSpPr>
          <p:cNvPr id="41991"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3011"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17</a:t>
            </a:r>
          </a:p>
        </p:txBody>
      </p:sp>
      <p:sp>
        <p:nvSpPr>
          <p:cNvPr id="43012"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3013"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3014" name="Rectangle 6"/>
          <p:cNvSpPr>
            <a:spLocks noGrp="1" noRot="1" noChangeAspect="1" noChangeArrowheads="1" noTextEdit="1"/>
          </p:cNvSpPr>
          <p:nvPr>
            <p:ph type="sldImg"/>
          </p:nvPr>
        </p:nvSpPr>
        <p:spPr>
          <a:xfrm>
            <a:off x="1150938" y="692150"/>
            <a:ext cx="4556125" cy="3416300"/>
          </a:xfrm>
          <a:ln cap="flat"/>
        </p:spPr>
      </p:sp>
      <p:sp>
        <p:nvSpPr>
          <p:cNvPr id="43015"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4035"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18</a:t>
            </a:r>
          </a:p>
        </p:txBody>
      </p:sp>
      <p:sp>
        <p:nvSpPr>
          <p:cNvPr id="44036"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4037"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4038" name="Rectangle 6"/>
          <p:cNvSpPr>
            <a:spLocks noGrp="1" noRot="1" noChangeAspect="1" noChangeArrowheads="1" noTextEdit="1"/>
          </p:cNvSpPr>
          <p:nvPr>
            <p:ph type="sldImg"/>
          </p:nvPr>
        </p:nvSpPr>
        <p:spPr>
          <a:xfrm>
            <a:off x="1150938" y="692150"/>
            <a:ext cx="4556125" cy="3416300"/>
          </a:xfrm>
          <a:ln cap="flat"/>
        </p:spPr>
      </p:sp>
      <p:sp>
        <p:nvSpPr>
          <p:cNvPr id="44039"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3884613" y="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5059" name="Rectangle 3"/>
          <p:cNvSpPr>
            <a:spLocks noChangeArrowheads="1"/>
          </p:cNvSpPr>
          <p:nvPr/>
        </p:nvSpPr>
        <p:spPr bwMode="auto">
          <a:xfrm>
            <a:off x="3884613" y="8686800"/>
            <a:ext cx="2973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p>
            <a:pPr algn="r"/>
            <a:r>
              <a:rPr lang="en-US" altLang="zh-CN" sz="1000" i="1"/>
              <a:t>19</a:t>
            </a:r>
          </a:p>
        </p:txBody>
      </p:sp>
      <p:sp>
        <p:nvSpPr>
          <p:cNvPr id="45060" name="Rectangle 4"/>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5061" name="Rectangle 5"/>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45062" name="Rectangle 6"/>
          <p:cNvSpPr>
            <a:spLocks noGrp="1" noRot="1" noChangeAspect="1" noChangeArrowheads="1" noTextEdit="1"/>
          </p:cNvSpPr>
          <p:nvPr>
            <p:ph type="sldImg"/>
          </p:nvPr>
        </p:nvSpPr>
        <p:spPr>
          <a:xfrm>
            <a:off x="1150938" y="692150"/>
            <a:ext cx="4556125" cy="3416300"/>
          </a:xfrm>
          <a:ln cap="flat"/>
        </p:spPr>
      </p:sp>
      <p:sp>
        <p:nvSpPr>
          <p:cNvPr id="45063"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50938" y="692150"/>
            <a:ext cx="4556125" cy="3416300"/>
          </a:xfrm>
          <a:ln cap="flat"/>
        </p:spPr>
      </p:sp>
      <p:sp>
        <p:nvSpPr>
          <p:cNvPr id="4710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vmlDrawing" Target="../drawings/vmlDrawing1.v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vmlDrawing" Target="../drawings/vmlDrawing2.v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2B9CF66-6AF2-4F6C-A62A-2CC77C847514}"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B471A1-1095-42C8-9E92-52F9136E170A}"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DA46A7-573F-4C6B-A947-9C19C3569052}"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C556D38-451C-47F8-B4E9-8CE33B5281DB}" type="datetime1">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47EDBD4-22ED-4681-8367-75E4D728B6B8}" type="datetime1">
              <a:rPr lang="en-US" smtClean="0"/>
              <a:t>7/7/2026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75A1DFF-7DE7-47C4-AF29-E4EB00D13935}" type="datetime1">
              <a:rPr lang="en-US" smtClean="0"/>
              <a:t>7/7/2026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7DAA12-9922-492E-AB81-CB854816E32A}" type="datetime1">
              <a:rPr lang="en-US" smtClean="0"/>
              <a:t>7/7/2026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366E107-FEC4-4F72-BB01-04C7BDDB30FA}" type="datetime1">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87F8C3-2C40-499B-838C-FEA34D27B687}" type="datetime1">
              <a:rPr lang="en-US" smtClean="0"/>
              <a:t>7/7/2026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0068DE-481F-486A-B786-9C3F6405F829}"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9C1A30-D033-4778-B787-9048E0B9CDC6}" type="datetime1">
              <a:rPr lang="en-US" smtClean="0"/>
              <a:t>7/7/2026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1"/>
            </a:gs>
            <a:gs pos="100000">
              <a:schemeClr val="bg1">
                <a:gamma/>
                <a:shade val="66275"/>
                <a:invGamma/>
              </a:schemeClr>
            </a:gs>
          </a:gsLst>
          <a:lin ang="5400000" scaled="1"/>
        </a:gradFill>
        <a:effectLst/>
      </p:bgPr>
    </p:bg>
    <p:spTree>
      <p:nvGrpSpPr>
        <p:cNvPr id="1" name=""/>
        <p:cNvGrpSpPr/>
        <p:nvPr/>
      </p:nvGrpSpPr>
      <p:grpSpPr>
        <a:xfrm>
          <a:off x="0" y="0"/>
          <a:ext cx="0" cy="0"/>
          <a:chOff x="0" y="0"/>
          <a:chExt cx="0" cy="0"/>
        </a:xfrm>
      </p:grpSpPr>
      <p:sp>
        <p:nvSpPr>
          <p:cNvPr id="4" name="Freeform 1026"/>
          <p:cNvSpPr>
            <a:spLocks/>
          </p:cNvSpPr>
          <p:nvPr/>
        </p:nvSpPr>
        <p:spPr bwMode="gray">
          <a:xfrm>
            <a:off x="690563" y="3340100"/>
            <a:ext cx="7653337" cy="485775"/>
          </a:xfrm>
          <a:custGeom>
            <a:avLst/>
            <a:gdLst>
              <a:gd name="T0" fmla="*/ 302203 w 4128"/>
              <a:gd name="T1" fmla="*/ 202829 h 479"/>
              <a:gd name="T2" fmla="*/ 7653337 w 4128"/>
              <a:gd name="T3" fmla="*/ 202829 h 479"/>
              <a:gd name="T4" fmla="*/ 7653337 w 4128"/>
              <a:gd name="T5" fmla="*/ 435068 h 479"/>
              <a:gd name="T6" fmla="*/ 0 w 4128"/>
              <a:gd name="T7" fmla="*/ 447238 h 479"/>
              <a:gd name="T8" fmla="*/ 302203 w 4128"/>
              <a:gd name="T9" fmla="*/ 202829 h 4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195"/>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aphicFrame>
        <p:nvGraphicFramePr>
          <p:cNvPr id="5" name="Rectangle 1032"/>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9264" name="Clip" r:id="rId3" imgW="0" imgH="0" progId="MS_ClipArt_Gallery.2">
                  <p:embed/>
                </p:oleObj>
              </mc:Choice>
              <mc:Fallback>
                <p:oleObj name="Clip" r:id="rId3" imgW="0" imgH="0" progId="MS_ClipArt_Gallery.2">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3" name="Rectangle 1027"/>
          <p:cNvSpPr>
            <a:spLocks noGrp="1" noChangeArrowheads="1"/>
          </p:cNvSpPr>
          <p:nvPr>
            <p:ph type="ctrTitle"/>
          </p:nvPr>
        </p:nvSpPr>
        <p:spPr>
          <a:xfrm>
            <a:off x="685800" y="2286000"/>
            <a:ext cx="7772400" cy="1143000"/>
          </a:xfrm>
        </p:spPr>
        <p:txBody>
          <a:bodyPr/>
          <a:lstStyle>
            <a:lvl1pPr>
              <a:defRPr/>
            </a:lvl1pPr>
          </a:lstStyle>
          <a:p>
            <a:pPr lvl="0"/>
            <a:r>
              <a:rPr lang="en-US" noProof="0" smtClean="0"/>
              <a:t>Click to edit Master title style</a:t>
            </a:r>
          </a:p>
        </p:txBody>
      </p:sp>
      <p:sp>
        <p:nvSpPr>
          <p:cNvPr id="97284" name="Rectangle 1028"/>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pPr lvl="0"/>
            <a:r>
              <a:rPr lang="en-US" noProof="0" smtClean="0"/>
              <a:t>Click to edit Master subtitle style</a:t>
            </a:r>
          </a:p>
        </p:txBody>
      </p:sp>
      <p:sp>
        <p:nvSpPr>
          <p:cNvPr id="6" name="Rectangle 1029"/>
          <p:cNvSpPr>
            <a:spLocks noGrp="1" noChangeArrowheads="1"/>
          </p:cNvSpPr>
          <p:nvPr>
            <p:ph type="dt" sz="half" idx="10"/>
          </p:nvPr>
        </p:nvSpPr>
        <p:spPr/>
        <p:txBody>
          <a:bodyPr/>
          <a:lstStyle>
            <a:lvl1pPr>
              <a:defRPr smtClean="0">
                <a:solidFill>
                  <a:srgbClr val="578963"/>
                </a:solidFill>
              </a:defRPr>
            </a:lvl1pPr>
          </a:lstStyle>
          <a:p>
            <a:pPr>
              <a:defRPr/>
            </a:pPr>
            <a:endParaRPr lang="en-US"/>
          </a:p>
        </p:txBody>
      </p:sp>
      <p:sp>
        <p:nvSpPr>
          <p:cNvPr id="7" name="Rectangle 1030"/>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buClrTx/>
              <a:buSzTx/>
              <a:buFontTx/>
              <a:buNone/>
              <a:defRPr kumimoji="0" sz="1400" i="0" smtClean="0">
                <a:solidFill>
                  <a:srgbClr val="578963"/>
                </a:solidFill>
                <a:latin typeface="Times New Roman" charset="0"/>
              </a:defRPr>
            </a:lvl1pPr>
          </a:lstStyle>
          <a:p>
            <a:pPr eaLnBrk="0" fontAlgn="base" hangingPunct="0">
              <a:spcAft>
                <a:spcPct val="0"/>
              </a:spcAft>
              <a:defRPr/>
            </a:pPr>
            <a:endParaRPr lang="en-US">
              <a:sym typeface="Symbol" pitchFamily="18" charset="2"/>
            </a:endParaRPr>
          </a:p>
        </p:txBody>
      </p:sp>
      <p:sp>
        <p:nvSpPr>
          <p:cNvPr id="8" name="Rectangle 1031"/>
          <p:cNvSpPr>
            <a:spLocks noGrp="1" noChangeArrowheads="1"/>
          </p:cNvSpPr>
          <p:nvPr>
            <p:ph type="sldNum" sz="quarter" idx="12"/>
          </p:nvPr>
        </p:nvSpPr>
        <p:spPr/>
        <p:txBody>
          <a:bodyPr/>
          <a:lstStyle>
            <a:lvl1pPr>
              <a:defRPr smtClean="0">
                <a:solidFill>
                  <a:srgbClr val="578963"/>
                </a:solidFill>
              </a:defRPr>
            </a:lvl1pPr>
          </a:lstStyle>
          <a:p>
            <a:pPr>
              <a:defRPr/>
            </a:pPr>
            <a:fld id="{B64CBAED-C639-4594-BBD4-3A6D74DBC909}" type="slidenum">
              <a:rPr lang="en-US"/>
              <a:pPr>
                <a:defRPr/>
              </a:pPr>
              <a:t>‹#›</a:t>
            </a:fld>
            <a:endParaRPr lang="en-US"/>
          </a:p>
        </p:txBody>
      </p:sp>
    </p:spTree>
    <p:extLst>
      <p:ext uri="{BB962C8B-B14F-4D97-AF65-F5344CB8AC3E}">
        <p14:creationId xmlns:p14="http://schemas.microsoft.com/office/powerpoint/2010/main" val="42910104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64FD3154-A161-49C2-8C84-B0055C47DF04}"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2646869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500729F6-9280-4FE6-A923-5DC9CB55B927}"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35694618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571500" y="1114425"/>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572000" y="1114425"/>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6" name="Rectangle 5"/>
          <p:cNvSpPr>
            <a:spLocks noGrp="1" noChangeArrowheads="1"/>
          </p:cNvSpPr>
          <p:nvPr>
            <p:ph type="sldNum" sz="quarter" idx="11"/>
          </p:nvPr>
        </p:nvSpPr>
        <p:spPr>
          <a:ln/>
        </p:spPr>
        <p:txBody>
          <a:bodyPr/>
          <a:lstStyle>
            <a:lvl1pPr>
              <a:defRPr/>
            </a:lvl1pPr>
          </a:lstStyle>
          <a:p>
            <a:pPr>
              <a:defRPr/>
            </a:pPr>
            <a:fld id="{6680F911-435F-4996-A1B7-004642BC95A2}"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19243038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8" name="Rectangle 5"/>
          <p:cNvSpPr>
            <a:spLocks noGrp="1" noChangeArrowheads="1"/>
          </p:cNvSpPr>
          <p:nvPr>
            <p:ph type="sldNum" sz="quarter" idx="11"/>
          </p:nvPr>
        </p:nvSpPr>
        <p:spPr>
          <a:ln/>
        </p:spPr>
        <p:txBody>
          <a:bodyPr/>
          <a:lstStyle>
            <a:lvl1pPr>
              <a:defRPr/>
            </a:lvl1pPr>
          </a:lstStyle>
          <a:p>
            <a:pPr>
              <a:defRPr/>
            </a:pPr>
            <a:fld id="{B37FFADB-4FAA-41B9-A416-DFF8C074DB3C}"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34000066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4" name="Rectangle 5"/>
          <p:cNvSpPr>
            <a:spLocks noGrp="1" noChangeArrowheads="1"/>
          </p:cNvSpPr>
          <p:nvPr>
            <p:ph type="sldNum" sz="quarter" idx="11"/>
          </p:nvPr>
        </p:nvSpPr>
        <p:spPr>
          <a:ln/>
        </p:spPr>
        <p:txBody>
          <a:bodyPr/>
          <a:lstStyle>
            <a:lvl1pPr>
              <a:defRPr/>
            </a:lvl1pPr>
          </a:lstStyle>
          <a:p>
            <a:pPr>
              <a:defRPr/>
            </a:pPr>
            <a:fld id="{14F95EA8-3E91-445C-90CE-52F82BC4C5DA}"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70593897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3" name="Rectangle 5"/>
          <p:cNvSpPr>
            <a:spLocks noGrp="1" noChangeArrowheads="1"/>
          </p:cNvSpPr>
          <p:nvPr>
            <p:ph type="sldNum" sz="quarter" idx="11"/>
          </p:nvPr>
        </p:nvSpPr>
        <p:spPr>
          <a:ln/>
        </p:spPr>
        <p:txBody>
          <a:bodyPr/>
          <a:lstStyle>
            <a:lvl1pPr>
              <a:defRPr/>
            </a:lvl1pPr>
          </a:lstStyle>
          <a:p>
            <a:pPr>
              <a:defRPr/>
            </a:pPr>
            <a:fld id="{B5561C1C-EB92-4C43-BA6B-9B5F8D2D0D79}"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33864616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6" name="Rectangle 5"/>
          <p:cNvSpPr>
            <a:spLocks noGrp="1" noChangeArrowheads="1"/>
          </p:cNvSpPr>
          <p:nvPr>
            <p:ph type="sldNum" sz="quarter" idx="11"/>
          </p:nvPr>
        </p:nvSpPr>
        <p:spPr>
          <a:ln/>
        </p:spPr>
        <p:txBody>
          <a:bodyPr/>
          <a:lstStyle>
            <a:lvl1pPr>
              <a:defRPr/>
            </a:lvl1pPr>
          </a:lstStyle>
          <a:p>
            <a:pPr>
              <a:defRPr/>
            </a:pPr>
            <a:fld id="{89DB4AD3-D076-49DB-8FAC-27F517E81976}"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13521984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6" name="Rectangle 5"/>
          <p:cNvSpPr>
            <a:spLocks noGrp="1" noChangeArrowheads="1"/>
          </p:cNvSpPr>
          <p:nvPr>
            <p:ph type="sldNum" sz="quarter" idx="11"/>
          </p:nvPr>
        </p:nvSpPr>
        <p:spPr>
          <a:ln/>
        </p:spPr>
        <p:txBody>
          <a:bodyPr/>
          <a:lstStyle>
            <a:lvl1pPr>
              <a:defRPr/>
            </a:lvl1pPr>
          </a:lstStyle>
          <a:p>
            <a:pPr>
              <a:defRPr/>
            </a:pPr>
            <a:fld id="{7E69F56C-3216-4CDD-A91D-9A57DCB034A8}"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36207034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8B3B84B3-A64F-4187-8370-8AA527AE08B1}"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21398874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200025"/>
            <a:ext cx="2019300" cy="57912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552450" y="200025"/>
            <a:ext cx="590550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2556887E-D350-4963-8E95-C04352890D98}"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25299290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rotWithShape="0">
          <a:gsLst>
            <a:gs pos="0">
              <a:schemeClr val="bg1"/>
            </a:gs>
            <a:gs pos="100000">
              <a:schemeClr val="bg1">
                <a:gamma/>
                <a:shade val="66275"/>
                <a:invGamma/>
              </a:schemeClr>
            </a:gs>
          </a:gsLst>
          <a:lin ang="5400000" scaled="1"/>
        </a:gradFill>
        <a:effectLst/>
      </p:bgPr>
    </p:bg>
    <p:spTree>
      <p:nvGrpSpPr>
        <p:cNvPr id="1" name=""/>
        <p:cNvGrpSpPr/>
        <p:nvPr/>
      </p:nvGrpSpPr>
      <p:grpSpPr>
        <a:xfrm>
          <a:off x="0" y="0"/>
          <a:ext cx="0" cy="0"/>
          <a:chOff x="0" y="0"/>
          <a:chExt cx="0" cy="0"/>
        </a:xfrm>
      </p:grpSpPr>
      <p:sp>
        <p:nvSpPr>
          <p:cNvPr id="4" name="Freeform 1026"/>
          <p:cNvSpPr>
            <a:spLocks/>
          </p:cNvSpPr>
          <p:nvPr/>
        </p:nvSpPr>
        <p:spPr bwMode="gray">
          <a:xfrm>
            <a:off x="690563" y="3340100"/>
            <a:ext cx="7653337" cy="485775"/>
          </a:xfrm>
          <a:custGeom>
            <a:avLst/>
            <a:gdLst>
              <a:gd name="T0" fmla="*/ 302203 w 4128"/>
              <a:gd name="T1" fmla="*/ 202829 h 479"/>
              <a:gd name="T2" fmla="*/ 7653337 w 4128"/>
              <a:gd name="T3" fmla="*/ 202829 h 479"/>
              <a:gd name="T4" fmla="*/ 7653337 w 4128"/>
              <a:gd name="T5" fmla="*/ 435068 h 479"/>
              <a:gd name="T6" fmla="*/ 0 w 4128"/>
              <a:gd name="T7" fmla="*/ 447238 h 479"/>
              <a:gd name="T8" fmla="*/ 302203 w 4128"/>
              <a:gd name="T9" fmla="*/ 202829 h 4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195"/>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aphicFrame>
        <p:nvGraphicFramePr>
          <p:cNvPr id="5" name="Rectangle 1032"/>
          <p:cNvGraphicFramePr>
            <a:graphicFrameLocks/>
          </p:cNvGraphicFramePr>
          <p:nvPr/>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10286" name="Clip" r:id="rId3" imgW="0" imgH="0" progId="MS_ClipArt_Gallery.2">
                  <p:embed/>
                </p:oleObj>
              </mc:Choice>
              <mc:Fallback>
                <p:oleObj name="Clip" r:id="rId3" imgW="0" imgH="0" progId="MS_ClipArt_Gallery.2">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83" name="Rectangle 1027"/>
          <p:cNvSpPr>
            <a:spLocks noGrp="1" noChangeArrowheads="1"/>
          </p:cNvSpPr>
          <p:nvPr>
            <p:ph type="ctrTitle"/>
          </p:nvPr>
        </p:nvSpPr>
        <p:spPr>
          <a:xfrm>
            <a:off x="685800" y="2286000"/>
            <a:ext cx="7772400" cy="1143000"/>
          </a:xfrm>
        </p:spPr>
        <p:txBody>
          <a:bodyPr/>
          <a:lstStyle>
            <a:lvl1pPr>
              <a:defRPr/>
            </a:lvl1pPr>
          </a:lstStyle>
          <a:p>
            <a:pPr lvl="0"/>
            <a:r>
              <a:rPr lang="en-US" noProof="0" smtClean="0"/>
              <a:t>Click to edit Master title style</a:t>
            </a:r>
          </a:p>
        </p:txBody>
      </p:sp>
      <p:sp>
        <p:nvSpPr>
          <p:cNvPr id="97284" name="Rectangle 1028"/>
          <p:cNvSpPr>
            <a:spLocks noGrp="1" noChangeArrowheads="1"/>
          </p:cNvSpPr>
          <p:nvPr>
            <p:ph type="subTitle" idx="1"/>
          </p:nvPr>
        </p:nvSpPr>
        <p:spPr>
          <a:xfrm>
            <a:off x="1371600" y="3886200"/>
            <a:ext cx="6400800" cy="1752600"/>
          </a:xfrm>
        </p:spPr>
        <p:txBody>
          <a:bodyPr/>
          <a:lstStyle>
            <a:lvl1pPr marL="0" indent="0" algn="ctr">
              <a:buFont typeface="Monotype Sorts" pitchFamily="2" charset="2"/>
              <a:buNone/>
              <a:defRPr/>
            </a:lvl1pPr>
          </a:lstStyle>
          <a:p>
            <a:pPr lvl="0"/>
            <a:r>
              <a:rPr lang="en-US" noProof="0" smtClean="0"/>
              <a:t>Click to edit Master subtitle style</a:t>
            </a:r>
          </a:p>
        </p:txBody>
      </p:sp>
      <p:sp>
        <p:nvSpPr>
          <p:cNvPr id="6" name="Rectangle 1029"/>
          <p:cNvSpPr>
            <a:spLocks noGrp="1" noChangeArrowheads="1"/>
          </p:cNvSpPr>
          <p:nvPr>
            <p:ph type="dt" sz="half" idx="10"/>
          </p:nvPr>
        </p:nvSpPr>
        <p:spPr/>
        <p:txBody>
          <a:bodyPr/>
          <a:lstStyle>
            <a:lvl1pPr>
              <a:defRPr smtClean="0">
                <a:solidFill>
                  <a:srgbClr val="578963"/>
                </a:solidFill>
              </a:defRPr>
            </a:lvl1pPr>
          </a:lstStyle>
          <a:p>
            <a:pPr>
              <a:defRPr/>
            </a:pPr>
            <a:endParaRPr lang="en-US"/>
          </a:p>
        </p:txBody>
      </p:sp>
      <p:sp>
        <p:nvSpPr>
          <p:cNvPr id="7" name="Rectangle 1030"/>
          <p:cNvSpPr>
            <a:spLocks noGrp="1" noChangeArrowheads="1"/>
          </p:cNvSpPr>
          <p:nvPr>
            <p:ph type="ftr" sz="quarter" idx="11"/>
          </p:nvPr>
        </p:nvSpPr>
        <p:spPr bwMode="auto">
          <a:xfrm>
            <a:off x="3124200" y="62484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a:spcBef>
                <a:spcPct val="50000"/>
              </a:spcBef>
              <a:buClrTx/>
              <a:buSzTx/>
              <a:buFontTx/>
              <a:buNone/>
              <a:defRPr kumimoji="0" sz="1400" i="0" smtClean="0">
                <a:solidFill>
                  <a:srgbClr val="578963"/>
                </a:solidFill>
                <a:latin typeface="Times New Roman" charset="0"/>
              </a:defRPr>
            </a:lvl1pPr>
          </a:lstStyle>
          <a:p>
            <a:pPr eaLnBrk="0" fontAlgn="base" hangingPunct="0">
              <a:spcAft>
                <a:spcPct val="0"/>
              </a:spcAft>
              <a:defRPr/>
            </a:pPr>
            <a:endParaRPr lang="en-US">
              <a:sym typeface="Symbol" pitchFamily="18" charset="2"/>
            </a:endParaRPr>
          </a:p>
        </p:txBody>
      </p:sp>
      <p:sp>
        <p:nvSpPr>
          <p:cNvPr id="8" name="Rectangle 1031"/>
          <p:cNvSpPr>
            <a:spLocks noGrp="1" noChangeArrowheads="1"/>
          </p:cNvSpPr>
          <p:nvPr>
            <p:ph type="sldNum" sz="quarter" idx="12"/>
          </p:nvPr>
        </p:nvSpPr>
        <p:spPr/>
        <p:txBody>
          <a:bodyPr/>
          <a:lstStyle>
            <a:lvl1pPr>
              <a:defRPr smtClean="0">
                <a:solidFill>
                  <a:srgbClr val="578963"/>
                </a:solidFill>
              </a:defRPr>
            </a:lvl1pPr>
          </a:lstStyle>
          <a:p>
            <a:pPr>
              <a:defRPr/>
            </a:pPr>
            <a:fld id="{B64CBAED-C639-4594-BBD4-3A6D74DBC909}" type="slidenum">
              <a:rPr lang="en-US"/>
              <a:pPr>
                <a:defRPr/>
              </a:pPr>
              <a:t>‹#›</a:t>
            </a:fld>
            <a:endParaRPr lang="en-US"/>
          </a:p>
        </p:txBody>
      </p:sp>
    </p:spTree>
    <p:extLst>
      <p:ext uri="{BB962C8B-B14F-4D97-AF65-F5344CB8AC3E}">
        <p14:creationId xmlns:p14="http://schemas.microsoft.com/office/powerpoint/2010/main" val="56228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64FD3154-A161-49C2-8C84-B0055C47DF04}"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12900546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500729F6-9280-4FE6-A923-5DC9CB55B927}"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2224749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571500" y="1114425"/>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572000" y="1114425"/>
            <a:ext cx="38481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6" name="Rectangle 5"/>
          <p:cNvSpPr>
            <a:spLocks noGrp="1" noChangeArrowheads="1"/>
          </p:cNvSpPr>
          <p:nvPr>
            <p:ph type="sldNum" sz="quarter" idx="11"/>
          </p:nvPr>
        </p:nvSpPr>
        <p:spPr>
          <a:ln/>
        </p:spPr>
        <p:txBody>
          <a:bodyPr/>
          <a:lstStyle>
            <a:lvl1pPr>
              <a:defRPr/>
            </a:lvl1pPr>
          </a:lstStyle>
          <a:p>
            <a:pPr>
              <a:defRPr/>
            </a:pPr>
            <a:fld id="{6680F911-435F-4996-A1B7-004642BC95A2}"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30308051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8" name="Rectangle 5"/>
          <p:cNvSpPr>
            <a:spLocks noGrp="1" noChangeArrowheads="1"/>
          </p:cNvSpPr>
          <p:nvPr>
            <p:ph type="sldNum" sz="quarter" idx="11"/>
          </p:nvPr>
        </p:nvSpPr>
        <p:spPr>
          <a:ln/>
        </p:spPr>
        <p:txBody>
          <a:bodyPr/>
          <a:lstStyle>
            <a:lvl1pPr>
              <a:defRPr/>
            </a:lvl1pPr>
          </a:lstStyle>
          <a:p>
            <a:pPr>
              <a:defRPr/>
            </a:pPr>
            <a:fld id="{B37FFADB-4FAA-41B9-A416-DFF8C074DB3C}"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14881310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4" name="Rectangle 5"/>
          <p:cNvSpPr>
            <a:spLocks noGrp="1" noChangeArrowheads="1"/>
          </p:cNvSpPr>
          <p:nvPr>
            <p:ph type="sldNum" sz="quarter" idx="11"/>
          </p:nvPr>
        </p:nvSpPr>
        <p:spPr>
          <a:ln/>
        </p:spPr>
        <p:txBody>
          <a:bodyPr/>
          <a:lstStyle>
            <a:lvl1pPr>
              <a:defRPr/>
            </a:lvl1pPr>
          </a:lstStyle>
          <a:p>
            <a:pPr>
              <a:defRPr/>
            </a:pPr>
            <a:fld id="{14F95EA8-3E91-445C-90CE-52F82BC4C5DA}"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40962058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3" name="Rectangle 5"/>
          <p:cNvSpPr>
            <a:spLocks noGrp="1" noChangeArrowheads="1"/>
          </p:cNvSpPr>
          <p:nvPr>
            <p:ph type="sldNum" sz="quarter" idx="11"/>
          </p:nvPr>
        </p:nvSpPr>
        <p:spPr>
          <a:ln/>
        </p:spPr>
        <p:txBody>
          <a:bodyPr/>
          <a:lstStyle>
            <a:lvl1pPr>
              <a:defRPr/>
            </a:lvl1pPr>
          </a:lstStyle>
          <a:p>
            <a:pPr>
              <a:defRPr/>
            </a:pPr>
            <a:fld id="{B5561C1C-EB92-4C43-BA6B-9B5F8D2D0D79}"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10356100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6" name="Rectangle 5"/>
          <p:cNvSpPr>
            <a:spLocks noGrp="1" noChangeArrowheads="1"/>
          </p:cNvSpPr>
          <p:nvPr>
            <p:ph type="sldNum" sz="quarter" idx="11"/>
          </p:nvPr>
        </p:nvSpPr>
        <p:spPr>
          <a:ln/>
        </p:spPr>
        <p:txBody>
          <a:bodyPr/>
          <a:lstStyle>
            <a:lvl1pPr>
              <a:defRPr/>
            </a:lvl1pPr>
          </a:lstStyle>
          <a:p>
            <a:pPr>
              <a:defRPr/>
            </a:pPr>
            <a:fld id="{89DB4AD3-D076-49DB-8FAC-27F517E81976}"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8897685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6" name="Rectangle 5"/>
          <p:cNvSpPr>
            <a:spLocks noGrp="1" noChangeArrowheads="1"/>
          </p:cNvSpPr>
          <p:nvPr>
            <p:ph type="sldNum" sz="quarter" idx="11"/>
          </p:nvPr>
        </p:nvSpPr>
        <p:spPr>
          <a:ln/>
        </p:spPr>
        <p:txBody>
          <a:bodyPr/>
          <a:lstStyle>
            <a:lvl1pPr>
              <a:defRPr/>
            </a:lvl1pPr>
          </a:lstStyle>
          <a:p>
            <a:pPr>
              <a:defRPr/>
            </a:pPr>
            <a:fld id="{7E69F56C-3216-4CDD-A91D-9A57DCB034A8}"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40579741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8B3B84B3-A64F-4187-8370-8AA527AE08B1}"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31146315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200025"/>
            <a:ext cx="2019300" cy="5791200"/>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552450" y="200025"/>
            <a:ext cx="590550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666699"/>
              </a:solidFill>
            </a:endParaRPr>
          </a:p>
        </p:txBody>
      </p:sp>
      <p:sp>
        <p:nvSpPr>
          <p:cNvPr id="5" name="Rectangle 5"/>
          <p:cNvSpPr>
            <a:spLocks noGrp="1" noChangeArrowheads="1"/>
          </p:cNvSpPr>
          <p:nvPr>
            <p:ph type="sldNum" sz="quarter" idx="11"/>
          </p:nvPr>
        </p:nvSpPr>
        <p:spPr>
          <a:ln/>
        </p:spPr>
        <p:txBody>
          <a:bodyPr/>
          <a:lstStyle>
            <a:lvl1pPr>
              <a:defRPr/>
            </a:lvl1pPr>
          </a:lstStyle>
          <a:p>
            <a:pPr>
              <a:defRPr/>
            </a:pPr>
            <a:fld id="{2556887E-D350-4963-8E95-C04352890D98}" type="slidenum">
              <a:rPr lang="en-US">
                <a:solidFill>
                  <a:srgbClr val="666699"/>
                </a:solidFill>
              </a:rPr>
              <a:pPr>
                <a:defRPr/>
              </a:pPr>
              <a:t>‹#›</a:t>
            </a:fld>
            <a:endParaRPr lang="en-US">
              <a:solidFill>
                <a:srgbClr val="666699"/>
              </a:solidFill>
            </a:endParaRPr>
          </a:p>
        </p:txBody>
      </p:sp>
    </p:spTree>
    <p:extLst>
      <p:ext uri="{BB962C8B-B14F-4D97-AF65-F5344CB8AC3E}">
        <p14:creationId xmlns:p14="http://schemas.microsoft.com/office/powerpoint/2010/main" val="1272388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FE2C32-8817-4347-924C-8066906BEA18}" type="datetime1">
              <a:rPr lang="en-US" smtClean="0"/>
              <a:t>7/7/2026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76078"/>
                <a:invGamma/>
              </a:schemeClr>
            </a:gs>
          </a:gsLst>
          <a:lin ang="5400000" scaled="1"/>
        </a:gra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52400"/>
            <a:ext cx="9144000" cy="1314450"/>
          </a:xfrm>
          <a:prstGeom prst="rect">
            <a:avLst/>
          </a:prstGeom>
          <a:gradFill rotWithShape="0">
            <a:gsLst>
              <a:gs pos="0">
                <a:srgbClr val="FFFFFF"/>
              </a:gs>
              <a:gs pos="100000">
                <a:schemeClr val="bg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27" name="Rectangle 3"/>
          <p:cNvSpPr>
            <a:spLocks noGrp="1" noChangeArrowheads="1"/>
          </p:cNvSpPr>
          <p:nvPr>
            <p:ph type="body" idx="1"/>
          </p:nvPr>
        </p:nvSpPr>
        <p:spPr bwMode="auto">
          <a:xfrm>
            <a:off x="571500" y="1114425"/>
            <a:ext cx="78486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6260"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buClrTx/>
              <a:buSzTx/>
              <a:buFontTx/>
              <a:buNone/>
              <a:defRPr kumimoji="0" sz="1400" i="0" smtClean="0">
                <a:solidFill>
                  <a:schemeClr val="bg2"/>
                </a:solidFill>
                <a:latin typeface="Times New Roman" charset="0"/>
              </a:defRPr>
            </a:lvl1pPr>
          </a:lstStyle>
          <a:p>
            <a:pPr eaLnBrk="0" fontAlgn="base" hangingPunct="0">
              <a:spcAft>
                <a:spcPct val="0"/>
              </a:spcAft>
              <a:defRPr/>
            </a:pPr>
            <a:endParaRPr lang="en-US">
              <a:solidFill>
                <a:srgbClr val="666699"/>
              </a:solidFill>
              <a:sym typeface="Symbol" pitchFamily="18" charset="2"/>
            </a:endParaRPr>
          </a:p>
        </p:txBody>
      </p:sp>
      <p:sp>
        <p:nvSpPr>
          <p:cNvPr id="96261" name="Rectangle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buClrTx/>
              <a:buSzTx/>
              <a:buFontTx/>
              <a:buNone/>
              <a:defRPr kumimoji="0" sz="1400" i="0" smtClean="0">
                <a:solidFill>
                  <a:schemeClr val="bg2"/>
                </a:solidFill>
                <a:latin typeface="Times New Roman" charset="0"/>
              </a:defRPr>
            </a:lvl1pPr>
          </a:lstStyle>
          <a:p>
            <a:pPr eaLnBrk="0" fontAlgn="base" hangingPunct="0">
              <a:spcAft>
                <a:spcPct val="0"/>
              </a:spcAft>
              <a:defRPr/>
            </a:pPr>
            <a:fld id="{084DA3EB-42B6-4084-AC0B-DAA33BCFB076}" type="slidenum">
              <a:rPr lang="en-US">
                <a:solidFill>
                  <a:srgbClr val="666699"/>
                </a:solidFill>
                <a:sym typeface="Symbol" pitchFamily="18" charset="2"/>
              </a:rPr>
              <a:pPr eaLnBrk="0" fontAlgn="base" hangingPunct="0">
                <a:spcAft>
                  <a:spcPct val="0"/>
                </a:spcAft>
                <a:defRPr/>
              </a:pPr>
              <a:t>‹#›</a:t>
            </a:fld>
            <a:endParaRPr lang="en-US">
              <a:solidFill>
                <a:srgbClr val="666699"/>
              </a:solidFill>
              <a:sym typeface="Symbol" pitchFamily="18" charset="2"/>
            </a:endParaRPr>
          </a:p>
        </p:txBody>
      </p:sp>
      <p:sp>
        <p:nvSpPr>
          <p:cNvPr id="96262" name="Oval 6"/>
          <p:cNvSpPr>
            <a:spLocks noChangeArrowheads="1"/>
          </p:cNvSpPr>
          <p:nvPr/>
        </p:nvSpPr>
        <p:spPr bwMode="ltGray">
          <a:xfrm>
            <a:off x="142875" y="0"/>
            <a:ext cx="838200" cy="781050"/>
          </a:xfrm>
          <a:prstGeom prst="ellipse">
            <a:avLst/>
          </a:prstGeom>
          <a:gradFill rotWithShape="0">
            <a:gsLst>
              <a:gs pos="0">
                <a:schemeClr val="hlink"/>
              </a:gs>
              <a:gs pos="100000">
                <a:schemeClr val="hlink">
                  <a:gamma/>
                  <a:tint val="70196"/>
                  <a:invGamma/>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35000"/>
              </a:spcBef>
              <a:spcAft>
                <a:spcPct val="0"/>
              </a:spcAft>
              <a:buClr>
                <a:srgbClr val="CC3300"/>
              </a:buClr>
              <a:buSzPct val="90000"/>
              <a:buFont typeface="Monotype Sorts" pitchFamily="2" charset="2"/>
              <a:buNone/>
              <a:defRPr/>
            </a:pPr>
            <a:endParaRPr kumimoji="1" lang="en-IN" i="1">
              <a:solidFill>
                <a:srgbClr val="000000"/>
              </a:solidFill>
              <a:sym typeface="Symbol" pitchFamily="18" charset="2"/>
            </a:endParaRPr>
          </a:p>
        </p:txBody>
      </p:sp>
      <p:sp>
        <p:nvSpPr>
          <p:cNvPr id="1031" name="Freeform 7"/>
          <p:cNvSpPr>
            <a:spLocks/>
          </p:cNvSpPr>
          <p:nvPr/>
        </p:nvSpPr>
        <p:spPr bwMode="auto">
          <a:xfrm>
            <a:off x="31750" y="338138"/>
            <a:ext cx="390525" cy="149225"/>
          </a:xfrm>
          <a:custGeom>
            <a:avLst/>
            <a:gdLst>
              <a:gd name="T0" fmla="*/ 11113 w 246"/>
              <a:gd name="T1" fmla="*/ 82550 h 94"/>
              <a:gd name="T2" fmla="*/ 34925 w 246"/>
              <a:gd name="T3" fmla="*/ 76200 h 94"/>
              <a:gd name="T4" fmla="*/ 60325 w 246"/>
              <a:gd name="T5" fmla="*/ 76200 h 94"/>
              <a:gd name="T6" fmla="*/ 84138 w 246"/>
              <a:gd name="T7" fmla="*/ 79375 h 94"/>
              <a:gd name="T8" fmla="*/ 109538 w 246"/>
              <a:gd name="T9" fmla="*/ 85725 h 94"/>
              <a:gd name="T10" fmla="*/ 133350 w 246"/>
              <a:gd name="T11" fmla="*/ 93663 h 94"/>
              <a:gd name="T12" fmla="*/ 157163 w 246"/>
              <a:gd name="T13" fmla="*/ 103188 h 94"/>
              <a:gd name="T14" fmla="*/ 179388 w 246"/>
              <a:gd name="T15" fmla="*/ 114300 h 94"/>
              <a:gd name="T16" fmla="*/ 196850 w 246"/>
              <a:gd name="T17" fmla="*/ 104775 h 94"/>
              <a:gd name="T18" fmla="*/ 215900 w 246"/>
              <a:gd name="T19" fmla="*/ 76200 h 94"/>
              <a:gd name="T20" fmla="*/ 238125 w 246"/>
              <a:gd name="T21" fmla="*/ 55563 h 94"/>
              <a:gd name="T22" fmla="*/ 263525 w 246"/>
              <a:gd name="T23" fmla="*/ 38100 h 94"/>
              <a:gd name="T24" fmla="*/ 290513 w 246"/>
              <a:gd name="T25" fmla="*/ 25400 h 94"/>
              <a:gd name="T26" fmla="*/ 319088 w 246"/>
              <a:gd name="T27" fmla="*/ 14288 h 94"/>
              <a:gd name="T28" fmla="*/ 347663 w 246"/>
              <a:gd name="T29" fmla="*/ 7938 h 94"/>
              <a:gd name="T30" fmla="*/ 376238 w 246"/>
              <a:gd name="T31" fmla="*/ 1588 h 94"/>
              <a:gd name="T32" fmla="*/ 376238 w 246"/>
              <a:gd name="T33" fmla="*/ 4763 h 94"/>
              <a:gd name="T34" fmla="*/ 352425 w 246"/>
              <a:gd name="T35" fmla="*/ 17463 h 94"/>
              <a:gd name="T36" fmla="*/ 328613 w 246"/>
              <a:gd name="T37" fmla="*/ 30163 h 94"/>
              <a:gd name="T38" fmla="*/ 303213 w 246"/>
              <a:gd name="T39" fmla="*/ 44450 h 94"/>
              <a:gd name="T40" fmla="*/ 280988 w 246"/>
              <a:gd name="T41" fmla="*/ 61913 h 94"/>
              <a:gd name="T42" fmla="*/ 258763 w 246"/>
              <a:gd name="T43" fmla="*/ 80963 h 94"/>
              <a:gd name="T44" fmla="*/ 241300 w 246"/>
              <a:gd name="T45" fmla="*/ 101600 h 94"/>
              <a:gd name="T46" fmla="*/ 225425 w 246"/>
              <a:gd name="T47" fmla="*/ 125413 h 94"/>
              <a:gd name="T48" fmla="*/ 214313 w 246"/>
              <a:gd name="T49" fmla="*/ 142875 h 94"/>
              <a:gd name="T50" fmla="*/ 206375 w 246"/>
              <a:gd name="T51" fmla="*/ 147638 h 94"/>
              <a:gd name="T52" fmla="*/ 195263 w 246"/>
              <a:gd name="T53" fmla="*/ 142875 h 94"/>
              <a:gd name="T54" fmla="*/ 184150 w 246"/>
              <a:gd name="T55" fmla="*/ 138113 h 94"/>
              <a:gd name="T56" fmla="*/ 169863 w 246"/>
              <a:gd name="T57" fmla="*/ 133350 h 94"/>
              <a:gd name="T58" fmla="*/ 147638 w 246"/>
              <a:gd name="T59" fmla="*/ 123825 h 94"/>
              <a:gd name="T60" fmla="*/ 125413 w 246"/>
              <a:gd name="T61" fmla="*/ 112713 h 94"/>
              <a:gd name="T62" fmla="*/ 100013 w 246"/>
              <a:gd name="T63" fmla="*/ 101600 h 94"/>
              <a:gd name="T64" fmla="*/ 74613 w 246"/>
              <a:gd name="T65" fmla="*/ 92075 h 94"/>
              <a:gd name="T66" fmla="*/ 49213 w 246"/>
              <a:gd name="T67" fmla="*/ 85725 h 94"/>
              <a:gd name="T68" fmla="*/ 26988 w 246"/>
              <a:gd name="T69" fmla="*/ 82550 h 94"/>
              <a:gd name="T70" fmla="*/ 7938 w 246"/>
              <a:gd name="T71" fmla="*/ 84138 h 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46" h="94">
                <a:moveTo>
                  <a:pt x="0" y="55"/>
                </a:moveTo>
                <a:lnTo>
                  <a:pt x="7" y="52"/>
                </a:lnTo>
                <a:lnTo>
                  <a:pt x="14" y="50"/>
                </a:lnTo>
                <a:lnTo>
                  <a:pt x="22" y="48"/>
                </a:lnTo>
                <a:lnTo>
                  <a:pt x="30" y="48"/>
                </a:lnTo>
                <a:lnTo>
                  <a:pt x="38" y="48"/>
                </a:lnTo>
                <a:lnTo>
                  <a:pt x="45" y="48"/>
                </a:lnTo>
                <a:lnTo>
                  <a:pt x="53" y="50"/>
                </a:lnTo>
                <a:lnTo>
                  <a:pt x="61" y="51"/>
                </a:lnTo>
                <a:lnTo>
                  <a:pt x="69" y="54"/>
                </a:lnTo>
                <a:lnTo>
                  <a:pt x="76" y="56"/>
                </a:lnTo>
                <a:lnTo>
                  <a:pt x="84" y="59"/>
                </a:lnTo>
                <a:lnTo>
                  <a:pt x="92" y="62"/>
                </a:lnTo>
                <a:lnTo>
                  <a:pt x="99" y="65"/>
                </a:lnTo>
                <a:lnTo>
                  <a:pt x="106" y="68"/>
                </a:lnTo>
                <a:lnTo>
                  <a:pt x="113" y="72"/>
                </a:lnTo>
                <a:lnTo>
                  <a:pt x="119" y="75"/>
                </a:lnTo>
                <a:lnTo>
                  <a:pt x="124" y="66"/>
                </a:lnTo>
                <a:lnTo>
                  <a:pt x="130" y="56"/>
                </a:lnTo>
                <a:lnTo>
                  <a:pt x="136" y="48"/>
                </a:lnTo>
                <a:lnTo>
                  <a:pt x="143" y="42"/>
                </a:lnTo>
                <a:lnTo>
                  <a:pt x="150" y="35"/>
                </a:lnTo>
                <a:lnTo>
                  <a:pt x="158" y="29"/>
                </a:lnTo>
                <a:lnTo>
                  <a:pt x="166" y="24"/>
                </a:lnTo>
                <a:lnTo>
                  <a:pt x="175" y="20"/>
                </a:lnTo>
                <a:lnTo>
                  <a:pt x="183" y="16"/>
                </a:lnTo>
                <a:lnTo>
                  <a:pt x="193" y="13"/>
                </a:lnTo>
                <a:lnTo>
                  <a:pt x="201" y="9"/>
                </a:lnTo>
                <a:lnTo>
                  <a:pt x="210" y="7"/>
                </a:lnTo>
                <a:lnTo>
                  <a:pt x="219" y="5"/>
                </a:lnTo>
                <a:lnTo>
                  <a:pt x="228" y="3"/>
                </a:lnTo>
                <a:lnTo>
                  <a:pt x="237" y="1"/>
                </a:lnTo>
                <a:lnTo>
                  <a:pt x="245" y="0"/>
                </a:lnTo>
                <a:lnTo>
                  <a:pt x="237" y="3"/>
                </a:lnTo>
                <a:lnTo>
                  <a:pt x="230" y="7"/>
                </a:lnTo>
                <a:lnTo>
                  <a:pt x="222" y="11"/>
                </a:lnTo>
                <a:lnTo>
                  <a:pt x="214" y="15"/>
                </a:lnTo>
                <a:lnTo>
                  <a:pt x="207" y="19"/>
                </a:lnTo>
                <a:lnTo>
                  <a:pt x="199" y="24"/>
                </a:lnTo>
                <a:lnTo>
                  <a:pt x="191" y="28"/>
                </a:lnTo>
                <a:lnTo>
                  <a:pt x="185" y="33"/>
                </a:lnTo>
                <a:lnTo>
                  <a:pt x="177" y="39"/>
                </a:lnTo>
                <a:lnTo>
                  <a:pt x="170" y="44"/>
                </a:lnTo>
                <a:lnTo>
                  <a:pt x="163" y="51"/>
                </a:lnTo>
                <a:lnTo>
                  <a:pt x="158" y="57"/>
                </a:lnTo>
                <a:lnTo>
                  <a:pt x="152" y="64"/>
                </a:lnTo>
                <a:lnTo>
                  <a:pt x="146" y="71"/>
                </a:lnTo>
                <a:lnTo>
                  <a:pt x="142" y="79"/>
                </a:lnTo>
                <a:lnTo>
                  <a:pt x="138" y="87"/>
                </a:lnTo>
                <a:lnTo>
                  <a:pt x="135" y="90"/>
                </a:lnTo>
                <a:lnTo>
                  <a:pt x="133" y="92"/>
                </a:lnTo>
                <a:lnTo>
                  <a:pt x="130" y="93"/>
                </a:lnTo>
                <a:lnTo>
                  <a:pt x="127" y="91"/>
                </a:lnTo>
                <a:lnTo>
                  <a:pt x="123" y="90"/>
                </a:lnTo>
                <a:lnTo>
                  <a:pt x="120" y="89"/>
                </a:lnTo>
                <a:lnTo>
                  <a:pt x="116" y="87"/>
                </a:lnTo>
                <a:lnTo>
                  <a:pt x="113" y="86"/>
                </a:lnTo>
                <a:lnTo>
                  <a:pt x="107" y="84"/>
                </a:lnTo>
                <a:lnTo>
                  <a:pt x="101" y="80"/>
                </a:lnTo>
                <a:lnTo>
                  <a:pt x="93" y="78"/>
                </a:lnTo>
                <a:lnTo>
                  <a:pt x="87" y="74"/>
                </a:lnTo>
                <a:lnTo>
                  <a:pt x="79" y="71"/>
                </a:lnTo>
                <a:lnTo>
                  <a:pt x="71" y="67"/>
                </a:lnTo>
                <a:lnTo>
                  <a:pt x="63" y="64"/>
                </a:lnTo>
                <a:lnTo>
                  <a:pt x="55" y="61"/>
                </a:lnTo>
                <a:lnTo>
                  <a:pt x="47" y="58"/>
                </a:lnTo>
                <a:lnTo>
                  <a:pt x="39" y="55"/>
                </a:lnTo>
                <a:lnTo>
                  <a:pt x="31" y="54"/>
                </a:lnTo>
                <a:lnTo>
                  <a:pt x="24" y="52"/>
                </a:lnTo>
                <a:lnTo>
                  <a:pt x="17" y="52"/>
                </a:lnTo>
                <a:lnTo>
                  <a:pt x="10" y="52"/>
                </a:lnTo>
                <a:lnTo>
                  <a:pt x="5" y="53"/>
                </a:lnTo>
                <a:lnTo>
                  <a:pt x="0" y="55"/>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32" name="Freeform 8"/>
          <p:cNvSpPr>
            <a:spLocks/>
          </p:cNvSpPr>
          <p:nvPr/>
        </p:nvSpPr>
        <p:spPr bwMode="auto">
          <a:xfrm>
            <a:off x="619125" y="638175"/>
            <a:ext cx="468313" cy="177800"/>
          </a:xfrm>
          <a:custGeom>
            <a:avLst/>
            <a:gdLst>
              <a:gd name="T0" fmla="*/ 12700 w 295"/>
              <a:gd name="T1" fmla="*/ 98425 h 112"/>
              <a:gd name="T2" fmla="*/ 41275 w 295"/>
              <a:gd name="T3" fmla="*/ 90488 h 112"/>
              <a:gd name="T4" fmla="*/ 71438 w 295"/>
              <a:gd name="T5" fmla="*/ 90488 h 112"/>
              <a:gd name="T6" fmla="*/ 100013 w 295"/>
              <a:gd name="T7" fmla="*/ 93663 h 112"/>
              <a:gd name="T8" fmla="*/ 130175 w 295"/>
              <a:gd name="T9" fmla="*/ 101600 h 112"/>
              <a:gd name="T10" fmla="*/ 158750 w 295"/>
              <a:gd name="T11" fmla="*/ 111125 h 112"/>
              <a:gd name="T12" fmla="*/ 187325 w 295"/>
              <a:gd name="T13" fmla="*/ 122238 h 112"/>
              <a:gd name="T14" fmla="*/ 214313 w 295"/>
              <a:gd name="T15" fmla="*/ 134938 h 112"/>
              <a:gd name="T16" fmla="*/ 234950 w 295"/>
              <a:gd name="T17" fmla="*/ 123825 h 112"/>
              <a:gd name="T18" fmla="*/ 258763 w 295"/>
              <a:gd name="T19" fmla="*/ 90488 h 112"/>
              <a:gd name="T20" fmla="*/ 285750 w 295"/>
              <a:gd name="T21" fmla="*/ 65088 h 112"/>
              <a:gd name="T22" fmla="*/ 315913 w 295"/>
              <a:gd name="T23" fmla="*/ 44450 h 112"/>
              <a:gd name="T24" fmla="*/ 347663 w 295"/>
              <a:gd name="T25" fmla="*/ 30163 h 112"/>
              <a:gd name="T26" fmla="*/ 382588 w 295"/>
              <a:gd name="T27" fmla="*/ 15875 h 112"/>
              <a:gd name="T28" fmla="*/ 415925 w 295"/>
              <a:gd name="T29" fmla="*/ 7938 h 112"/>
              <a:gd name="T30" fmla="*/ 450850 w 295"/>
              <a:gd name="T31" fmla="*/ 1588 h 112"/>
              <a:gd name="T32" fmla="*/ 450850 w 295"/>
              <a:gd name="T33" fmla="*/ 4763 h 112"/>
              <a:gd name="T34" fmla="*/ 422275 w 295"/>
              <a:gd name="T35" fmla="*/ 20638 h 112"/>
              <a:gd name="T36" fmla="*/ 393700 w 295"/>
              <a:gd name="T37" fmla="*/ 34925 h 112"/>
              <a:gd name="T38" fmla="*/ 363538 w 295"/>
              <a:gd name="T39" fmla="*/ 52388 h 112"/>
              <a:gd name="T40" fmla="*/ 336550 w 295"/>
              <a:gd name="T41" fmla="*/ 73025 h 112"/>
              <a:gd name="T42" fmla="*/ 309563 w 295"/>
              <a:gd name="T43" fmla="*/ 95250 h 112"/>
              <a:gd name="T44" fmla="*/ 288925 w 295"/>
              <a:gd name="T45" fmla="*/ 120650 h 112"/>
              <a:gd name="T46" fmla="*/ 269875 w 295"/>
              <a:gd name="T47" fmla="*/ 149225 h 112"/>
              <a:gd name="T48" fmla="*/ 257175 w 295"/>
              <a:gd name="T49" fmla="*/ 169863 h 112"/>
              <a:gd name="T50" fmla="*/ 247650 w 295"/>
              <a:gd name="T51" fmla="*/ 176213 h 112"/>
              <a:gd name="T52" fmla="*/ 233363 w 295"/>
              <a:gd name="T53" fmla="*/ 169863 h 112"/>
              <a:gd name="T54" fmla="*/ 220663 w 295"/>
              <a:gd name="T55" fmla="*/ 163513 h 112"/>
              <a:gd name="T56" fmla="*/ 203200 w 295"/>
              <a:gd name="T57" fmla="*/ 158750 h 112"/>
              <a:gd name="T58" fmla="*/ 176213 w 295"/>
              <a:gd name="T59" fmla="*/ 147638 h 112"/>
              <a:gd name="T60" fmla="*/ 149225 w 295"/>
              <a:gd name="T61" fmla="*/ 133350 h 112"/>
              <a:gd name="T62" fmla="*/ 119063 w 295"/>
              <a:gd name="T63" fmla="*/ 120650 h 112"/>
              <a:gd name="T64" fmla="*/ 88900 w 295"/>
              <a:gd name="T65" fmla="*/ 109538 h 112"/>
              <a:gd name="T66" fmla="*/ 58738 w 295"/>
              <a:gd name="T67" fmla="*/ 101600 h 112"/>
              <a:gd name="T68" fmla="*/ 31750 w 295"/>
              <a:gd name="T69" fmla="*/ 98425 h 112"/>
              <a:gd name="T70" fmla="*/ 9525 w 295"/>
              <a:gd name="T71" fmla="*/ 100013 h 11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5" h="112">
                <a:moveTo>
                  <a:pt x="0" y="65"/>
                </a:moveTo>
                <a:lnTo>
                  <a:pt x="8" y="62"/>
                </a:lnTo>
                <a:lnTo>
                  <a:pt x="16" y="59"/>
                </a:lnTo>
                <a:lnTo>
                  <a:pt x="26" y="57"/>
                </a:lnTo>
                <a:lnTo>
                  <a:pt x="36" y="57"/>
                </a:lnTo>
                <a:lnTo>
                  <a:pt x="45" y="57"/>
                </a:lnTo>
                <a:lnTo>
                  <a:pt x="54" y="57"/>
                </a:lnTo>
                <a:lnTo>
                  <a:pt x="63" y="59"/>
                </a:lnTo>
                <a:lnTo>
                  <a:pt x="73" y="60"/>
                </a:lnTo>
                <a:lnTo>
                  <a:pt x="82" y="64"/>
                </a:lnTo>
                <a:lnTo>
                  <a:pt x="91" y="66"/>
                </a:lnTo>
                <a:lnTo>
                  <a:pt x="100" y="70"/>
                </a:lnTo>
                <a:lnTo>
                  <a:pt x="110" y="74"/>
                </a:lnTo>
                <a:lnTo>
                  <a:pt x="118" y="77"/>
                </a:lnTo>
                <a:lnTo>
                  <a:pt x="127" y="81"/>
                </a:lnTo>
                <a:lnTo>
                  <a:pt x="135" y="85"/>
                </a:lnTo>
                <a:lnTo>
                  <a:pt x="142" y="89"/>
                </a:lnTo>
                <a:lnTo>
                  <a:pt x="148" y="78"/>
                </a:lnTo>
                <a:lnTo>
                  <a:pt x="156" y="66"/>
                </a:lnTo>
                <a:lnTo>
                  <a:pt x="163" y="57"/>
                </a:lnTo>
                <a:lnTo>
                  <a:pt x="171" y="50"/>
                </a:lnTo>
                <a:lnTo>
                  <a:pt x="180" y="41"/>
                </a:lnTo>
                <a:lnTo>
                  <a:pt x="189" y="34"/>
                </a:lnTo>
                <a:lnTo>
                  <a:pt x="199" y="28"/>
                </a:lnTo>
                <a:lnTo>
                  <a:pt x="210" y="23"/>
                </a:lnTo>
                <a:lnTo>
                  <a:pt x="219" y="19"/>
                </a:lnTo>
                <a:lnTo>
                  <a:pt x="231" y="15"/>
                </a:lnTo>
                <a:lnTo>
                  <a:pt x="241" y="10"/>
                </a:lnTo>
                <a:lnTo>
                  <a:pt x="252" y="8"/>
                </a:lnTo>
                <a:lnTo>
                  <a:pt x="262" y="5"/>
                </a:lnTo>
                <a:lnTo>
                  <a:pt x="273" y="3"/>
                </a:lnTo>
                <a:lnTo>
                  <a:pt x="284" y="1"/>
                </a:lnTo>
                <a:lnTo>
                  <a:pt x="294" y="0"/>
                </a:lnTo>
                <a:lnTo>
                  <a:pt x="284" y="3"/>
                </a:lnTo>
                <a:lnTo>
                  <a:pt x="276" y="8"/>
                </a:lnTo>
                <a:lnTo>
                  <a:pt x="266" y="13"/>
                </a:lnTo>
                <a:lnTo>
                  <a:pt x="256" y="17"/>
                </a:lnTo>
                <a:lnTo>
                  <a:pt x="248" y="22"/>
                </a:lnTo>
                <a:lnTo>
                  <a:pt x="238" y="28"/>
                </a:lnTo>
                <a:lnTo>
                  <a:pt x="229" y="33"/>
                </a:lnTo>
                <a:lnTo>
                  <a:pt x="222" y="39"/>
                </a:lnTo>
                <a:lnTo>
                  <a:pt x="212" y="46"/>
                </a:lnTo>
                <a:lnTo>
                  <a:pt x="204" y="52"/>
                </a:lnTo>
                <a:lnTo>
                  <a:pt x="195" y="60"/>
                </a:lnTo>
                <a:lnTo>
                  <a:pt x="189" y="68"/>
                </a:lnTo>
                <a:lnTo>
                  <a:pt x="182" y="76"/>
                </a:lnTo>
                <a:lnTo>
                  <a:pt x="175" y="84"/>
                </a:lnTo>
                <a:lnTo>
                  <a:pt x="170" y="94"/>
                </a:lnTo>
                <a:lnTo>
                  <a:pt x="165" y="103"/>
                </a:lnTo>
                <a:lnTo>
                  <a:pt x="162" y="107"/>
                </a:lnTo>
                <a:lnTo>
                  <a:pt x="159" y="109"/>
                </a:lnTo>
                <a:lnTo>
                  <a:pt x="156" y="111"/>
                </a:lnTo>
                <a:lnTo>
                  <a:pt x="152" y="108"/>
                </a:lnTo>
                <a:lnTo>
                  <a:pt x="147" y="107"/>
                </a:lnTo>
                <a:lnTo>
                  <a:pt x="144" y="106"/>
                </a:lnTo>
                <a:lnTo>
                  <a:pt x="139" y="103"/>
                </a:lnTo>
                <a:lnTo>
                  <a:pt x="135" y="102"/>
                </a:lnTo>
                <a:lnTo>
                  <a:pt x="128" y="100"/>
                </a:lnTo>
                <a:lnTo>
                  <a:pt x="121" y="95"/>
                </a:lnTo>
                <a:lnTo>
                  <a:pt x="111" y="93"/>
                </a:lnTo>
                <a:lnTo>
                  <a:pt x="104" y="88"/>
                </a:lnTo>
                <a:lnTo>
                  <a:pt x="94" y="84"/>
                </a:lnTo>
                <a:lnTo>
                  <a:pt x="85" y="79"/>
                </a:lnTo>
                <a:lnTo>
                  <a:pt x="75" y="76"/>
                </a:lnTo>
                <a:lnTo>
                  <a:pt x="66" y="72"/>
                </a:lnTo>
                <a:lnTo>
                  <a:pt x="56" y="69"/>
                </a:lnTo>
                <a:lnTo>
                  <a:pt x="46" y="65"/>
                </a:lnTo>
                <a:lnTo>
                  <a:pt x="37" y="64"/>
                </a:lnTo>
                <a:lnTo>
                  <a:pt x="28" y="62"/>
                </a:lnTo>
                <a:lnTo>
                  <a:pt x="20" y="62"/>
                </a:lnTo>
                <a:lnTo>
                  <a:pt x="12" y="62"/>
                </a:lnTo>
                <a:lnTo>
                  <a:pt x="6" y="63"/>
                </a:lnTo>
                <a:lnTo>
                  <a:pt x="0" y="65"/>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33" name="Freeform 9"/>
          <p:cNvSpPr>
            <a:spLocks/>
          </p:cNvSpPr>
          <p:nvPr/>
        </p:nvSpPr>
        <p:spPr bwMode="auto">
          <a:xfrm>
            <a:off x="7515225" y="6257925"/>
            <a:ext cx="1524000" cy="533400"/>
          </a:xfrm>
          <a:custGeom>
            <a:avLst/>
            <a:gdLst>
              <a:gd name="T0" fmla="*/ 298926 w 1453"/>
              <a:gd name="T1" fmla="*/ 9983 h 374"/>
              <a:gd name="T2" fmla="*/ 245434 w 1453"/>
              <a:gd name="T3" fmla="*/ 21393 h 374"/>
              <a:gd name="T4" fmla="*/ 192991 w 1453"/>
              <a:gd name="T5" fmla="*/ 74163 h 374"/>
              <a:gd name="T6" fmla="*/ 139499 w 1453"/>
              <a:gd name="T7" fmla="*/ 116949 h 374"/>
              <a:gd name="T8" fmla="*/ 87056 w 1453"/>
              <a:gd name="T9" fmla="*/ 126932 h 374"/>
              <a:gd name="T10" fmla="*/ 35661 w 1453"/>
              <a:gd name="T11" fmla="*/ 148325 h 374"/>
              <a:gd name="T12" fmla="*/ 0 w 1453"/>
              <a:gd name="T13" fmla="*/ 201095 h 374"/>
              <a:gd name="T14" fmla="*/ 0 w 1453"/>
              <a:gd name="T15" fmla="*/ 265274 h 374"/>
              <a:gd name="T16" fmla="*/ 17831 w 1453"/>
              <a:gd name="T17" fmla="*/ 329453 h 374"/>
              <a:gd name="T18" fmla="*/ 69225 w 1453"/>
              <a:gd name="T19" fmla="*/ 339436 h 374"/>
              <a:gd name="T20" fmla="*/ 122717 w 1453"/>
              <a:gd name="T21" fmla="*/ 318043 h 374"/>
              <a:gd name="T22" fmla="*/ 166769 w 1453"/>
              <a:gd name="T23" fmla="*/ 339436 h 374"/>
              <a:gd name="T24" fmla="*/ 210822 w 1453"/>
              <a:gd name="T25" fmla="*/ 403616 h 374"/>
              <a:gd name="T26" fmla="*/ 263265 w 1453"/>
              <a:gd name="T27" fmla="*/ 446402 h 374"/>
              <a:gd name="T28" fmla="*/ 325148 w 1453"/>
              <a:gd name="T29" fmla="*/ 446402 h 374"/>
              <a:gd name="T30" fmla="*/ 378640 w 1453"/>
              <a:gd name="T31" fmla="*/ 434992 h 374"/>
              <a:gd name="T32" fmla="*/ 431083 w 1453"/>
              <a:gd name="T33" fmla="*/ 467795 h 374"/>
              <a:gd name="T34" fmla="*/ 483526 w 1453"/>
              <a:gd name="T35" fmla="*/ 509155 h 374"/>
              <a:gd name="T36" fmla="*/ 562191 w 1453"/>
              <a:gd name="T37" fmla="*/ 520564 h 374"/>
              <a:gd name="T38" fmla="*/ 685957 w 1453"/>
              <a:gd name="T39" fmla="*/ 520564 h 374"/>
              <a:gd name="T40" fmla="*/ 738401 w 1453"/>
              <a:gd name="T41" fmla="*/ 509155 h 374"/>
              <a:gd name="T42" fmla="*/ 791893 w 1453"/>
              <a:gd name="T43" fmla="*/ 499171 h 374"/>
              <a:gd name="T44" fmla="*/ 844336 w 1453"/>
              <a:gd name="T45" fmla="*/ 477778 h 374"/>
              <a:gd name="T46" fmla="*/ 896779 w 1453"/>
              <a:gd name="T47" fmla="*/ 467795 h 374"/>
              <a:gd name="T48" fmla="*/ 950271 w 1453"/>
              <a:gd name="T49" fmla="*/ 477778 h 374"/>
              <a:gd name="T50" fmla="*/ 1002714 w 1453"/>
              <a:gd name="T51" fmla="*/ 499171 h 374"/>
              <a:gd name="T52" fmla="*/ 1090819 w 1453"/>
              <a:gd name="T53" fmla="*/ 520564 h 374"/>
              <a:gd name="T54" fmla="*/ 1188363 w 1453"/>
              <a:gd name="T55" fmla="*/ 520564 h 374"/>
              <a:gd name="T56" fmla="*/ 1276468 w 1453"/>
              <a:gd name="T57" fmla="*/ 509155 h 374"/>
              <a:gd name="T58" fmla="*/ 1328911 w 1453"/>
              <a:gd name="T59" fmla="*/ 467795 h 374"/>
              <a:gd name="T60" fmla="*/ 1389745 w 1453"/>
              <a:gd name="T61" fmla="*/ 425009 h 374"/>
              <a:gd name="T62" fmla="*/ 1443237 w 1453"/>
              <a:gd name="T63" fmla="*/ 403616 h 374"/>
              <a:gd name="T64" fmla="*/ 1495681 w 1453"/>
              <a:gd name="T65" fmla="*/ 392206 h 374"/>
              <a:gd name="T66" fmla="*/ 1513511 w 1453"/>
              <a:gd name="T67" fmla="*/ 362256 h 374"/>
              <a:gd name="T68" fmla="*/ 1486241 w 1453"/>
              <a:gd name="T69" fmla="*/ 296650 h 374"/>
              <a:gd name="T70" fmla="*/ 1513511 w 1453"/>
              <a:gd name="T71" fmla="*/ 233897 h 374"/>
              <a:gd name="T72" fmla="*/ 1513511 w 1453"/>
              <a:gd name="T73" fmla="*/ 169718 h 374"/>
              <a:gd name="T74" fmla="*/ 1468410 w 1453"/>
              <a:gd name="T75" fmla="*/ 116949 h 374"/>
              <a:gd name="T76" fmla="*/ 1417016 w 1453"/>
              <a:gd name="T77" fmla="*/ 116949 h 374"/>
              <a:gd name="T78" fmla="*/ 1364573 w 1453"/>
              <a:gd name="T79" fmla="*/ 116949 h 374"/>
              <a:gd name="T80" fmla="*/ 1311081 w 1453"/>
              <a:gd name="T81" fmla="*/ 105539 h 374"/>
              <a:gd name="T82" fmla="*/ 1258637 w 1453"/>
              <a:gd name="T83" fmla="*/ 95556 h 374"/>
              <a:gd name="T84" fmla="*/ 1206194 w 1453"/>
              <a:gd name="T85" fmla="*/ 105539 h 374"/>
              <a:gd name="T86" fmla="*/ 1161093 w 1453"/>
              <a:gd name="T87" fmla="*/ 84146 h 374"/>
              <a:gd name="T88" fmla="*/ 1108650 w 1453"/>
              <a:gd name="T89" fmla="*/ 42786 h 374"/>
              <a:gd name="T90" fmla="*/ 1055158 w 1453"/>
              <a:gd name="T91" fmla="*/ 31376 h 374"/>
              <a:gd name="T92" fmla="*/ 994323 w 1453"/>
              <a:gd name="T93" fmla="*/ 9983 h 374"/>
              <a:gd name="T94" fmla="*/ 941880 w 1453"/>
              <a:gd name="T95" fmla="*/ 31376 h 374"/>
              <a:gd name="T96" fmla="*/ 888388 w 1453"/>
              <a:gd name="T97" fmla="*/ 42786 h 374"/>
              <a:gd name="T98" fmla="*/ 835945 w 1453"/>
              <a:gd name="T99" fmla="*/ 42786 h 374"/>
              <a:gd name="T100" fmla="*/ 783502 w 1453"/>
              <a:gd name="T101" fmla="*/ 31376 h 374"/>
              <a:gd name="T102" fmla="*/ 730010 w 1453"/>
              <a:gd name="T103" fmla="*/ 9983 h 374"/>
              <a:gd name="T104" fmla="*/ 677566 w 1453"/>
              <a:gd name="T105" fmla="*/ 9983 h 374"/>
              <a:gd name="T106" fmla="*/ 625123 w 1453"/>
              <a:gd name="T107" fmla="*/ 31376 h 374"/>
              <a:gd name="T108" fmla="*/ 571631 w 1453"/>
              <a:gd name="T109" fmla="*/ 42786 h 374"/>
              <a:gd name="T110" fmla="*/ 509748 w 1453"/>
              <a:gd name="T111" fmla="*/ 9983 h 374"/>
              <a:gd name="T112" fmla="*/ 457305 w 1453"/>
              <a:gd name="T113" fmla="*/ 0 h 374"/>
              <a:gd name="T114" fmla="*/ 403813 w 1453"/>
              <a:gd name="T115" fmla="*/ 0 h 374"/>
              <a:gd name="T116" fmla="*/ 334588 w 1453"/>
              <a:gd name="T117" fmla="*/ 17114 h 374"/>
              <a:gd name="T118" fmla="*/ 281096 w 1453"/>
              <a:gd name="T119" fmla="*/ 84146 h 374"/>
              <a:gd name="T120" fmla="*/ 245434 w 1453"/>
              <a:gd name="T121" fmla="*/ 105539 h 374"/>
              <a:gd name="T122" fmla="*/ 227604 w 1453"/>
              <a:gd name="T123" fmla="*/ 81294 h 37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53" h="374">
                <a:moveTo>
                  <a:pt x="319" y="12"/>
                </a:moveTo>
                <a:lnTo>
                  <a:pt x="285" y="7"/>
                </a:lnTo>
                <a:lnTo>
                  <a:pt x="260" y="7"/>
                </a:lnTo>
                <a:lnTo>
                  <a:pt x="234" y="15"/>
                </a:lnTo>
                <a:lnTo>
                  <a:pt x="209" y="37"/>
                </a:lnTo>
                <a:lnTo>
                  <a:pt x="184" y="52"/>
                </a:lnTo>
                <a:lnTo>
                  <a:pt x="159" y="67"/>
                </a:lnTo>
                <a:lnTo>
                  <a:pt x="133" y="82"/>
                </a:lnTo>
                <a:lnTo>
                  <a:pt x="109" y="89"/>
                </a:lnTo>
                <a:lnTo>
                  <a:pt x="83" y="89"/>
                </a:lnTo>
                <a:lnTo>
                  <a:pt x="58" y="89"/>
                </a:lnTo>
                <a:lnTo>
                  <a:pt x="34" y="104"/>
                </a:lnTo>
                <a:lnTo>
                  <a:pt x="8" y="119"/>
                </a:lnTo>
                <a:lnTo>
                  <a:pt x="0" y="141"/>
                </a:lnTo>
                <a:lnTo>
                  <a:pt x="0" y="164"/>
                </a:lnTo>
                <a:lnTo>
                  <a:pt x="0" y="186"/>
                </a:lnTo>
                <a:lnTo>
                  <a:pt x="8" y="208"/>
                </a:lnTo>
                <a:lnTo>
                  <a:pt x="17" y="231"/>
                </a:lnTo>
                <a:lnTo>
                  <a:pt x="42" y="231"/>
                </a:lnTo>
                <a:lnTo>
                  <a:pt x="66" y="238"/>
                </a:lnTo>
                <a:lnTo>
                  <a:pt x="92" y="238"/>
                </a:lnTo>
                <a:lnTo>
                  <a:pt x="117" y="223"/>
                </a:lnTo>
                <a:lnTo>
                  <a:pt x="142" y="216"/>
                </a:lnTo>
                <a:lnTo>
                  <a:pt x="159" y="238"/>
                </a:lnTo>
                <a:lnTo>
                  <a:pt x="176" y="261"/>
                </a:lnTo>
                <a:lnTo>
                  <a:pt x="201" y="283"/>
                </a:lnTo>
                <a:lnTo>
                  <a:pt x="226" y="298"/>
                </a:lnTo>
                <a:lnTo>
                  <a:pt x="251" y="313"/>
                </a:lnTo>
                <a:lnTo>
                  <a:pt x="285" y="321"/>
                </a:lnTo>
                <a:lnTo>
                  <a:pt x="310" y="313"/>
                </a:lnTo>
                <a:lnTo>
                  <a:pt x="335" y="305"/>
                </a:lnTo>
                <a:lnTo>
                  <a:pt x="361" y="305"/>
                </a:lnTo>
                <a:lnTo>
                  <a:pt x="385" y="313"/>
                </a:lnTo>
                <a:lnTo>
                  <a:pt x="411" y="328"/>
                </a:lnTo>
                <a:lnTo>
                  <a:pt x="436" y="335"/>
                </a:lnTo>
                <a:lnTo>
                  <a:pt x="461" y="357"/>
                </a:lnTo>
                <a:lnTo>
                  <a:pt x="486" y="365"/>
                </a:lnTo>
                <a:lnTo>
                  <a:pt x="536" y="365"/>
                </a:lnTo>
                <a:lnTo>
                  <a:pt x="587" y="365"/>
                </a:lnTo>
                <a:lnTo>
                  <a:pt x="654" y="365"/>
                </a:lnTo>
                <a:lnTo>
                  <a:pt x="680" y="365"/>
                </a:lnTo>
                <a:lnTo>
                  <a:pt x="704" y="357"/>
                </a:lnTo>
                <a:lnTo>
                  <a:pt x="730" y="357"/>
                </a:lnTo>
                <a:lnTo>
                  <a:pt x="755" y="350"/>
                </a:lnTo>
                <a:lnTo>
                  <a:pt x="780" y="342"/>
                </a:lnTo>
                <a:lnTo>
                  <a:pt x="805" y="335"/>
                </a:lnTo>
                <a:lnTo>
                  <a:pt x="831" y="328"/>
                </a:lnTo>
                <a:lnTo>
                  <a:pt x="855" y="328"/>
                </a:lnTo>
                <a:lnTo>
                  <a:pt x="881" y="335"/>
                </a:lnTo>
                <a:lnTo>
                  <a:pt x="906" y="335"/>
                </a:lnTo>
                <a:lnTo>
                  <a:pt x="931" y="342"/>
                </a:lnTo>
                <a:lnTo>
                  <a:pt x="956" y="350"/>
                </a:lnTo>
                <a:lnTo>
                  <a:pt x="990" y="365"/>
                </a:lnTo>
                <a:lnTo>
                  <a:pt x="1040" y="365"/>
                </a:lnTo>
                <a:lnTo>
                  <a:pt x="1107" y="373"/>
                </a:lnTo>
                <a:lnTo>
                  <a:pt x="1133" y="365"/>
                </a:lnTo>
                <a:lnTo>
                  <a:pt x="1183" y="365"/>
                </a:lnTo>
                <a:lnTo>
                  <a:pt x="1217" y="357"/>
                </a:lnTo>
                <a:lnTo>
                  <a:pt x="1241" y="335"/>
                </a:lnTo>
                <a:lnTo>
                  <a:pt x="1267" y="328"/>
                </a:lnTo>
                <a:lnTo>
                  <a:pt x="1301" y="313"/>
                </a:lnTo>
                <a:lnTo>
                  <a:pt x="1325" y="298"/>
                </a:lnTo>
                <a:lnTo>
                  <a:pt x="1351" y="290"/>
                </a:lnTo>
                <a:lnTo>
                  <a:pt x="1376" y="283"/>
                </a:lnTo>
                <a:lnTo>
                  <a:pt x="1400" y="275"/>
                </a:lnTo>
                <a:lnTo>
                  <a:pt x="1426" y="275"/>
                </a:lnTo>
                <a:lnTo>
                  <a:pt x="1452" y="275"/>
                </a:lnTo>
                <a:lnTo>
                  <a:pt x="1443" y="254"/>
                </a:lnTo>
                <a:lnTo>
                  <a:pt x="1426" y="231"/>
                </a:lnTo>
                <a:lnTo>
                  <a:pt x="1417" y="208"/>
                </a:lnTo>
                <a:lnTo>
                  <a:pt x="1426" y="186"/>
                </a:lnTo>
                <a:lnTo>
                  <a:pt x="1443" y="164"/>
                </a:lnTo>
                <a:lnTo>
                  <a:pt x="1452" y="141"/>
                </a:lnTo>
                <a:lnTo>
                  <a:pt x="1443" y="119"/>
                </a:lnTo>
                <a:lnTo>
                  <a:pt x="1426" y="97"/>
                </a:lnTo>
                <a:lnTo>
                  <a:pt x="1400" y="82"/>
                </a:lnTo>
                <a:lnTo>
                  <a:pt x="1376" y="82"/>
                </a:lnTo>
                <a:lnTo>
                  <a:pt x="1351" y="82"/>
                </a:lnTo>
                <a:lnTo>
                  <a:pt x="1325" y="82"/>
                </a:lnTo>
                <a:lnTo>
                  <a:pt x="1301" y="82"/>
                </a:lnTo>
                <a:lnTo>
                  <a:pt x="1275" y="82"/>
                </a:lnTo>
                <a:lnTo>
                  <a:pt x="1250" y="74"/>
                </a:lnTo>
                <a:lnTo>
                  <a:pt x="1225" y="67"/>
                </a:lnTo>
                <a:lnTo>
                  <a:pt x="1200" y="67"/>
                </a:lnTo>
                <a:lnTo>
                  <a:pt x="1174" y="67"/>
                </a:lnTo>
                <a:lnTo>
                  <a:pt x="1150" y="74"/>
                </a:lnTo>
                <a:lnTo>
                  <a:pt x="1124" y="82"/>
                </a:lnTo>
                <a:lnTo>
                  <a:pt x="1107" y="59"/>
                </a:lnTo>
                <a:lnTo>
                  <a:pt x="1082" y="45"/>
                </a:lnTo>
                <a:lnTo>
                  <a:pt x="1057" y="30"/>
                </a:lnTo>
                <a:lnTo>
                  <a:pt x="1032" y="30"/>
                </a:lnTo>
                <a:lnTo>
                  <a:pt x="1006" y="22"/>
                </a:lnTo>
                <a:lnTo>
                  <a:pt x="973" y="15"/>
                </a:lnTo>
                <a:lnTo>
                  <a:pt x="948" y="7"/>
                </a:lnTo>
                <a:lnTo>
                  <a:pt x="922" y="7"/>
                </a:lnTo>
                <a:lnTo>
                  <a:pt x="898" y="22"/>
                </a:lnTo>
                <a:lnTo>
                  <a:pt x="872" y="30"/>
                </a:lnTo>
                <a:lnTo>
                  <a:pt x="847" y="30"/>
                </a:lnTo>
                <a:lnTo>
                  <a:pt x="822" y="30"/>
                </a:lnTo>
                <a:lnTo>
                  <a:pt x="797" y="30"/>
                </a:lnTo>
                <a:lnTo>
                  <a:pt x="771" y="30"/>
                </a:lnTo>
                <a:lnTo>
                  <a:pt x="747" y="22"/>
                </a:lnTo>
                <a:lnTo>
                  <a:pt x="721" y="15"/>
                </a:lnTo>
                <a:lnTo>
                  <a:pt x="696" y="7"/>
                </a:lnTo>
                <a:lnTo>
                  <a:pt x="671" y="7"/>
                </a:lnTo>
                <a:lnTo>
                  <a:pt x="646" y="7"/>
                </a:lnTo>
                <a:lnTo>
                  <a:pt x="620" y="7"/>
                </a:lnTo>
                <a:lnTo>
                  <a:pt x="596" y="22"/>
                </a:lnTo>
                <a:lnTo>
                  <a:pt x="570" y="30"/>
                </a:lnTo>
                <a:lnTo>
                  <a:pt x="545" y="30"/>
                </a:lnTo>
                <a:lnTo>
                  <a:pt x="520" y="22"/>
                </a:lnTo>
                <a:lnTo>
                  <a:pt x="486" y="7"/>
                </a:lnTo>
                <a:lnTo>
                  <a:pt x="461" y="7"/>
                </a:lnTo>
                <a:lnTo>
                  <a:pt x="436" y="0"/>
                </a:lnTo>
                <a:lnTo>
                  <a:pt x="411" y="0"/>
                </a:lnTo>
                <a:lnTo>
                  <a:pt x="385" y="0"/>
                </a:lnTo>
                <a:lnTo>
                  <a:pt x="361" y="7"/>
                </a:lnTo>
                <a:lnTo>
                  <a:pt x="319" y="12"/>
                </a:lnTo>
                <a:lnTo>
                  <a:pt x="293" y="45"/>
                </a:lnTo>
                <a:lnTo>
                  <a:pt x="268" y="59"/>
                </a:lnTo>
                <a:lnTo>
                  <a:pt x="260" y="82"/>
                </a:lnTo>
                <a:lnTo>
                  <a:pt x="234" y="74"/>
                </a:lnTo>
                <a:lnTo>
                  <a:pt x="209" y="67"/>
                </a:lnTo>
                <a:lnTo>
                  <a:pt x="217" y="57"/>
                </a:lnTo>
              </a:path>
            </a:pathLst>
          </a:custGeom>
          <a:gradFill rotWithShape="0">
            <a:gsLst>
              <a:gs pos="0">
                <a:srgbClr val="F5EACB"/>
              </a:gs>
              <a:gs pos="100000">
                <a:srgbClr val="CC9900"/>
              </a:gs>
            </a:gsLst>
            <a:lin ang="5400000" scaled="1"/>
          </a:gradFill>
          <a:ln w="12700" cap="rnd" cmpd="sng">
            <a:solidFill>
              <a:srgbClr val="99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nvGrpSpPr>
          <p:cNvPr id="1034" name="Group 10"/>
          <p:cNvGrpSpPr>
            <a:grpSpLocks/>
          </p:cNvGrpSpPr>
          <p:nvPr/>
        </p:nvGrpSpPr>
        <p:grpSpPr bwMode="auto">
          <a:xfrm>
            <a:off x="7620000" y="5076825"/>
            <a:ext cx="1371600" cy="1600200"/>
            <a:chOff x="0" y="3182"/>
            <a:chExt cx="808" cy="998"/>
          </a:xfrm>
        </p:grpSpPr>
        <p:grpSp>
          <p:nvGrpSpPr>
            <p:cNvPr id="1046" name="Group 11"/>
            <p:cNvGrpSpPr>
              <a:grpSpLocks/>
            </p:cNvGrpSpPr>
            <p:nvPr/>
          </p:nvGrpSpPr>
          <p:grpSpPr bwMode="auto">
            <a:xfrm>
              <a:off x="0" y="3182"/>
              <a:ext cx="506" cy="927"/>
              <a:chOff x="1685" y="1023"/>
              <a:chExt cx="506" cy="927"/>
            </a:xfrm>
          </p:grpSpPr>
          <p:sp>
            <p:nvSpPr>
              <p:cNvPr id="1059" name="Freeform 12"/>
              <p:cNvSpPr>
                <a:spLocks/>
              </p:cNvSpPr>
              <p:nvPr/>
            </p:nvSpPr>
            <p:spPr bwMode="ltGray">
              <a:xfrm>
                <a:off x="1733" y="1329"/>
                <a:ext cx="76" cy="621"/>
              </a:xfrm>
              <a:custGeom>
                <a:avLst/>
                <a:gdLst>
                  <a:gd name="T0" fmla="*/ 0 w 76"/>
                  <a:gd name="T1" fmla="*/ 54 h 621"/>
                  <a:gd name="T2" fmla="*/ 11 w 76"/>
                  <a:gd name="T3" fmla="*/ 269 h 621"/>
                  <a:gd name="T4" fmla="*/ 22 w 76"/>
                  <a:gd name="T5" fmla="*/ 442 h 621"/>
                  <a:gd name="T6" fmla="*/ 30 w 76"/>
                  <a:gd name="T7" fmla="*/ 570 h 621"/>
                  <a:gd name="T8" fmla="*/ 28 w 76"/>
                  <a:gd name="T9" fmla="*/ 620 h 621"/>
                  <a:gd name="T10" fmla="*/ 44 w 76"/>
                  <a:gd name="T11" fmla="*/ 620 h 621"/>
                  <a:gd name="T12" fmla="*/ 49 w 76"/>
                  <a:gd name="T13" fmla="*/ 546 h 621"/>
                  <a:gd name="T14" fmla="*/ 52 w 76"/>
                  <a:gd name="T15" fmla="*/ 434 h 621"/>
                  <a:gd name="T16" fmla="*/ 58 w 76"/>
                  <a:gd name="T17" fmla="*/ 329 h 621"/>
                  <a:gd name="T18" fmla="*/ 61 w 76"/>
                  <a:gd name="T19" fmla="*/ 250 h 621"/>
                  <a:gd name="T20" fmla="*/ 67 w 76"/>
                  <a:gd name="T21" fmla="*/ 135 h 621"/>
                  <a:gd name="T22" fmla="*/ 75 w 76"/>
                  <a:gd name="T23" fmla="*/ 36 h 621"/>
                  <a:gd name="T24" fmla="*/ 70 w 76"/>
                  <a:gd name="T25" fmla="*/ 11 h 621"/>
                  <a:gd name="T26" fmla="*/ 62 w 76"/>
                  <a:gd name="T27" fmla="*/ 0 h 621"/>
                  <a:gd name="T28" fmla="*/ 53 w 76"/>
                  <a:gd name="T29" fmla="*/ 121 h 621"/>
                  <a:gd name="T30" fmla="*/ 45 w 76"/>
                  <a:gd name="T31" fmla="*/ 224 h 621"/>
                  <a:gd name="T32" fmla="*/ 43 w 76"/>
                  <a:gd name="T33" fmla="*/ 305 h 621"/>
                  <a:gd name="T34" fmla="*/ 40 w 76"/>
                  <a:gd name="T35" fmla="*/ 390 h 621"/>
                  <a:gd name="T36" fmla="*/ 34 w 76"/>
                  <a:gd name="T37" fmla="*/ 475 h 621"/>
                  <a:gd name="T38" fmla="*/ 25 w 76"/>
                  <a:gd name="T39" fmla="*/ 327 h 621"/>
                  <a:gd name="T40" fmla="*/ 15 w 76"/>
                  <a:gd name="T41" fmla="*/ 187 h 621"/>
                  <a:gd name="T42" fmla="*/ 0 w 76"/>
                  <a:gd name="T43" fmla="*/ 54 h 62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0" name="Freeform 13"/>
              <p:cNvSpPr>
                <a:spLocks/>
              </p:cNvSpPr>
              <p:nvPr/>
            </p:nvSpPr>
            <p:spPr bwMode="ltGray">
              <a:xfrm>
                <a:off x="1790" y="1583"/>
                <a:ext cx="120" cy="349"/>
              </a:xfrm>
              <a:custGeom>
                <a:avLst/>
                <a:gdLst>
                  <a:gd name="T0" fmla="*/ 0 w 120"/>
                  <a:gd name="T1" fmla="*/ 161 h 349"/>
                  <a:gd name="T2" fmla="*/ 10 w 120"/>
                  <a:gd name="T3" fmla="*/ 232 h 349"/>
                  <a:gd name="T4" fmla="*/ 20 w 120"/>
                  <a:gd name="T5" fmla="*/ 289 h 349"/>
                  <a:gd name="T6" fmla="*/ 26 w 120"/>
                  <a:gd name="T7" fmla="*/ 331 h 349"/>
                  <a:gd name="T8" fmla="*/ 25 w 120"/>
                  <a:gd name="T9" fmla="*/ 348 h 349"/>
                  <a:gd name="T10" fmla="*/ 39 w 120"/>
                  <a:gd name="T11" fmla="*/ 348 h 349"/>
                  <a:gd name="T12" fmla="*/ 43 w 120"/>
                  <a:gd name="T13" fmla="*/ 323 h 349"/>
                  <a:gd name="T14" fmla="*/ 45 w 120"/>
                  <a:gd name="T15" fmla="*/ 286 h 349"/>
                  <a:gd name="T16" fmla="*/ 51 w 120"/>
                  <a:gd name="T17" fmla="*/ 252 h 349"/>
                  <a:gd name="T18" fmla="*/ 54 w 120"/>
                  <a:gd name="T19" fmla="*/ 226 h 349"/>
                  <a:gd name="T20" fmla="*/ 59 w 120"/>
                  <a:gd name="T21" fmla="*/ 188 h 349"/>
                  <a:gd name="T22" fmla="*/ 66 w 120"/>
                  <a:gd name="T23" fmla="*/ 156 h 349"/>
                  <a:gd name="T24" fmla="*/ 71 w 120"/>
                  <a:gd name="T25" fmla="*/ 127 h 349"/>
                  <a:gd name="T26" fmla="*/ 77 w 120"/>
                  <a:gd name="T27" fmla="*/ 96 h 349"/>
                  <a:gd name="T28" fmla="*/ 86 w 120"/>
                  <a:gd name="T29" fmla="*/ 66 h 349"/>
                  <a:gd name="T30" fmla="*/ 96 w 120"/>
                  <a:gd name="T31" fmla="*/ 40 h 349"/>
                  <a:gd name="T32" fmla="*/ 113 w 120"/>
                  <a:gd name="T33" fmla="*/ 15 h 349"/>
                  <a:gd name="T34" fmla="*/ 119 w 120"/>
                  <a:gd name="T35" fmla="*/ 5 h 349"/>
                  <a:gd name="T36" fmla="*/ 112 w 120"/>
                  <a:gd name="T37" fmla="*/ 0 h 349"/>
                  <a:gd name="T38" fmla="*/ 101 w 120"/>
                  <a:gd name="T39" fmla="*/ 10 h 349"/>
                  <a:gd name="T40" fmla="*/ 86 w 120"/>
                  <a:gd name="T41" fmla="*/ 33 h 349"/>
                  <a:gd name="T42" fmla="*/ 75 w 120"/>
                  <a:gd name="T43" fmla="*/ 57 h 349"/>
                  <a:gd name="T44" fmla="*/ 66 w 120"/>
                  <a:gd name="T45" fmla="*/ 81 h 349"/>
                  <a:gd name="T46" fmla="*/ 60 w 120"/>
                  <a:gd name="T47" fmla="*/ 113 h 349"/>
                  <a:gd name="T48" fmla="*/ 55 w 120"/>
                  <a:gd name="T49" fmla="*/ 144 h 349"/>
                  <a:gd name="T50" fmla="*/ 47 w 120"/>
                  <a:gd name="T51" fmla="*/ 184 h 349"/>
                  <a:gd name="T52" fmla="*/ 40 w 120"/>
                  <a:gd name="T53" fmla="*/ 217 h 349"/>
                  <a:gd name="T54" fmla="*/ 37 w 120"/>
                  <a:gd name="T55" fmla="*/ 244 h 349"/>
                  <a:gd name="T56" fmla="*/ 36 w 120"/>
                  <a:gd name="T57" fmla="*/ 272 h 349"/>
                  <a:gd name="T58" fmla="*/ 30 w 120"/>
                  <a:gd name="T59" fmla="*/ 300 h 349"/>
                  <a:gd name="T60" fmla="*/ 22 w 120"/>
                  <a:gd name="T61" fmla="*/ 251 h 349"/>
                  <a:gd name="T62" fmla="*/ 13 w 120"/>
                  <a:gd name="T63" fmla="*/ 205 h 349"/>
                  <a:gd name="T64" fmla="*/ 0 w 120"/>
                  <a:gd name="T65" fmla="*/ 161 h 34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1" name="Freeform 14"/>
              <p:cNvSpPr>
                <a:spLocks/>
              </p:cNvSpPr>
              <p:nvPr/>
            </p:nvSpPr>
            <p:spPr bwMode="ltGray">
              <a:xfrm>
                <a:off x="1685" y="1239"/>
                <a:ext cx="266" cy="391"/>
              </a:xfrm>
              <a:custGeom>
                <a:avLst/>
                <a:gdLst>
                  <a:gd name="T0" fmla="*/ 107 w 266"/>
                  <a:gd name="T1" fmla="*/ 123 h 391"/>
                  <a:gd name="T2" fmla="*/ 116 w 266"/>
                  <a:gd name="T3" fmla="*/ 135 h 391"/>
                  <a:gd name="T4" fmla="*/ 163 w 266"/>
                  <a:gd name="T5" fmla="*/ 114 h 391"/>
                  <a:gd name="T6" fmla="*/ 211 w 266"/>
                  <a:gd name="T7" fmla="*/ 81 h 391"/>
                  <a:gd name="T8" fmla="*/ 233 w 266"/>
                  <a:gd name="T9" fmla="*/ 46 h 391"/>
                  <a:gd name="T10" fmla="*/ 220 w 266"/>
                  <a:gd name="T11" fmla="*/ 76 h 391"/>
                  <a:gd name="T12" fmla="*/ 183 w 266"/>
                  <a:gd name="T13" fmla="*/ 109 h 391"/>
                  <a:gd name="T14" fmla="*/ 142 w 266"/>
                  <a:gd name="T15" fmla="*/ 138 h 391"/>
                  <a:gd name="T16" fmla="*/ 102 w 266"/>
                  <a:gd name="T17" fmla="*/ 159 h 391"/>
                  <a:gd name="T18" fmla="*/ 119 w 266"/>
                  <a:gd name="T19" fmla="*/ 178 h 391"/>
                  <a:gd name="T20" fmla="*/ 155 w 266"/>
                  <a:gd name="T21" fmla="*/ 180 h 391"/>
                  <a:gd name="T22" fmla="*/ 202 w 266"/>
                  <a:gd name="T23" fmla="*/ 187 h 391"/>
                  <a:gd name="T24" fmla="*/ 239 w 266"/>
                  <a:gd name="T25" fmla="*/ 204 h 391"/>
                  <a:gd name="T26" fmla="*/ 251 w 266"/>
                  <a:gd name="T27" fmla="*/ 215 h 391"/>
                  <a:gd name="T28" fmla="*/ 213 w 266"/>
                  <a:gd name="T29" fmla="*/ 204 h 391"/>
                  <a:gd name="T30" fmla="*/ 162 w 266"/>
                  <a:gd name="T31" fmla="*/ 198 h 391"/>
                  <a:gd name="T32" fmla="*/ 114 w 266"/>
                  <a:gd name="T33" fmla="*/ 195 h 391"/>
                  <a:gd name="T34" fmla="*/ 88 w 266"/>
                  <a:gd name="T35" fmla="*/ 203 h 391"/>
                  <a:gd name="T36" fmla="*/ 93 w 266"/>
                  <a:gd name="T37" fmla="*/ 248 h 391"/>
                  <a:gd name="T38" fmla="*/ 93 w 266"/>
                  <a:gd name="T39" fmla="*/ 307 h 391"/>
                  <a:gd name="T40" fmla="*/ 77 w 266"/>
                  <a:gd name="T41" fmla="*/ 354 h 391"/>
                  <a:gd name="T42" fmla="*/ 46 w 266"/>
                  <a:gd name="T43" fmla="*/ 390 h 391"/>
                  <a:gd name="T44" fmla="*/ 50 w 266"/>
                  <a:gd name="T45" fmla="*/ 346 h 391"/>
                  <a:gd name="T46" fmla="*/ 61 w 266"/>
                  <a:gd name="T47" fmla="*/ 299 h 391"/>
                  <a:gd name="T48" fmla="*/ 67 w 266"/>
                  <a:gd name="T49" fmla="*/ 238 h 391"/>
                  <a:gd name="T50" fmla="*/ 64 w 266"/>
                  <a:gd name="T51" fmla="*/ 198 h 391"/>
                  <a:gd name="T52" fmla="*/ 48 w 266"/>
                  <a:gd name="T53" fmla="*/ 221 h 391"/>
                  <a:gd name="T54" fmla="*/ 39 w 266"/>
                  <a:gd name="T55" fmla="*/ 273 h 391"/>
                  <a:gd name="T56" fmla="*/ 32 w 266"/>
                  <a:gd name="T57" fmla="*/ 325 h 391"/>
                  <a:gd name="T58" fmla="*/ 10 w 266"/>
                  <a:gd name="T59" fmla="*/ 364 h 391"/>
                  <a:gd name="T60" fmla="*/ 2 w 266"/>
                  <a:gd name="T61" fmla="*/ 364 h 391"/>
                  <a:gd name="T62" fmla="*/ 2 w 266"/>
                  <a:gd name="T63" fmla="*/ 324 h 391"/>
                  <a:gd name="T64" fmla="*/ 17 w 266"/>
                  <a:gd name="T65" fmla="*/ 287 h 391"/>
                  <a:gd name="T66" fmla="*/ 34 w 266"/>
                  <a:gd name="T67" fmla="*/ 239 h 391"/>
                  <a:gd name="T68" fmla="*/ 42 w 266"/>
                  <a:gd name="T69" fmla="*/ 204 h 391"/>
                  <a:gd name="T70" fmla="*/ 26 w 266"/>
                  <a:gd name="T71" fmla="*/ 182 h 391"/>
                  <a:gd name="T72" fmla="*/ 2 w 266"/>
                  <a:gd name="T73" fmla="*/ 184 h 391"/>
                  <a:gd name="T74" fmla="*/ 2 w 266"/>
                  <a:gd name="T75" fmla="*/ 184 h 391"/>
                  <a:gd name="T76" fmla="*/ 2 w 266"/>
                  <a:gd name="T77" fmla="*/ 184 h 391"/>
                  <a:gd name="T78" fmla="*/ 2 w 266"/>
                  <a:gd name="T79" fmla="*/ 184 h 391"/>
                  <a:gd name="T80" fmla="*/ 2 w 266"/>
                  <a:gd name="T81" fmla="*/ 184 h 391"/>
                  <a:gd name="T82" fmla="*/ 2 w 266"/>
                  <a:gd name="T83" fmla="*/ 184 h 391"/>
                  <a:gd name="T84" fmla="*/ 13 w 266"/>
                  <a:gd name="T85" fmla="*/ 161 h 391"/>
                  <a:gd name="T86" fmla="*/ 13 w 266"/>
                  <a:gd name="T87" fmla="*/ 138 h 391"/>
                  <a:gd name="T88" fmla="*/ 2 w 266"/>
                  <a:gd name="T89" fmla="*/ 105 h 391"/>
                  <a:gd name="T90" fmla="*/ 2 w 266"/>
                  <a:gd name="T91" fmla="*/ 105 h 391"/>
                  <a:gd name="T92" fmla="*/ 2 w 266"/>
                  <a:gd name="T93" fmla="*/ 105 h 391"/>
                  <a:gd name="T94" fmla="*/ 2 w 266"/>
                  <a:gd name="T95" fmla="*/ 105 h 391"/>
                  <a:gd name="T96" fmla="*/ 24 w 266"/>
                  <a:gd name="T97" fmla="*/ 122 h 391"/>
                  <a:gd name="T98" fmla="*/ 53 w 266"/>
                  <a:gd name="T99" fmla="*/ 157 h 391"/>
                  <a:gd name="T100" fmla="*/ 55 w 266"/>
                  <a:gd name="T101" fmla="*/ 130 h 391"/>
                  <a:gd name="T102" fmla="*/ 24 w 266"/>
                  <a:gd name="T103" fmla="*/ 91 h 391"/>
                  <a:gd name="T104" fmla="*/ 2 w 266"/>
                  <a:gd name="T105" fmla="*/ 65 h 391"/>
                  <a:gd name="T106" fmla="*/ 2 w 266"/>
                  <a:gd name="T107" fmla="*/ 65 h 391"/>
                  <a:gd name="T108" fmla="*/ 2 w 266"/>
                  <a:gd name="T109" fmla="*/ 48 h 391"/>
                  <a:gd name="T110" fmla="*/ 30 w 266"/>
                  <a:gd name="T111" fmla="*/ 87 h 391"/>
                  <a:gd name="T112" fmla="*/ 61 w 266"/>
                  <a:gd name="T113" fmla="*/ 138 h 391"/>
                  <a:gd name="T114" fmla="*/ 80 w 266"/>
                  <a:gd name="T115" fmla="*/ 127 h 391"/>
                  <a:gd name="T116" fmla="*/ 106 w 266"/>
                  <a:gd name="T117" fmla="*/ 87 h 391"/>
                  <a:gd name="T118" fmla="*/ 139 w 266"/>
                  <a:gd name="T119" fmla="*/ 39 h 391"/>
                  <a:gd name="T120" fmla="*/ 165 w 266"/>
                  <a:gd name="T121" fmla="*/ 6 h 391"/>
                  <a:gd name="T122" fmla="*/ 163 w 266"/>
                  <a:gd name="T123" fmla="*/ 29 h 391"/>
                  <a:gd name="T124" fmla="*/ 137 w 266"/>
                  <a:gd name="T125" fmla="*/ 76 h 39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nvGrpSpPr>
              <p:cNvPr id="1062" name="Group 15"/>
              <p:cNvGrpSpPr>
                <a:grpSpLocks/>
              </p:cNvGrpSpPr>
              <p:nvPr/>
            </p:nvGrpSpPr>
            <p:grpSpPr bwMode="auto">
              <a:xfrm>
                <a:off x="1707" y="1466"/>
                <a:ext cx="484" cy="368"/>
                <a:chOff x="1707" y="1466"/>
                <a:chExt cx="484" cy="368"/>
              </a:xfrm>
            </p:grpSpPr>
            <p:sp>
              <p:nvSpPr>
                <p:cNvPr id="1064" name="Freeform 16"/>
                <p:cNvSpPr>
                  <a:spLocks/>
                </p:cNvSpPr>
                <p:nvPr/>
              </p:nvSpPr>
              <p:spPr bwMode="ltGray">
                <a:xfrm>
                  <a:off x="1751" y="1466"/>
                  <a:ext cx="440" cy="342"/>
                </a:xfrm>
                <a:custGeom>
                  <a:avLst/>
                  <a:gdLst>
                    <a:gd name="T0" fmla="*/ 167 w 440"/>
                    <a:gd name="T1" fmla="*/ 42 h 342"/>
                    <a:gd name="T2" fmla="*/ 202 w 440"/>
                    <a:gd name="T3" fmla="*/ 14 h 342"/>
                    <a:gd name="T4" fmla="*/ 245 w 440"/>
                    <a:gd name="T5" fmla="*/ 3 h 342"/>
                    <a:gd name="T6" fmla="*/ 292 w 440"/>
                    <a:gd name="T7" fmla="*/ 2 h 342"/>
                    <a:gd name="T8" fmla="*/ 304 w 440"/>
                    <a:gd name="T9" fmla="*/ 7 h 342"/>
                    <a:gd name="T10" fmla="*/ 272 w 440"/>
                    <a:gd name="T11" fmla="*/ 15 h 342"/>
                    <a:gd name="T12" fmla="*/ 236 w 440"/>
                    <a:gd name="T13" fmla="*/ 26 h 342"/>
                    <a:gd name="T14" fmla="*/ 195 w 440"/>
                    <a:gd name="T15" fmla="*/ 55 h 342"/>
                    <a:gd name="T16" fmla="*/ 191 w 440"/>
                    <a:gd name="T17" fmla="*/ 94 h 342"/>
                    <a:gd name="T18" fmla="*/ 252 w 440"/>
                    <a:gd name="T19" fmla="*/ 70 h 342"/>
                    <a:gd name="T20" fmla="*/ 301 w 440"/>
                    <a:gd name="T21" fmla="*/ 67 h 342"/>
                    <a:gd name="T22" fmla="*/ 354 w 440"/>
                    <a:gd name="T23" fmla="*/ 72 h 342"/>
                    <a:gd name="T24" fmla="*/ 416 w 440"/>
                    <a:gd name="T25" fmla="*/ 79 h 342"/>
                    <a:gd name="T26" fmla="*/ 417 w 440"/>
                    <a:gd name="T27" fmla="*/ 80 h 342"/>
                    <a:gd name="T28" fmla="*/ 357 w 440"/>
                    <a:gd name="T29" fmla="*/ 83 h 342"/>
                    <a:gd name="T30" fmla="*/ 302 w 440"/>
                    <a:gd name="T31" fmla="*/ 84 h 342"/>
                    <a:gd name="T32" fmla="*/ 254 w 440"/>
                    <a:gd name="T33" fmla="*/ 90 h 342"/>
                    <a:gd name="T34" fmla="*/ 200 w 440"/>
                    <a:gd name="T35" fmla="*/ 103 h 342"/>
                    <a:gd name="T36" fmla="*/ 222 w 440"/>
                    <a:gd name="T37" fmla="*/ 123 h 342"/>
                    <a:gd name="T38" fmla="*/ 238 w 440"/>
                    <a:gd name="T39" fmla="*/ 142 h 342"/>
                    <a:gd name="T40" fmla="*/ 184 w 440"/>
                    <a:gd name="T41" fmla="*/ 125 h 342"/>
                    <a:gd name="T42" fmla="*/ 173 w 440"/>
                    <a:gd name="T43" fmla="*/ 136 h 342"/>
                    <a:gd name="T44" fmla="*/ 232 w 440"/>
                    <a:gd name="T45" fmla="*/ 145 h 342"/>
                    <a:gd name="T46" fmla="*/ 282 w 440"/>
                    <a:gd name="T47" fmla="*/ 157 h 342"/>
                    <a:gd name="T48" fmla="*/ 321 w 440"/>
                    <a:gd name="T49" fmla="*/ 190 h 342"/>
                    <a:gd name="T50" fmla="*/ 351 w 440"/>
                    <a:gd name="T51" fmla="*/ 234 h 342"/>
                    <a:gd name="T52" fmla="*/ 344 w 440"/>
                    <a:gd name="T53" fmla="*/ 242 h 342"/>
                    <a:gd name="T54" fmla="*/ 304 w 440"/>
                    <a:gd name="T55" fmla="*/ 214 h 342"/>
                    <a:gd name="T56" fmla="*/ 259 w 440"/>
                    <a:gd name="T57" fmla="*/ 183 h 342"/>
                    <a:gd name="T58" fmla="*/ 211 w 440"/>
                    <a:gd name="T59" fmla="*/ 162 h 342"/>
                    <a:gd name="T60" fmla="*/ 180 w 440"/>
                    <a:gd name="T61" fmla="*/ 155 h 342"/>
                    <a:gd name="T62" fmla="*/ 206 w 440"/>
                    <a:gd name="T63" fmla="*/ 189 h 342"/>
                    <a:gd name="T64" fmla="*/ 238 w 440"/>
                    <a:gd name="T65" fmla="*/ 234 h 342"/>
                    <a:gd name="T66" fmla="*/ 256 w 440"/>
                    <a:gd name="T67" fmla="*/ 275 h 342"/>
                    <a:gd name="T68" fmla="*/ 255 w 440"/>
                    <a:gd name="T69" fmla="*/ 313 h 342"/>
                    <a:gd name="T70" fmla="*/ 232 w 440"/>
                    <a:gd name="T71" fmla="*/ 271 h 342"/>
                    <a:gd name="T72" fmla="*/ 208 w 440"/>
                    <a:gd name="T73" fmla="*/ 226 h 342"/>
                    <a:gd name="T74" fmla="*/ 181 w 440"/>
                    <a:gd name="T75" fmla="*/ 185 h 342"/>
                    <a:gd name="T76" fmla="*/ 157 w 440"/>
                    <a:gd name="T77" fmla="*/ 149 h 342"/>
                    <a:gd name="T78" fmla="*/ 115 w 440"/>
                    <a:gd name="T79" fmla="*/ 170 h 342"/>
                    <a:gd name="T80" fmla="*/ 80 w 440"/>
                    <a:gd name="T81" fmla="*/ 221 h 342"/>
                    <a:gd name="T82" fmla="*/ 51 w 440"/>
                    <a:gd name="T83" fmla="*/ 273 h 342"/>
                    <a:gd name="T84" fmla="*/ 18 w 440"/>
                    <a:gd name="T85" fmla="*/ 321 h 342"/>
                    <a:gd name="T86" fmla="*/ 8 w 440"/>
                    <a:gd name="T87" fmla="*/ 315 h 342"/>
                    <a:gd name="T88" fmla="*/ 47 w 440"/>
                    <a:gd name="T89" fmla="*/ 255 h 342"/>
                    <a:gd name="T90" fmla="*/ 82 w 440"/>
                    <a:gd name="T91" fmla="*/ 208 h 342"/>
                    <a:gd name="T92" fmla="*/ 112 w 440"/>
                    <a:gd name="T93" fmla="*/ 162 h 342"/>
                    <a:gd name="T94" fmla="*/ 139 w 440"/>
                    <a:gd name="T95" fmla="*/ 126 h 342"/>
                    <a:gd name="T96" fmla="*/ 99 w 440"/>
                    <a:gd name="T97" fmla="*/ 83 h 342"/>
                    <a:gd name="T98" fmla="*/ 43 w 440"/>
                    <a:gd name="T99" fmla="*/ 60 h 342"/>
                    <a:gd name="T100" fmla="*/ 20 w 440"/>
                    <a:gd name="T101" fmla="*/ 47 h 342"/>
                    <a:gd name="T102" fmla="*/ 63 w 440"/>
                    <a:gd name="T103" fmla="*/ 61 h 342"/>
                    <a:gd name="T104" fmla="*/ 122 w 440"/>
                    <a:gd name="T105" fmla="*/ 90 h 3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5" name="Freeform 17"/>
                <p:cNvSpPr>
                  <a:spLocks/>
                </p:cNvSpPr>
                <p:nvPr/>
              </p:nvSpPr>
              <p:spPr bwMode="ltGray">
                <a:xfrm>
                  <a:off x="1900" y="1641"/>
                  <a:ext cx="39" cy="193"/>
                </a:xfrm>
                <a:custGeom>
                  <a:avLst/>
                  <a:gdLst>
                    <a:gd name="T0" fmla="*/ 20 w 39"/>
                    <a:gd name="T1" fmla="*/ 0 h 193"/>
                    <a:gd name="T2" fmla="*/ 25 w 39"/>
                    <a:gd name="T3" fmla="*/ 9 h 193"/>
                    <a:gd name="T4" fmla="*/ 28 w 39"/>
                    <a:gd name="T5" fmla="*/ 15 h 193"/>
                    <a:gd name="T6" fmla="*/ 34 w 39"/>
                    <a:gd name="T7" fmla="*/ 24 h 193"/>
                    <a:gd name="T8" fmla="*/ 36 w 39"/>
                    <a:gd name="T9" fmla="*/ 33 h 193"/>
                    <a:gd name="T10" fmla="*/ 37 w 39"/>
                    <a:gd name="T11" fmla="*/ 43 h 193"/>
                    <a:gd name="T12" fmla="*/ 37 w 39"/>
                    <a:gd name="T13" fmla="*/ 56 h 193"/>
                    <a:gd name="T14" fmla="*/ 38 w 39"/>
                    <a:gd name="T15" fmla="*/ 64 h 193"/>
                    <a:gd name="T16" fmla="*/ 37 w 39"/>
                    <a:gd name="T17" fmla="*/ 75 h 193"/>
                    <a:gd name="T18" fmla="*/ 36 w 39"/>
                    <a:gd name="T19" fmla="*/ 86 h 193"/>
                    <a:gd name="T20" fmla="*/ 34 w 39"/>
                    <a:gd name="T21" fmla="*/ 97 h 193"/>
                    <a:gd name="T22" fmla="*/ 31 w 39"/>
                    <a:gd name="T23" fmla="*/ 113 h 193"/>
                    <a:gd name="T24" fmla="*/ 29 w 39"/>
                    <a:gd name="T25" fmla="*/ 122 h 193"/>
                    <a:gd name="T26" fmla="*/ 24 w 39"/>
                    <a:gd name="T27" fmla="*/ 132 h 193"/>
                    <a:gd name="T28" fmla="*/ 18 w 39"/>
                    <a:gd name="T29" fmla="*/ 144 h 193"/>
                    <a:gd name="T30" fmla="*/ 12 w 39"/>
                    <a:gd name="T31" fmla="*/ 155 h 193"/>
                    <a:gd name="T32" fmla="*/ 7 w 39"/>
                    <a:gd name="T33" fmla="*/ 165 h 193"/>
                    <a:gd name="T34" fmla="*/ 3 w 39"/>
                    <a:gd name="T35" fmla="*/ 174 h 193"/>
                    <a:gd name="T36" fmla="*/ 0 w 39"/>
                    <a:gd name="T37" fmla="*/ 192 h 193"/>
                    <a:gd name="T38" fmla="*/ 1 w 39"/>
                    <a:gd name="T39" fmla="*/ 174 h 193"/>
                    <a:gd name="T40" fmla="*/ 3 w 39"/>
                    <a:gd name="T41" fmla="*/ 162 h 193"/>
                    <a:gd name="T42" fmla="*/ 4 w 39"/>
                    <a:gd name="T43" fmla="*/ 151 h 193"/>
                    <a:gd name="T44" fmla="*/ 5 w 39"/>
                    <a:gd name="T45" fmla="*/ 139 h 193"/>
                    <a:gd name="T46" fmla="*/ 7 w 39"/>
                    <a:gd name="T47" fmla="*/ 124 h 193"/>
                    <a:gd name="T48" fmla="*/ 10 w 39"/>
                    <a:gd name="T49" fmla="*/ 113 h 193"/>
                    <a:gd name="T50" fmla="*/ 12 w 39"/>
                    <a:gd name="T51" fmla="*/ 102 h 193"/>
                    <a:gd name="T52" fmla="*/ 15 w 39"/>
                    <a:gd name="T53" fmla="*/ 93 h 193"/>
                    <a:gd name="T54" fmla="*/ 18 w 39"/>
                    <a:gd name="T55" fmla="*/ 82 h 193"/>
                    <a:gd name="T56" fmla="*/ 20 w 39"/>
                    <a:gd name="T57" fmla="*/ 72 h 193"/>
                    <a:gd name="T58" fmla="*/ 22 w 39"/>
                    <a:gd name="T59" fmla="*/ 61 h 193"/>
                    <a:gd name="T60" fmla="*/ 23 w 39"/>
                    <a:gd name="T61" fmla="*/ 52 h 193"/>
                    <a:gd name="T62" fmla="*/ 24 w 39"/>
                    <a:gd name="T63" fmla="*/ 41 h 193"/>
                    <a:gd name="T64" fmla="*/ 24 w 39"/>
                    <a:gd name="T65" fmla="*/ 30 h 193"/>
                    <a:gd name="T66" fmla="*/ 24 w 39"/>
                    <a:gd name="T67" fmla="*/ 15 h 193"/>
                    <a:gd name="T68" fmla="*/ 22 w 39"/>
                    <a:gd name="T69" fmla="*/ 8 h 193"/>
                    <a:gd name="T70" fmla="*/ 20 w 39"/>
                    <a:gd name="T71" fmla="*/ 0 h 1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6" name="Freeform 18"/>
                <p:cNvSpPr>
                  <a:spLocks/>
                </p:cNvSpPr>
                <p:nvPr/>
              </p:nvSpPr>
              <p:spPr bwMode="ltGray">
                <a:xfrm>
                  <a:off x="1716" y="1535"/>
                  <a:ext cx="171" cy="50"/>
                </a:xfrm>
                <a:custGeom>
                  <a:avLst/>
                  <a:gdLst>
                    <a:gd name="T0" fmla="*/ 170 w 171"/>
                    <a:gd name="T1" fmla="*/ 49 h 50"/>
                    <a:gd name="T2" fmla="*/ 167 w 171"/>
                    <a:gd name="T3" fmla="*/ 40 h 50"/>
                    <a:gd name="T4" fmla="*/ 163 w 171"/>
                    <a:gd name="T5" fmla="*/ 33 h 50"/>
                    <a:gd name="T6" fmla="*/ 160 w 171"/>
                    <a:gd name="T7" fmla="*/ 31 h 50"/>
                    <a:gd name="T8" fmla="*/ 153 w 171"/>
                    <a:gd name="T9" fmla="*/ 29 h 50"/>
                    <a:gd name="T10" fmla="*/ 147 w 171"/>
                    <a:gd name="T11" fmla="*/ 27 h 50"/>
                    <a:gd name="T12" fmla="*/ 140 w 171"/>
                    <a:gd name="T13" fmla="*/ 29 h 50"/>
                    <a:gd name="T14" fmla="*/ 132 w 171"/>
                    <a:gd name="T15" fmla="*/ 30 h 50"/>
                    <a:gd name="T16" fmla="*/ 123 w 171"/>
                    <a:gd name="T17" fmla="*/ 27 h 50"/>
                    <a:gd name="T18" fmla="*/ 111 w 171"/>
                    <a:gd name="T19" fmla="*/ 22 h 50"/>
                    <a:gd name="T20" fmla="*/ 100 w 171"/>
                    <a:gd name="T21" fmla="*/ 18 h 50"/>
                    <a:gd name="T22" fmla="*/ 92 w 171"/>
                    <a:gd name="T23" fmla="*/ 16 h 50"/>
                    <a:gd name="T24" fmla="*/ 80 w 171"/>
                    <a:gd name="T25" fmla="*/ 12 h 50"/>
                    <a:gd name="T26" fmla="*/ 67 w 171"/>
                    <a:gd name="T27" fmla="*/ 8 h 50"/>
                    <a:gd name="T28" fmla="*/ 55 w 171"/>
                    <a:gd name="T29" fmla="*/ 5 h 50"/>
                    <a:gd name="T30" fmla="*/ 42 w 171"/>
                    <a:gd name="T31" fmla="*/ 1 h 50"/>
                    <a:gd name="T32" fmla="*/ 28 w 171"/>
                    <a:gd name="T33" fmla="*/ 1 h 50"/>
                    <a:gd name="T34" fmla="*/ 15 w 171"/>
                    <a:gd name="T35" fmla="*/ 0 h 50"/>
                    <a:gd name="T36" fmla="*/ 12 w 171"/>
                    <a:gd name="T37" fmla="*/ 1 h 50"/>
                    <a:gd name="T38" fmla="*/ 7 w 171"/>
                    <a:gd name="T39" fmla="*/ 4 h 50"/>
                    <a:gd name="T40" fmla="*/ 3 w 171"/>
                    <a:gd name="T41" fmla="*/ 7 h 50"/>
                    <a:gd name="T42" fmla="*/ 0 w 171"/>
                    <a:gd name="T43" fmla="*/ 11 h 50"/>
                    <a:gd name="T44" fmla="*/ 5 w 171"/>
                    <a:gd name="T45" fmla="*/ 11 h 50"/>
                    <a:gd name="T46" fmla="*/ 12 w 171"/>
                    <a:gd name="T47" fmla="*/ 12 h 50"/>
                    <a:gd name="T48" fmla="*/ 19 w 171"/>
                    <a:gd name="T49" fmla="*/ 12 h 50"/>
                    <a:gd name="T50" fmla="*/ 23 w 171"/>
                    <a:gd name="T51" fmla="*/ 11 h 50"/>
                    <a:gd name="T52" fmla="*/ 30 w 171"/>
                    <a:gd name="T53" fmla="*/ 11 h 50"/>
                    <a:gd name="T54" fmla="*/ 39 w 171"/>
                    <a:gd name="T55" fmla="*/ 11 h 50"/>
                    <a:gd name="T56" fmla="*/ 51 w 171"/>
                    <a:gd name="T57" fmla="*/ 11 h 50"/>
                    <a:gd name="T58" fmla="*/ 61 w 171"/>
                    <a:gd name="T59" fmla="*/ 12 h 50"/>
                    <a:gd name="T60" fmla="*/ 71 w 171"/>
                    <a:gd name="T61" fmla="*/ 14 h 50"/>
                    <a:gd name="T62" fmla="*/ 81 w 171"/>
                    <a:gd name="T63" fmla="*/ 15 h 50"/>
                    <a:gd name="T64" fmla="*/ 91 w 171"/>
                    <a:gd name="T65" fmla="*/ 16 h 50"/>
                    <a:gd name="T66" fmla="*/ 99 w 171"/>
                    <a:gd name="T67" fmla="*/ 19 h 50"/>
                    <a:gd name="T68" fmla="*/ 108 w 171"/>
                    <a:gd name="T69" fmla="*/ 23 h 50"/>
                    <a:gd name="T70" fmla="*/ 116 w 171"/>
                    <a:gd name="T71" fmla="*/ 27 h 50"/>
                    <a:gd name="T72" fmla="*/ 125 w 171"/>
                    <a:gd name="T73" fmla="*/ 31 h 50"/>
                    <a:gd name="T74" fmla="*/ 129 w 171"/>
                    <a:gd name="T75" fmla="*/ 32 h 50"/>
                    <a:gd name="T76" fmla="*/ 134 w 171"/>
                    <a:gd name="T77" fmla="*/ 31 h 50"/>
                    <a:gd name="T78" fmla="*/ 140 w 171"/>
                    <a:gd name="T79" fmla="*/ 34 h 50"/>
                    <a:gd name="T80" fmla="*/ 146 w 171"/>
                    <a:gd name="T81" fmla="*/ 37 h 50"/>
                    <a:gd name="T82" fmla="*/ 152 w 171"/>
                    <a:gd name="T83" fmla="*/ 40 h 50"/>
                    <a:gd name="T84" fmla="*/ 161 w 171"/>
                    <a:gd name="T85" fmla="*/ 44 h 50"/>
                    <a:gd name="T86" fmla="*/ 167 w 171"/>
                    <a:gd name="T87" fmla="*/ 46 h 50"/>
                    <a:gd name="T88" fmla="*/ 170 w 171"/>
                    <a:gd name="T89" fmla="*/ 49 h 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7" name="Freeform 19"/>
                <p:cNvSpPr>
                  <a:spLocks/>
                </p:cNvSpPr>
                <p:nvPr/>
              </p:nvSpPr>
              <p:spPr bwMode="ltGray">
                <a:xfrm>
                  <a:off x="1707" y="1563"/>
                  <a:ext cx="177" cy="21"/>
                </a:xfrm>
                <a:custGeom>
                  <a:avLst/>
                  <a:gdLst>
                    <a:gd name="T0" fmla="*/ 176 w 177"/>
                    <a:gd name="T1" fmla="*/ 20 h 21"/>
                    <a:gd name="T2" fmla="*/ 171 w 177"/>
                    <a:gd name="T3" fmla="*/ 18 h 21"/>
                    <a:gd name="T4" fmla="*/ 166 w 177"/>
                    <a:gd name="T5" fmla="*/ 16 h 21"/>
                    <a:gd name="T6" fmla="*/ 161 w 177"/>
                    <a:gd name="T7" fmla="*/ 13 h 21"/>
                    <a:gd name="T8" fmla="*/ 155 w 177"/>
                    <a:gd name="T9" fmla="*/ 12 h 21"/>
                    <a:gd name="T10" fmla="*/ 149 w 177"/>
                    <a:gd name="T11" fmla="*/ 10 h 21"/>
                    <a:gd name="T12" fmla="*/ 141 w 177"/>
                    <a:gd name="T13" fmla="*/ 6 h 21"/>
                    <a:gd name="T14" fmla="*/ 134 w 177"/>
                    <a:gd name="T15" fmla="*/ 3 h 21"/>
                    <a:gd name="T16" fmla="*/ 128 w 177"/>
                    <a:gd name="T17" fmla="*/ 2 h 21"/>
                    <a:gd name="T18" fmla="*/ 120 w 177"/>
                    <a:gd name="T19" fmla="*/ 3 h 21"/>
                    <a:gd name="T20" fmla="*/ 110 w 177"/>
                    <a:gd name="T21" fmla="*/ 5 h 21"/>
                    <a:gd name="T22" fmla="*/ 106 w 177"/>
                    <a:gd name="T23" fmla="*/ 5 h 21"/>
                    <a:gd name="T24" fmla="*/ 93 w 177"/>
                    <a:gd name="T25" fmla="*/ 3 h 21"/>
                    <a:gd name="T26" fmla="*/ 78 w 177"/>
                    <a:gd name="T27" fmla="*/ 1 h 21"/>
                    <a:gd name="T28" fmla="*/ 69 w 177"/>
                    <a:gd name="T29" fmla="*/ 0 h 21"/>
                    <a:gd name="T30" fmla="*/ 57 w 177"/>
                    <a:gd name="T31" fmla="*/ 0 h 21"/>
                    <a:gd name="T32" fmla="*/ 44 w 177"/>
                    <a:gd name="T33" fmla="*/ 0 h 21"/>
                    <a:gd name="T34" fmla="*/ 36 w 177"/>
                    <a:gd name="T35" fmla="*/ 1 h 21"/>
                    <a:gd name="T36" fmla="*/ 27 w 177"/>
                    <a:gd name="T37" fmla="*/ 2 h 21"/>
                    <a:gd name="T38" fmla="*/ 18 w 177"/>
                    <a:gd name="T39" fmla="*/ 3 h 21"/>
                    <a:gd name="T40" fmla="*/ 9 w 177"/>
                    <a:gd name="T41" fmla="*/ 4 h 21"/>
                    <a:gd name="T42" fmla="*/ 8 w 177"/>
                    <a:gd name="T43" fmla="*/ 8 h 21"/>
                    <a:gd name="T44" fmla="*/ 7 w 177"/>
                    <a:gd name="T45" fmla="*/ 11 h 21"/>
                    <a:gd name="T46" fmla="*/ 4 w 177"/>
                    <a:gd name="T47" fmla="*/ 15 h 21"/>
                    <a:gd name="T48" fmla="*/ 0 w 177"/>
                    <a:gd name="T49" fmla="*/ 17 h 21"/>
                    <a:gd name="T50" fmla="*/ 7 w 177"/>
                    <a:gd name="T51" fmla="*/ 16 h 21"/>
                    <a:gd name="T52" fmla="*/ 15 w 177"/>
                    <a:gd name="T53" fmla="*/ 14 h 21"/>
                    <a:gd name="T54" fmla="*/ 22 w 177"/>
                    <a:gd name="T55" fmla="*/ 12 h 21"/>
                    <a:gd name="T56" fmla="*/ 29 w 177"/>
                    <a:gd name="T57" fmla="*/ 11 h 21"/>
                    <a:gd name="T58" fmla="*/ 37 w 177"/>
                    <a:gd name="T59" fmla="*/ 10 h 21"/>
                    <a:gd name="T60" fmla="*/ 50 w 177"/>
                    <a:gd name="T61" fmla="*/ 10 h 21"/>
                    <a:gd name="T62" fmla="*/ 63 w 177"/>
                    <a:gd name="T63" fmla="*/ 8 h 21"/>
                    <a:gd name="T64" fmla="*/ 79 w 177"/>
                    <a:gd name="T65" fmla="*/ 8 h 21"/>
                    <a:gd name="T66" fmla="*/ 94 w 177"/>
                    <a:gd name="T67" fmla="*/ 7 h 21"/>
                    <a:gd name="T68" fmla="*/ 108 w 177"/>
                    <a:gd name="T69" fmla="*/ 6 h 21"/>
                    <a:gd name="T70" fmla="*/ 120 w 177"/>
                    <a:gd name="T71" fmla="*/ 7 h 21"/>
                    <a:gd name="T72" fmla="*/ 129 w 177"/>
                    <a:gd name="T73" fmla="*/ 10 h 21"/>
                    <a:gd name="T74" fmla="*/ 138 w 177"/>
                    <a:gd name="T75" fmla="*/ 12 h 21"/>
                    <a:gd name="T76" fmla="*/ 148 w 177"/>
                    <a:gd name="T77" fmla="*/ 14 h 21"/>
                    <a:gd name="T78" fmla="*/ 159 w 177"/>
                    <a:gd name="T79" fmla="*/ 17 h 21"/>
                    <a:gd name="T80" fmla="*/ 167 w 177"/>
                    <a:gd name="T81" fmla="*/ 18 h 21"/>
                    <a:gd name="T82" fmla="*/ 176 w 177"/>
                    <a:gd name="T83" fmla="*/ 20 h 2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sp>
            <p:nvSpPr>
              <p:cNvPr id="1063" name="Freeform 20"/>
              <p:cNvSpPr>
                <a:spLocks/>
              </p:cNvSpPr>
              <p:nvPr/>
            </p:nvSpPr>
            <p:spPr bwMode="ltGray">
              <a:xfrm>
                <a:off x="1691" y="1023"/>
                <a:ext cx="261" cy="374"/>
              </a:xfrm>
              <a:custGeom>
                <a:avLst/>
                <a:gdLst>
                  <a:gd name="T0" fmla="*/ 82 w 261"/>
                  <a:gd name="T1" fmla="*/ 162 h 374"/>
                  <a:gd name="T2" fmla="*/ 90 w 261"/>
                  <a:gd name="T3" fmla="*/ 154 h 374"/>
                  <a:gd name="T4" fmla="*/ 76 w 261"/>
                  <a:gd name="T5" fmla="*/ 104 h 374"/>
                  <a:gd name="T6" fmla="*/ 54 w 261"/>
                  <a:gd name="T7" fmla="*/ 56 h 374"/>
                  <a:gd name="T8" fmla="*/ 31 w 261"/>
                  <a:gd name="T9" fmla="*/ 33 h 374"/>
                  <a:gd name="T10" fmla="*/ 51 w 261"/>
                  <a:gd name="T11" fmla="*/ 45 h 374"/>
                  <a:gd name="T12" fmla="*/ 72 w 261"/>
                  <a:gd name="T13" fmla="*/ 84 h 374"/>
                  <a:gd name="T14" fmla="*/ 92 w 261"/>
                  <a:gd name="T15" fmla="*/ 126 h 374"/>
                  <a:gd name="T16" fmla="*/ 106 w 261"/>
                  <a:gd name="T17" fmla="*/ 168 h 374"/>
                  <a:gd name="T18" fmla="*/ 118 w 261"/>
                  <a:gd name="T19" fmla="*/ 150 h 374"/>
                  <a:gd name="T20" fmla="*/ 121 w 261"/>
                  <a:gd name="T21" fmla="*/ 114 h 374"/>
                  <a:gd name="T22" fmla="*/ 125 w 261"/>
                  <a:gd name="T23" fmla="*/ 65 h 374"/>
                  <a:gd name="T24" fmla="*/ 136 w 261"/>
                  <a:gd name="T25" fmla="*/ 26 h 374"/>
                  <a:gd name="T26" fmla="*/ 143 w 261"/>
                  <a:gd name="T27" fmla="*/ 12 h 374"/>
                  <a:gd name="T28" fmla="*/ 136 w 261"/>
                  <a:gd name="T29" fmla="*/ 53 h 374"/>
                  <a:gd name="T30" fmla="*/ 132 w 261"/>
                  <a:gd name="T31" fmla="*/ 106 h 374"/>
                  <a:gd name="T32" fmla="*/ 130 w 261"/>
                  <a:gd name="T33" fmla="*/ 155 h 374"/>
                  <a:gd name="T34" fmla="*/ 136 w 261"/>
                  <a:gd name="T35" fmla="*/ 183 h 374"/>
                  <a:gd name="T36" fmla="*/ 166 w 261"/>
                  <a:gd name="T37" fmla="*/ 177 h 374"/>
                  <a:gd name="T38" fmla="*/ 205 w 261"/>
                  <a:gd name="T39" fmla="*/ 178 h 374"/>
                  <a:gd name="T40" fmla="*/ 236 w 261"/>
                  <a:gd name="T41" fmla="*/ 193 h 374"/>
                  <a:gd name="T42" fmla="*/ 260 w 261"/>
                  <a:gd name="T43" fmla="*/ 227 h 374"/>
                  <a:gd name="T44" fmla="*/ 231 w 261"/>
                  <a:gd name="T45" fmla="*/ 222 h 374"/>
                  <a:gd name="T46" fmla="*/ 200 w 261"/>
                  <a:gd name="T47" fmla="*/ 211 h 374"/>
                  <a:gd name="T48" fmla="*/ 159 w 261"/>
                  <a:gd name="T49" fmla="*/ 204 h 374"/>
                  <a:gd name="T50" fmla="*/ 132 w 261"/>
                  <a:gd name="T51" fmla="*/ 208 h 374"/>
                  <a:gd name="T52" fmla="*/ 147 w 261"/>
                  <a:gd name="T53" fmla="*/ 224 h 374"/>
                  <a:gd name="T54" fmla="*/ 182 w 261"/>
                  <a:gd name="T55" fmla="*/ 233 h 374"/>
                  <a:gd name="T56" fmla="*/ 217 w 261"/>
                  <a:gd name="T57" fmla="*/ 240 h 374"/>
                  <a:gd name="T58" fmla="*/ 243 w 261"/>
                  <a:gd name="T59" fmla="*/ 264 h 374"/>
                  <a:gd name="T60" fmla="*/ 256 w 261"/>
                  <a:gd name="T61" fmla="*/ 297 h 374"/>
                  <a:gd name="T62" fmla="*/ 224 w 261"/>
                  <a:gd name="T63" fmla="*/ 277 h 374"/>
                  <a:gd name="T64" fmla="*/ 191 w 261"/>
                  <a:gd name="T65" fmla="*/ 256 h 374"/>
                  <a:gd name="T66" fmla="*/ 160 w 261"/>
                  <a:gd name="T67" fmla="*/ 238 h 374"/>
                  <a:gd name="T68" fmla="*/ 136 w 261"/>
                  <a:gd name="T69" fmla="*/ 230 h 374"/>
                  <a:gd name="T70" fmla="*/ 121 w 261"/>
                  <a:gd name="T71" fmla="*/ 246 h 374"/>
                  <a:gd name="T72" fmla="*/ 135 w 261"/>
                  <a:gd name="T73" fmla="*/ 290 h 374"/>
                  <a:gd name="T74" fmla="*/ 145 w 261"/>
                  <a:gd name="T75" fmla="*/ 342 h 374"/>
                  <a:gd name="T76" fmla="*/ 127 w 261"/>
                  <a:gd name="T77" fmla="*/ 346 h 374"/>
                  <a:gd name="T78" fmla="*/ 116 w 261"/>
                  <a:gd name="T79" fmla="*/ 290 h 374"/>
                  <a:gd name="T80" fmla="*/ 101 w 261"/>
                  <a:gd name="T81" fmla="*/ 256 h 374"/>
                  <a:gd name="T82" fmla="*/ 83 w 261"/>
                  <a:gd name="T83" fmla="*/ 274 h 374"/>
                  <a:gd name="T84" fmla="*/ 64 w 261"/>
                  <a:gd name="T85" fmla="*/ 309 h 374"/>
                  <a:gd name="T86" fmla="*/ 44 w 261"/>
                  <a:gd name="T87" fmla="*/ 360 h 374"/>
                  <a:gd name="T88" fmla="*/ 51 w 261"/>
                  <a:gd name="T89" fmla="*/ 314 h 374"/>
                  <a:gd name="T90" fmla="*/ 69 w 261"/>
                  <a:gd name="T91" fmla="*/ 272 h 374"/>
                  <a:gd name="T92" fmla="*/ 91 w 261"/>
                  <a:gd name="T93" fmla="*/ 238 h 374"/>
                  <a:gd name="T94" fmla="*/ 99 w 261"/>
                  <a:gd name="T95" fmla="*/ 212 h 374"/>
                  <a:gd name="T96" fmla="*/ 77 w 261"/>
                  <a:gd name="T97" fmla="*/ 226 h 374"/>
                  <a:gd name="T98" fmla="*/ 52 w 261"/>
                  <a:gd name="T99" fmla="*/ 261 h 374"/>
                  <a:gd name="T100" fmla="*/ 28 w 261"/>
                  <a:gd name="T101" fmla="*/ 301 h 374"/>
                  <a:gd name="T102" fmla="*/ 24 w 261"/>
                  <a:gd name="T103" fmla="*/ 288 h 374"/>
                  <a:gd name="T104" fmla="*/ 42 w 261"/>
                  <a:gd name="T105" fmla="*/ 262 h 374"/>
                  <a:gd name="T106" fmla="*/ 71 w 261"/>
                  <a:gd name="T107" fmla="*/ 229 h 374"/>
                  <a:gd name="T108" fmla="*/ 101 w 261"/>
                  <a:gd name="T109" fmla="*/ 206 h 374"/>
                  <a:gd name="T110" fmla="*/ 73 w 261"/>
                  <a:gd name="T111" fmla="*/ 180 h 374"/>
                  <a:gd name="T112" fmla="*/ 46 w 261"/>
                  <a:gd name="T113" fmla="*/ 148 h 374"/>
                  <a:gd name="T114" fmla="*/ 17 w 261"/>
                  <a:gd name="T115" fmla="*/ 118 h 374"/>
                  <a:gd name="T116" fmla="*/ 3 w 261"/>
                  <a:gd name="T117" fmla="*/ 98 h 374"/>
                  <a:gd name="T118" fmla="*/ 32 w 261"/>
                  <a:gd name="T119" fmla="*/ 115 h 374"/>
                  <a:gd name="T120" fmla="*/ 64 w 261"/>
                  <a:gd name="T121" fmla="*/ 145 h 3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nvGrpSpPr>
            <p:cNvPr id="1047" name="Group 21"/>
            <p:cNvGrpSpPr>
              <a:grpSpLocks/>
            </p:cNvGrpSpPr>
            <p:nvPr/>
          </p:nvGrpSpPr>
          <p:grpSpPr bwMode="auto">
            <a:xfrm>
              <a:off x="300" y="3360"/>
              <a:ext cx="508" cy="820"/>
              <a:chOff x="1985" y="1201"/>
              <a:chExt cx="508" cy="820"/>
            </a:xfrm>
          </p:grpSpPr>
          <p:grpSp>
            <p:nvGrpSpPr>
              <p:cNvPr id="1048" name="Group 22"/>
              <p:cNvGrpSpPr>
                <a:grpSpLocks/>
              </p:cNvGrpSpPr>
              <p:nvPr/>
            </p:nvGrpSpPr>
            <p:grpSpPr bwMode="auto">
              <a:xfrm>
                <a:off x="2247" y="1201"/>
                <a:ext cx="246" cy="810"/>
                <a:chOff x="2247" y="1201"/>
                <a:chExt cx="246" cy="810"/>
              </a:xfrm>
            </p:grpSpPr>
            <p:sp>
              <p:nvSpPr>
                <p:cNvPr id="1057" name="Freeform 23"/>
                <p:cNvSpPr>
                  <a:spLocks/>
                </p:cNvSpPr>
                <p:nvPr/>
              </p:nvSpPr>
              <p:spPr bwMode="ltGray">
                <a:xfrm>
                  <a:off x="2392" y="1373"/>
                  <a:ext cx="92" cy="638"/>
                </a:xfrm>
                <a:custGeom>
                  <a:avLst/>
                  <a:gdLst>
                    <a:gd name="T0" fmla="*/ 91 w 92"/>
                    <a:gd name="T1" fmla="*/ 296 h 638"/>
                    <a:gd name="T2" fmla="*/ 83 w 92"/>
                    <a:gd name="T3" fmla="*/ 425 h 638"/>
                    <a:gd name="T4" fmla="*/ 75 w 92"/>
                    <a:gd name="T5" fmla="*/ 529 h 638"/>
                    <a:gd name="T6" fmla="*/ 70 w 92"/>
                    <a:gd name="T7" fmla="*/ 606 h 638"/>
                    <a:gd name="T8" fmla="*/ 71 w 92"/>
                    <a:gd name="T9" fmla="*/ 637 h 638"/>
                    <a:gd name="T10" fmla="*/ 60 w 92"/>
                    <a:gd name="T11" fmla="*/ 637 h 638"/>
                    <a:gd name="T12" fmla="*/ 57 w 92"/>
                    <a:gd name="T13" fmla="*/ 592 h 638"/>
                    <a:gd name="T14" fmla="*/ 55 w 92"/>
                    <a:gd name="T15" fmla="*/ 524 h 638"/>
                    <a:gd name="T16" fmla="*/ 51 w 92"/>
                    <a:gd name="T17" fmla="*/ 461 h 638"/>
                    <a:gd name="T18" fmla="*/ 49 w 92"/>
                    <a:gd name="T19" fmla="*/ 414 h 638"/>
                    <a:gd name="T20" fmla="*/ 45 w 92"/>
                    <a:gd name="T21" fmla="*/ 345 h 638"/>
                    <a:gd name="T22" fmla="*/ 40 w 92"/>
                    <a:gd name="T23" fmla="*/ 285 h 638"/>
                    <a:gd name="T24" fmla="*/ 35 w 92"/>
                    <a:gd name="T25" fmla="*/ 233 h 638"/>
                    <a:gd name="T26" fmla="*/ 31 w 92"/>
                    <a:gd name="T27" fmla="*/ 177 h 638"/>
                    <a:gd name="T28" fmla="*/ 24 w 92"/>
                    <a:gd name="T29" fmla="*/ 121 h 638"/>
                    <a:gd name="T30" fmla="*/ 17 w 92"/>
                    <a:gd name="T31" fmla="*/ 74 h 638"/>
                    <a:gd name="T32" fmla="*/ 4 w 92"/>
                    <a:gd name="T33" fmla="*/ 28 h 638"/>
                    <a:gd name="T34" fmla="*/ 0 w 92"/>
                    <a:gd name="T35" fmla="*/ 10 h 638"/>
                    <a:gd name="T36" fmla="*/ 5 w 92"/>
                    <a:gd name="T37" fmla="*/ 0 h 638"/>
                    <a:gd name="T38" fmla="*/ 13 w 92"/>
                    <a:gd name="T39" fmla="*/ 18 h 638"/>
                    <a:gd name="T40" fmla="*/ 24 w 92"/>
                    <a:gd name="T41" fmla="*/ 61 h 638"/>
                    <a:gd name="T42" fmla="*/ 33 w 92"/>
                    <a:gd name="T43" fmla="*/ 104 h 638"/>
                    <a:gd name="T44" fmla="*/ 40 w 92"/>
                    <a:gd name="T45" fmla="*/ 150 h 638"/>
                    <a:gd name="T46" fmla="*/ 44 w 92"/>
                    <a:gd name="T47" fmla="*/ 208 h 638"/>
                    <a:gd name="T48" fmla="*/ 48 w 92"/>
                    <a:gd name="T49" fmla="*/ 263 h 638"/>
                    <a:gd name="T50" fmla="*/ 55 w 92"/>
                    <a:gd name="T51" fmla="*/ 337 h 638"/>
                    <a:gd name="T52" fmla="*/ 59 w 92"/>
                    <a:gd name="T53" fmla="*/ 398 h 638"/>
                    <a:gd name="T54" fmla="*/ 61 w 92"/>
                    <a:gd name="T55" fmla="*/ 447 h 638"/>
                    <a:gd name="T56" fmla="*/ 63 w 92"/>
                    <a:gd name="T57" fmla="*/ 498 h 638"/>
                    <a:gd name="T58" fmla="*/ 68 w 92"/>
                    <a:gd name="T59" fmla="*/ 550 h 638"/>
                    <a:gd name="T60" fmla="*/ 73 w 92"/>
                    <a:gd name="T61" fmla="*/ 460 h 638"/>
                    <a:gd name="T62" fmla="*/ 80 w 92"/>
                    <a:gd name="T63" fmla="*/ 376 h 638"/>
                    <a:gd name="T64" fmla="*/ 91 w 92"/>
                    <a:gd name="T65" fmla="*/ 296 h 6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8" name="Freeform 24"/>
                <p:cNvSpPr>
                  <a:spLocks/>
                </p:cNvSpPr>
                <p:nvPr/>
              </p:nvSpPr>
              <p:spPr bwMode="ltGray">
                <a:xfrm>
                  <a:off x="2247" y="1201"/>
                  <a:ext cx="246" cy="466"/>
                </a:xfrm>
                <a:custGeom>
                  <a:avLst/>
                  <a:gdLst>
                    <a:gd name="T0" fmla="*/ 136 w 246"/>
                    <a:gd name="T1" fmla="*/ 67 h 466"/>
                    <a:gd name="T2" fmla="*/ 105 w 246"/>
                    <a:gd name="T3" fmla="*/ 12 h 466"/>
                    <a:gd name="T4" fmla="*/ 55 w 246"/>
                    <a:gd name="T5" fmla="*/ 1 h 466"/>
                    <a:gd name="T6" fmla="*/ 58 w 246"/>
                    <a:gd name="T7" fmla="*/ 12 h 466"/>
                    <a:gd name="T8" fmla="*/ 96 w 246"/>
                    <a:gd name="T9" fmla="*/ 39 h 466"/>
                    <a:gd name="T10" fmla="*/ 130 w 246"/>
                    <a:gd name="T11" fmla="*/ 134 h 466"/>
                    <a:gd name="T12" fmla="*/ 73 w 246"/>
                    <a:gd name="T13" fmla="*/ 85 h 466"/>
                    <a:gd name="T14" fmla="*/ 32 w 246"/>
                    <a:gd name="T15" fmla="*/ 75 h 466"/>
                    <a:gd name="T16" fmla="*/ 7 w 246"/>
                    <a:gd name="T17" fmla="*/ 103 h 466"/>
                    <a:gd name="T18" fmla="*/ 38 w 246"/>
                    <a:gd name="T19" fmla="*/ 103 h 466"/>
                    <a:gd name="T20" fmla="*/ 108 w 246"/>
                    <a:gd name="T21" fmla="*/ 129 h 466"/>
                    <a:gd name="T22" fmla="*/ 104 w 246"/>
                    <a:gd name="T23" fmla="*/ 146 h 466"/>
                    <a:gd name="T24" fmla="*/ 92 w 246"/>
                    <a:gd name="T25" fmla="*/ 171 h 466"/>
                    <a:gd name="T26" fmla="*/ 126 w 246"/>
                    <a:gd name="T27" fmla="*/ 170 h 466"/>
                    <a:gd name="T28" fmla="*/ 69 w 246"/>
                    <a:gd name="T29" fmla="*/ 193 h 466"/>
                    <a:gd name="T30" fmla="*/ 37 w 246"/>
                    <a:gd name="T31" fmla="*/ 233 h 466"/>
                    <a:gd name="T32" fmla="*/ 6 w 246"/>
                    <a:gd name="T33" fmla="*/ 325 h 466"/>
                    <a:gd name="T34" fmla="*/ 72 w 246"/>
                    <a:gd name="T35" fmla="*/ 231 h 466"/>
                    <a:gd name="T36" fmla="*/ 118 w 246"/>
                    <a:gd name="T37" fmla="*/ 194 h 466"/>
                    <a:gd name="T38" fmla="*/ 94 w 246"/>
                    <a:gd name="T39" fmla="*/ 269 h 466"/>
                    <a:gd name="T40" fmla="*/ 76 w 246"/>
                    <a:gd name="T41" fmla="*/ 338 h 466"/>
                    <a:gd name="T42" fmla="*/ 71 w 246"/>
                    <a:gd name="T43" fmla="*/ 408 h 466"/>
                    <a:gd name="T44" fmla="*/ 98 w 246"/>
                    <a:gd name="T45" fmla="*/ 303 h 466"/>
                    <a:gd name="T46" fmla="*/ 124 w 246"/>
                    <a:gd name="T47" fmla="*/ 236 h 466"/>
                    <a:gd name="T48" fmla="*/ 125 w 246"/>
                    <a:gd name="T49" fmla="*/ 214 h 466"/>
                    <a:gd name="T50" fmla="*/ 118 w 246"/>
                    <a:gd name="T51" fmla="*/ 323 h 466"/>
                    <a:gd name="T52" fmla="*/ 138 w 246"/>
                    <a:gd name="T53" fmla="*/ 439 h 466"/>
                    <a:gd name="T54" fmla="*/ 128 w 246"/>
                    <a:gd name="T55" fmla="*/ 313 h 466"/>
                    <a:gd name="T56" fmla="*/ 127 w 246"/>
                    <a:gd name="T57" fmla="*/ 223 h 466"/>
                    <a:gd name="T58" fmla="*/ 147 w 246"/>
                    <a:gd name="T59" fmla="*/ 189 h 466"/>
                    <a:gd name="T60" fmla="*/ 188 w 246"/>
                    <a:gd name="T61" fmla="*/ 298 h 466"/>
                    <a:gd name="T62" fmla="*/ 223 w 246"/>
                    <a:gd name="T63" fmla="*/ 411 h 466"/>
                    <a:gd name="T64" fmla="*/ 193 w 246"/>
                    <a:gd name="T65" fmla="*/ 292 h 466"/>
                    <a:gd name="T66" fmla="*/ 160 w 246"/>
                    <a:gd name="T67" fmla="*/ 190 h 466"/>
                    <a:gd name="T68" fmla="*/ 164 w 246"/>
                    <a:gd name="T69" fmla="*/ 121 h 466"/>
                    <a:gd name="T70" fmla="*/ 194 w 246"/>
                    <a:gd name="T71" fmla="*/ 130 h 466"/>
                    <a:gd name="T72" fmla="*/ 240 w 246"/>
                    <a:gd name="T73" fmla="*/ 125 h 466"/>
                    <a:gd name="T74" fmla="*/ 216 w 246"/>
                    <a:gd name="T75" fmla="*/ 122 h 466"/>
                    <a:gd name="T76" fmla="*/ 163 w 246"/>
                    <a:gd name="T77" fmla="*/ 144 h 466"/>
                    <a:gd name="T78" fmla="*/ 194 w 246"/>
                    <a:gd name="T79" fmla="*/ 109 h 466"/>
                    <a:gd name="T80" fmla="*/ 244 w 246"/>
                    <a:gd name="T81" fmla="*/ 101 h 466"/>
                    <a:gd name="T82" fmla="*/ 229 w 246"/>
                    <a:gd name="T83" fmla="*/ 88 h 466"/>
                    <a:gd name="T84" fmla="*/ 163 w 246"/>
                    <a:gd name="T85" fmla="*/ 138 h 466"/>
                    <a:gd name="T86" fmla="*/ 172 w 246"/>
                    <a:gd name="T87" fmla="*/ 99 h 466"/>
                    <a:gd name="T88" fmla="*/ 226 w 246"/>
                    <a:gd name="T89" fmla="*/ 61 h 466"/>
                    <a:gd name="T90" fmla="*/ 188 w 246"/>
                    <a:gd name="T91" fmla="*/ 82 h 466"/>
                    <a:gd name="T92" fmla="*/ 147 w 246"/>
                    <a:gd name="T93" fmla="*/ 109 h 46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nvGrpSpPr>
              <p:cNvPr id="1049" name="Group 25"/>
              <p:cNvGrpSpPr>
                <a:grpSpLocks/>
              </p:cNvGrpSpPr>
              <p:nvPr/>
            </p:nvGrpSpPr>
            <p:grpSpPr bwMode="auto">
              <a:xfrm>
                <a:off x="1985" y="1419"/>
                <a:ext cx="465" cy="602"/>
                <a:chOff x="1985" y="1419"/>
                <a:chExt cx="465" cy="602"/>
              </a:xfrm>
            </p:grpSpPr>
            <p:sp>
              <p:nvSpPr>
                <p:cNvPr id="1050" name="Freeform 26"/>
                <p:cNvSpPr>
                  <a:spLocks/>
                </p:cNvSpPr>
                <p:nvPr/>
              </p:nvSpPr>
              <p:spPr bwMode="ltGray">
                <a:xfrm>
                  <a:off x="2164" y="1525"/>
                  <a:ext cx="130" cy="496"/>
                </a:xfrm>
                <a:custGeom>
                  <a:avLst/>
                  <a:gdLst>
                    <a:gd name="T0" fmla="*/ 129 w 130"/>
                    <a:gd name="T1" fmla="*/ 230 h 496"/>
                    <a:gd name="T2" fmla="*/ 118 w 130"/>
                    <a:gd name="T3" fmla="*/ 330 h 496"/>
                    <a:gd name="T4" fmla="*/ 107 w 130"/>
                    <a:gd name="T5" fmla="*/ 411 h 496"/>
                    <a:gd name="T6" fmla="*/ 100 w 130"/>
                    <a:gd name="T7" fmla="*/ 471 h 496"/>
                    <a:gd name="T8" fmla="*/ 101 w 130"/>
                    <a:gd name="T9" fmla="*/ 495 h 496"/>
                    <a:gd name="T10" fmla="*/ 86 w 130"/>
                    <a:gd name="T11" fmla="*/ 495 h 496"/>
                    <a:gd name="T12" fmla="*/ 81 w 130"/>
                    <a:gd name="T13" fmla="*/ 460 h 496"/>
                    <a:gd name="T14" fmla="*/ 79 w 130"/>
                    <a:gd name="T15" fmla="*/ 408 h 496"/>
                    <a:gd name="T16" fmla="*/ 73 w 130"/>
                    <a:gd name="T17" fmla="*/ 358 h 496"/>
                    <a:gd name="T18" fmla="*/ 70 w 130"/>
                    <a:gd name="T19" fmla="*/ 321 h 496"/>
                    <a:gd name="T20" fmla="*/ 64 w 130"/>
                    <a:gd name="T21" fmla="*/ 268 h 496"/>
                    <a:gd name="T22" fmla="*/ 56 w 130"/>
                    <a:gd name="T23" fmla="*/ 222 h 496"/>
                    <a:gd name="T24" fmla="*/ 51 w 130"/>
                    <a:gd name="T25" fmla="*/ 181 h 496"/>
                    <a:gd name="T26" fmla="*/ 45 w 130"/>
                    <a:gd name="T27" fmla="*/ 137 h 496"/>
                    <a:gd name="T28" fmla="*/ 35 w 130"/>
                    <a:gd name="T29" fmla="*/ 94 h 496"/>
                    <a:gd name="T30" fmla="*/ 24 w 130"/>
                    <a:gd name="T31" fmla="*/ 57 h 496"/>
                    <a:gd name="T32" fmla="*/ 6 w 130"/>
                    <a:gd name="T33" fmla="*/ 21 h 496"/>
                    <a:gd name="T34" fmla="*/ 0 w 130"/>
                    <a:gd name="T35" fmla="*/ 8 h 496"/>
                    <a:gd name="T36" fmla="*/ 7 w 130"/>
                    <a:gd name="T37" fmla="*/ 0 h 496"/>
                    <a:gd name="T38" fmla="*/ 19 w 130"/>
                    <a:gd name="T39" fmla="*/ 14 h 496"/>
                    <a:gd name="T40" fmla="*/ 35 w 130"/>
                    <a:gd name="T41" fmla="*/ 47 h 496"/>
                    <a:gd name="T42" fmla="*/ 47 w 130"/>
                    <a:gd name="T43" fmla="*/ 81 h 496"/>
                    <a:gd name="T44" fmla="*/ 56 w 130"/>
                    <a:gd name="T45" fmla="*/ 116 h 496"/>
                    <a:gd name="T46" fmla="*/ 63 w 130"/>
                    <a:gd name="T47" fmla="*/ 161 h 496"/>
                    <a:gd name="T48" fmla="*/ 69 w 130"/>
                    <a:gd name="T49" fmla="*/ 204 h 496"/>
                    <a:gd name="T50" fmla="*/ 77 w 130"/>
                    <a:gd name="T51" fmla="*/ 262 h 496"/>
                    <a:gd name="T52" fmla="*/ 84 w 130"/>
                    <a:gd name="T53" fmla="*/ 309 h 496"/>
                    <a:gd name="T54" fmla="*/ 87 w 130"/>
                    <a:gd name="T55" fmla="*/ 347 h 496"/>
                    <a:gd name="T56" fmla="*/ 90 w 130"/>
                    <a:gd name="T57" fmla="*/ 386 h 496"/>
                    <a:gd name="T58" fmla="*/ 96 w 130"/>
                    <a:gd name="T59" fmla="*/ 427 h 496"/>
                    <a:gd name="T60" fmla="*/ 104 w 130"/>
                    <a:gd name="T61" fmla="*/ 357 h 496"/>
                    <a:gd name="T62" fmla="*/ 114 w 130"/>
                    <a:gd name="T63" fmla="*/ 292 h 496"/>
                    <a:gd name="T64" fmla="*/ 129 w 130"/>
                    <a:gd name="T65" fmla="*/ 230 h 4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1" name="Freeform 27"/>
                <p:cNvSpPr>
                  <a:spLocks/>
                </p:cNvSpPr>
                <p:nvPr/>
              </p:nvSpPr>
              <p:spPr bwMode="ltGray">
                <a:xfrm>
                  <a:off x="2204" y="1606"/>
                  <a:ext cx="229" cy="358"/>
                </a:xfrm>
                <a:custGeom>
                  <a:avLst/>
                  <a:gdLst>
                    <a:gd name="T0" fmla="*/ 60 w 229"/>
                    <a:gd name="T1" fmla="*/ 58 h 358"/>
                    <a:gd name="T2" fmla="*/ 67 w 229"/>
                    <a:gd name="T3" fmla="*/ 44 h 358"/>
                    <a:gd name="T4" fmla="*/ 64 w 229"/>
                    <a:gd name="T5" fmla="*/ 5 h 358"/>
                    <a:gd name="T6" fmla="*/ 64 w 229"/>
                    <a:gd name="T7" fmla="*/ 5 h 358"/>
                    <a:gd name="T8" fmla="*/ 64 w 229"/>
                    <a:gd name="T9" fmla="*/ 5 h 358"/>
                    <a:gd name="T10" fmla="*/ 64 w 229"/>
                    <a:gd name="T11" fmla="*/ 5 h 358"/>
                    <a:gd name="T12" fmla="*/ 64 w 229"/>
                    <a:gd name="T13" fmla="*/ 5 h 358"/>
                    <a:gd name="T14" fmla="*/ 70 w 229"/>
                    <a:gd name="T15" fmla="*/ 2 h 358"/>
                    <a:gd name="T16" fmla="*/ 82 w 229"/>
                    <a:gd name="T17" fmla="*/ 66 h 358"/>
                    <a:gd name="T18" fmla="*/ 94 w 229"/>
                    <a:gd name="T19" fmla="*/ 39 h 358"/>
                    <a:gd name="T20" fmla="*/ 101 w 229"/>
                    <a:gd name="T21" fmla="*/ 5 h 358"/>
                    <a:gd name="T22" fmla="*/ 104 w 229"/>
                    <a:gd name="T23" fmla="*/ 5 h 358"/>
                    <a:gd name="T24" fmla="*/ 103 w 229"/>
                    <a:gd name="T25" fmla="*/ 5 h 358"/>
                    <a:gd name="T26" fmla="*/ 104 w 229"/>
                    <a:gd name="T27" fmla="*/ 5 h 358"/>
                    <a:gd name="T28" fmla="*/ 102 w 229"/>
                    <a:gd name="T29" fmla="*/ 5 h 358"/>
                    <a:gd name="T30" fmla="*/ 103 w 229"/>
                    <a:gd name="T31" fmla="*/ 5 h 358"/>
                    <a:gd name="T32" fmla="*/ 105 w 229"/>
                    <a:gd name="T33" fmla="*/ 47 h 358"/>
                    <a:gd name="T34" fmla="*/ 111 w 229"/>
                    <a:gd name="T35" fmla="*/ 88 h 358"/>
                    <a:gd name="T36" fmla="*/ 139 w 229"/>
                    <a:gd name="T37" fmla="*/ 79 h 358"/>
                    <a:gd name="T38" fmla="*/ 176 w 229"/>
                    <a:gd name="T39" fmla="*/ 81 h 358"/>
                    <a:gd name="T40" fmla="*/ 205 w 229"/>
                    <a:gd name="T41" fmla="*/ 104 h 358"/>
                    <a:gd name="T42" fmla="*/ 228 w 229"/>
                    <a:gd name="T43" fmla="*/ 155 h 358"/>
                    <a:gd name="T44" fmla="*/ 200 w 229"/>
                    <a:gd name="T45" fmla="*/ 147 h 358"/>
                    <a:gd name="T46" fmla="*/ 171 w 229"/>
                    <a:gd name="T47" fmla="*/ 131 h 358"/>
                    <a:gd name="T48" fmla="*/ 132 w 229"/>
                    <a:gd name="T49" fmla="*/ 121 h 358"/>
                    <a:gd name="T50" fmla="*/ 107 w 229"/>
                    <a:gd name="T51" fmla="*/ 125 h 358"/>
                    <a:gd name="T52" fmla="*/ 122 w 229"/>
                    <a:gd name="T53" fmla="*/ 150 h 358"/>
                    <a:gd name="T54" fmla="*/ 154 w 229"/>
                    <a:gd name="T55" fmla="*/ 165 h 358"/>
                    <a:gd name="T56" fmla="*/ 187 w 229"/>
                    <a:gd name="T57" fmla="*/ 175 h 358"/>
                    <a:gd name="T58" fmla="*/ 212 w 229"/>
                    <a:gd name="T59" fmla="*/ 212 h 358"/>
                    <a:gd name="T60" fmla="*/ 224 w 229"/>
                    <a:gd name="T61" fmla="*/ 262 h 358"/>
                    <a:gd name="T62" fmla="*/ 194 w 229"/>
                    <a:gd name="T63" fmla="*/ 231 h 358"/>
                    <a:gd name="T64" fmla="*/ 163 w 229"/>
                    <a:gd name="T65" fmla="*/ 199 h 358"/>
                    <a:gd name="T66" fmla="*/ 133 w 229"/>
                    <a:gd name="T67" fmla="*/ 172 h 358"/>
                    <a:gd name="T68" fmla="*/ 111 w 229"/>
                    <a:gd name="T69" fmla="*/ 159 h 358"/>
                    <a:gd name="T70" fmla="*/ 97 w 229"/>
                    <a:gd name="T71" fmla="*/ 185 h 358"/>
                    <a:gd name="T72" fmla="*/ 115 w 229"/>
                    <a:gd name="T73" fmla="*/ 245 h 358"/>
                    <a:gd name="T74" fmla="*/ 132 w 229"/>
                    <a:gd name="T75" fmla="*/ 312 h 358"/>
                    <a:gd name="T76" fmla="*/ 114 w 229"/>
                    <a:gd name="T77" fmla="*/ 328 h 358"/>
                    <a:gd name="T78" fmla="*/ 95 w 229"/>
                    <a:gd name="T79" fmla="*/ 236 h 358"/>
                    <a:gd name="T80" fmla="*/ 78 w 229"/>
                    <a:gd name="T81" fmla="*/ 179 h 358"/>
                    <a:gd name="T82" fmla="*/ 73 w 229"/>
                    <a:gd name="T83" fmla="*/ 197 h 358"/>
                    <a:gd name="T84" fmla="*/ 74 w 229"/>
                    <a:gd name="T85" fmla="*/ 186 h 358"/>
                    <a:gd name="T86" fmla="*/ 70 w 229"/>
                    <a:gd name="T87" fmla="*/ 206 h 358"/>
                    <a:gd name="T88" fmla="*/ 51 w 229"/>
                    <a:gd name="T89" fmla="*/ 257 h 358"/>
                    <a:gd name="T90" fmla="*/ 32 w 229"/>
                    <a:gd name="T91" fmla="*/ 322 h 358"/>
                    <a:gd name="T92" fmla="*/ 28 w 229"/>
                    <a:gd name="T93" fmla="*/ 304 h 358"/>
                    <a:gd name="T94" fmla="*/ 38 w 229"/>
                    <a:gd name="T95" fmla="*/ 249 h 358"/>
                    <a:gd name="T96" fmla="*/ 59 w 229"/>
                    <a:gd name="T97" fmla="*/ 189 h 358"/>
                    <a:gd name="T98" fmla="*/ 82 w 229"/>
                    <a:gd name="T99" fmla="*/ 143 h 358"/>
                    <a:gd name="T100" fmla="*/ 65 w 229"/>
                    <a:gd name="T101" fmla="*/ 139 h 358"/>
                    <a:gd name="T102" fmla="*/ 40 w 229"/>
                    <a:gd name="T103" fmla="*/ 189 h 358"/>
                    <a:gd name="T104" fmla="*/ 18 w 229"/>
                    <a:gd name="T105" fmla="*/ 243 h 358"/>
                    <a:gd name="T106" fmla="*/ 2 w 229"/>
                    <a:gd name="T107" fmla="*/ 278 h 358"/>
                    <a:gd name="T108" fmla="*/ 13 w 229"/>
                    <a:gd name="T109" fmla="*/ 229 h 358"/>
                    <a:gd name="T110" fmla="*/ 37 w 229"/>
                    <a:gd name="T111" fmla="*/ 179 h 358"/>
                    <a:gd name="T112" fmla="*/ 70 w 229"/>
                    <a:gd name="T113" fmla="*/ 130 h 358"/>
                    <a:gd name="T114" fmla="*/ 62 w 229"/>
                    <a:gd name="T115" fmla="*/ 99 h 358"/>
                    <a:gd name="T116" fmla="*/ 37 w 229"/>
                    <a:gd name="T117" fmla="*/ 59 h 358"/>
                    <a:gd name="T118" fmla="*/ 11 w 229"/>
                    <a:gd name="T119" fmla="*/ 12 h 358"/>
                    <a:gd name="T120" fmla="*/ 14 w 229"/>
                    <a:gd name="T121" fmla="*/ 5 h 358"/>
                    <a:gd name="T122" fmla="*/ 27 w 229"/>
                    <a:gd name="T123" fmla="*/ 5 h 358"/>
                    <a:gd name="T124" fmla="*/ 31 w 229"/>
                    <a:gd name="T125" fmla="*/ 10 h 35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nvGrpSpPr>
                <p:cNvPr id="1052" name="Group 28"/>
                <p:cNvGrpSpPr>
                  <a:grpSpLocks/>
                </p:cNvGrpSpPr>
                <p:nvPr/>
              </p:nvGrpSpPr>
              <p:grpSpPr bwMode="auto">
                <a:xfrm>
                  <a:off x="1985" y="1419"/>
                  <a:ext cx="465" cy="349"/>
                  <a:chOff x="1985" y="1419"/>
                  <a:chExt cx="465" cy="349"/>
                </a:xfrm>
              </p:grpSpPr>
              <p:sp>
                <p:nvSpPr>
                  <p:cNvPr id="1053" name="Freeform 29"/>
                  <p:cNvSpPr>
                    <a:spLocks/>
                  </p:cNvSpPr>
                  <p:nvPr/>
                </p:nvSpPr>
                <p:spPr bwMode="ltGray">
                  <a:xfrm>
                    <a:off x="2030" y="1419"/>
                    <a:ext cx="420" cy="326"/>
                  </a:xfrm>
                  <a:custGeom>
                    <a:avLst/>
                    <a:gdLst>
                      <a:gd name="T0" fmla="*/ 159 w 420"/>
                      <a:gd name="T1" fmla="*/ 41 h 326"/>
                      <a:gd name="T2" fmla="*/ 193 w 420"/>
                      <a:gd name="T3" fmla="*/ 13 h 326"/>
                      <a:gd name="T4" fmla="*/ 233 w 420"/>
                      <a:gd name="T5" fmla="*/ 2 h 326"/>
                      <a:gd name="T6" fmla="*/ 279 w 420"/>
                      <a:gd name="T7" fmla="*/ 2 h 326"/>
                      <a:gd name="T8" fmla="*/ 290 w 420"/>
                      <a:gd name="T9" fmla="*/ 6 h 326"/>
                      <a:gd name="T10" fmla="*/ 260 w 420"/>
                      <a:gd name="T11" fmla="*/ 14 h 326"/>
                      <a:gd name="T12" fmla="*/ 225 w 420"/>
                      <a:gd name="T13" fmla="*/ 25 h 326"/>
                      <a:gd name="T14" fmla="*/ 186 w 420"/>
                      <a:gd name="T15" fmla="*/ 52 h 326"/>
                      <a:gd name="T16" fmla="*/ 183 w 420"/>
                      <a:gd name="T17" fmla="*/ 89 h 326"/>
                      <a:gd name="T18" fmla="*/ 240 w 420"/>
                      <a:gd name="T19" fmla="*/ 66 h 326"/>
                      <a:gd name="T20" fmla="*/ 288 w 420"/>
                      <a:gd name="T21" fmla="*/ 64 h 326"/>
                      <a:gd name="T22" fmla="*/ 338 w 420"/>
                      <a:gd name="T23" fmla="*/ 69 h 326"/>
                      <a:gd name="T24" fmla="*/ 397 w 420"/>
                      <a:gd name="T25" fmla="*/ 75 h 326"/>
                      <a:gd name="T26" fmla="*/ 398 w 420"/>
                      <a:gd name="T27" fmla="*/ 76 h 326"/>
                      <a:gd name="T28" fmla="*/ 341 w 420"/>
                      <a:gd name="T29" fmla="*/ 79 h 326"/>
                      <a:gd name="T30" fmla="*/ 288 w 420"/>
                      <a:gd name="T31" fmla="*/ 80 h 326"/>
                      <a:gd name="T32" fmla="*/ 242 w 420"/>
                      <a:gd name="T33" fmla="*/ 86 h 326"/>
                      <a:gd name="T34" fmla="*/ 191 w 420"/>
                      <a:gd name="T35" fmla="*/ 98 h 326"/>
                      <a:gd name="T36" fmla="*/ 212 w 420"/>
                      <a:gd name="T37" fmla="*/ 118 h 326"/>
                      <a:gd name="T38" fmla="*/ 227 w 420"/>
                      <a:gd name="T39" fmla="*/ 136 h 326"/>
                      <a:gd name="T40" fmla="*/ 175 w 420"/>
                      <a:gd name="T41" fmla="*/ 119 h 326"/>
                      <a:gd name="T42" fmla="*/ 165 w 420"/>
                      <a:gd name="T43" fmla="*/ 129 h 326"/>
                      <a:gd name="T44" fmla="*/ 221 w 420"/>
                      <a:gd name="T45" fmla="*/ 138 h 326"/>
                      <a:gd name="T46" fmla="*/ 269 w 420"/>
                      <a:gd name="T47" fmla="*/ 150 h 326"/>
                      <a:gd name="T48" fmla="*/ 306 w 420"/>
                      <a:gd name="T49" fmla="*/ 181 h 326"/>
                      <a:gd name="T50" fmla="*/ 335 w 420"/>
                      <a:gd name="T51" fmla="*/ 223 h 326"/>
                      <a:gd name="T52" fmla="*/ 329 w 420"/>
                      <a:gd name="T53" fmla="*/ 231 h 326"/>
                      <a:gd name="T54" fmla="*/ 290 w 420"/>
                      <a:gd name="T55" fmla="*/ 204 h 326"/>
                      <a:gd name="T56" fmla="*/ 248 w 420"/>
                      <a:gd name="T57" fmla="*/ 174 h 326"/>
                      <a:gd name="T58" fmla="*/ 202 w 420"/>
                      <a:gd name="T59" fmla="*/ 154 h 326"/>
                      <a:gd name="T60" fmla="*/ 173 w 420"/>
                      <a:gd name="T61" fmla="*/ 148 h 326"/>
                      <a:gd name="T62" fmla="*/ 196 w 420"/>
                      <a:gd name="T63" fmla="*/ 181 h 326"/>
                      <a:gd name="T64" fmla="*/ 227 w 420"/>
                      <a:gd name="T65" fmla="*/ 223 h 326"/>
                      <a:gd name="T66" fmla="*/ 244 w 420"/>
                      <a:gd name="T67" fmla="*/ 262 h 326"/>
                      <a:gd name="T68" fmla="*/ 243 w 420"/>
                      <a:gd name="T69" fmla="*/ 299 h 326"/>
                      <a:gd name="T70" fmla="*/ 222 w 420"/>
                      <a:gd name="T71" fmla="*/ 259 h 326"/>
                      <a:gd name="T72" fmla="*/ 199 w 420"/>
                      <a:gd name="T73" fmla="*/ 215 h 326"/>
                      <a:gd name="T74" fmla="*/ 173 w 420"/>
                      <a:gd name="T75" fmla="*/ 177 h 326"/>
                      <a:gd name="T76" fmla="*/ 150 w 420"/>
                      <a:gd name="T77" fmla="*/ 142 h 326"/>
                      <a:gd name="T78" fmla="*/ 109 w 420"/>
                      <a:gd name="T79" fmla="*/ 162 h 326"/>
                      <a:gd name="T80" fmla="*/ 77 w 420"/>
                      <a:gd name="T81" fmla="*/ 210 h 326"/>
                      <a:gd name="T82" fmla="*/ 49 w 420"/>
                      <a:gd name="T83" fmla="*/ 260 h 326"/>
                      <a:gd name="T84" fmla="*/ 18 w 420"/>
                      <a:gd name="T85" fmla="*/ 306 h 326"/>
                      <a:gd name="T86" fmla="*/ 8 w 420"/>
                      <a:gd name="T87" fmla="*/ 301 h 326"/>
                      <a:gd name="T88" fmla="*/ 45 w 420"/>
                      <a:gd name="T89" fmla="*/ 243 h 326"/>
                      <a:gd name="T90" fmla="*/ 78 w 420"/>
                      <a:gd name="T91" fmla="*/ 198 h 326"/>
                      <a:gd name="T92" fmla="*/ 107 w 420"/>
                      <a:gd name="T93" fmla="*/ 154 h 326"/>
                      <a:gd name="T94" fmla="*/ 132 w 420"/>
                      <a:gd name="T95" fmla="*/ 120 h 326"/>
                      <a:gd name="T96" fmla="*/ 95 w 420"/>
                      <a:gd name="T97" fmla="*/ 79 h 326"/>
                      <a:gd name="T98" fmla="*/ 42 w 420"/>
                      <a:gd name="T99" fmla="*/ 57 h 326"/>
                      <a:gd name="T100" fmla="*/ 19 w 420"/>
                      <a:gd name="T101" fmla="*/ 45 h 326"/>
                      <a:gd name="T102" fmla="*/ 60 w 420"/>
                      <a:gd name="T103" fmla="*/ 58 h 326"/>
                      <a:gd name="T104" fmla="*/ 116 w 420"/>
                      <a:gd name="T105" fmla="*/ 86 h 3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4" name="Freeform 30"/>
                  <p:cNvSpPr>
                    <a:spLocks/>
                  </p:cNvSpPr>
                  <p:nvPr/>
                </p:nvSpPr>
                <p:spPr bwMode="ltGray">
                  <a:xfrm>
                    <a:off x="2175" y="1587"/>
                    <a:ext cx="38" cy="181"/>
                  </a:xfrm>
                  <a:custGeom>
                    <a:avLst/>
                    <a:gdLst>
                      <a:gd name="T0" fmla="*/ 20 w 38"/>
                      <a:gd name="T1" fmla="*/ 0 h 181"/>
                      <a:gd name="T2" fmla="*/ 24 w 38"/>
                      <a:gd name="T3" fmla="*/ 8 h 181"/>
                      <a:gd name="T4" fmla="*/ 27 w 38"/>
                      <a:gd name="T5" fmla="*/ 14 h 181"/>
                      <a:gd name="T6" fmla="*/ 33 w 38"/>
                      <a:gd name="T7" fmla="*/ 22 h 181"/>
                      <a:gd name="T8" fmla="*/ 35 w 38"/>
                      <a:gd name="T9" fmla="*/ 30 h 181"/>
                      <a:gd name="T10" fmla="*/ 36 w 38"/>
                      <a:gd name="T11" fmla="*/ 41 h 181"/>
                      <a:gd name="T12" fmla="*/ 36 w 38"/>
                      <a:gd name="T13" fmla="*/ 53 h 181"/>
                      <a:gd name="T14" fmla="*/ 37 w 38"/>
                      <a:gd name="T15" fmla="*/ 61 h 181"/>
                      <a:gd name="T16" fmla="*/ 36 w 38"/>
                      <a:gd name="T17" fmla="*/ 70 h 181"/>
                      <a:gd name="T18" fmla="*/ 35 w 38"/>
                      <a:gd name="T19" fmla="*/ 81 h 181"/>
                      <a:gd name="T20" fmla="*/ 33 w 38"/>
                      <a:gd name="T21" fmla="*/ 91 h 181"/>
                      <a:gd name="T22" fmla="*/ 30 w 38"/>
                      <a:gd name="T23" fmla="*/ 106 h 181"/>
                      <a:gd name="T24" fmla="*/ 28 w 38"/>
                      <a:gd name="T25" fmla="*/ 114 h 181"/>
                      <a:gd name="T26" fmla="*/ 23 w 38"/>
                      <a:gd name="T27" fmla="*/ 124 h 181"/>
                      <a:gd name="T28" fmla="*/ 17 w 38"/>
                      <a:gd name="T29" fmla="*/ 135 h 181"/>
                      <a:gd name="T30" fmla="*/ 12 w 38"/>
                      <a:gd name="T31" fmla="*/ 145 h 181"/>
                      <a:gd name="T32" fmla="*/ 7 w 38"/>
                      <a:gd name="T33" fmla="*/ 155 h 181"/>
                      <a:gd name="T34" fmla="*/ 3 w 38"/>
                      <a:gd name="T35" fmla="*/ 163 h 181"/>
                      <a:gd name="T36" fmla="*/ 0 w 38"/>
                      <a:gd name="T37" fmla="*/ 180 h 181"/>
                      <a:gd name="T38" fmla="*/ 1 w 38"/>
                      <a:gd name="T39" fmla="*/ 163 h 181"/>
                      <a:gd name="T40" fmla="*/ 3 w 38"/>
                      <a:gd name="T41" fmla="*/ 152 h 181"/>
                      <a:gd name="T42" fmla="*/ 4 w 38"/>
                      <a:gd name="T43" fmla="*/ 141 h 181"/>
                      <a:gd name="T44" fmla="*/ 5 w 38"/>
                      <a:gd name="T45" fmla="*/ 130 h 181"/>
                      <a:gd name="T46" fmla="*/ 7 w 38"/>
                      <a:gd name="T47" fmla="*/ 116 h 181"/>
                      <a:gd name="T48" fmla="*/ 9 w 38"/>
                      <a:gd name="T49" fmla="*/ 106 h 181"/>
                      <a:gd name="T50" fmla="*/ 12 w 38"/>
                      <a:gd name="T51" fmla="*/ 96 h 181"/>
                      <a:gd name="T52" fmla="*/ 15 w 38"/>
                      <a:gd name="T53" fmla="*/ 87 h 181"/>
                      <a:gd name="T54" fmla="*/ 17 w 38"/>
                      <a:gd name="T55" fmla="*/ 77 h 181"/>
                      <a:gd name="T56" fmla="*/ 20 w 38"/>
                      <a:gd name="T57" fmla="*/ 67 h 181"/>
                      <a:gd name="T58" fmla="*/ 21 w 38"/>
                      <a:gd name="T59" fmla="*/ 57 h 181"/>
                      <a:gd name="T60" fmla="*/ 22 w 38"/>
                      <a:gd name="T61" fmla="*/ 49 h 181"/>
                      <a:gd name="T62" fmla="*/ 23 w 38"/>
                      <a:gd name="T63" fmla="*/ 39 h 181"/>
                      <a:gd name="T64" fmla="*/ 23 w 38"/>
                      <a:gd name="T65" fmla="*/ 28 h 181"/>
                      <a:gd name="T66" fmla="*/ 23 w 38"/>
                      <a:gd name="T67" fmla="*/ 14 h 181"/>
                      <a:gd name="T68" fmla="*/ 22 w 38"/>
                      <a:gd name="T69" fmla="*/ 8 h 181"/>
                      <a:gd name="T70" fmla="*/ 20 w 38"/>
                      <a:gd name="T71" fmla="*/ 0 h 18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5" name="Freeform 31"/>
                  <p:cNvSpPr>
                    <a:spLocks/>
                  </p:cNvSpPr>
                  <p:nvPr/>
                </p:nvSpPr>
                <p:spPr bwMode="ltGray">
                  <a:xfrm>
                    <a:off x="1991" y="1486"/>
                    <a:ext cx="168" cy="48"/>
                  </a:xfrm>
                  <a:custGeom>
                    <a:avLst/>
                    <a:gdLst>
                      <a:gd name="T0" fmla="*/ 167 w 168"/>
                      <a:gd name="T1" fmla="*/ 47 h 48"/>
                      <a:gd name="T2" fmla="*/ 164 w 168"/>
                      <a:gd name="T3" fmla="*/ 38 h 48"/>
                      <a:gd name="T4" fmla="*/ 160 w 168"/>
                      <a:gd name="T5" fmla="*/ 31 h 48"/>
                      <a:gd name="T6" fmla="*/ 157 w 168"/>
                      <a:gd name="T7" fmla="*/ 30 h 48"/>
                      <a:gd name="T8" fmla="*/ 150 w 168"/>
                      <a:gd name="T9" fmla="*/ 28 h 48"/>
                      <a:gd name="T10" fmla="*/ 144 w 168"/>
                      <a:gd name="T11" fmla="*/ 26 h 48"/>
                      <a:gd name="T12" fmla="*/ 137 w 168"/>
                      <a:gd name="T13" fmla="*/ 28 h 48"/>
                      <a:gd name="T14" fmla="*/ 130 w 168"/>
                      <a:gd name="T15" fmla="*/ 29 h 48"/>
                      <a:gd name="T16" fmla="*/ 121 w 168"/>
                      <a:gd name="T17" fmla="*/ 25 h 48"/>
                      <a:gd name="T18" fmla="*/ 109 w 168"/>
                      <a:gd name="T19" fmla="*/ 21 h 48"/>
                      <a:gd name="T20" fmla="*/ 98 w 168"/>
                      <a:gd name="T21" fmla="*/ 17 h 48"/>
                      <a:gd name="T22" fmla="*/ 91 w 168"/>
                      <a:gd name="T23" fmla="*/ 15 h 48"/>
                      <a:gd name="T24" fmla="*/ 78 w 168"/>
                      <a:gd name="T25" fmla="*/ 12 h 48"/>
                      <a:gd name="T26" fmla="*/ 66 w 168"/>
                      <a:gd name="T27" fmla="*/ 8 h 48"/>
                      <a:gd name="T28" fmla="*/ 54 w 168"/>
                      <a:gd name="T29" fmla="*/ 4 h 48"/>
                      <a:gd name="T30" fmla="*/ 41 w 168"/>
                      <a:gd name="T31" fmla="*/ 1 h 48"/>
                      <a:gd name="T32" fmla="*/ 28 w 168"/>
                      <a:gd name="T33" fmla="*/ 0 h 48"/>
                      <a:gd name="T34" fmla="*/ 15 w 168"/>
                      <a:gd name="T35" fmla="*/ 0 h 48"/>
                      <a:gd name="T36" fmla="*/ 12 w 168"/>
                      <a:gd name="T37" fmla="*/ 1 h 48"/>
                      <a:gd name="T38" fmla="*/ 7 w 168"/>
                      <a:gd name="T39" fmla="*/ 4 h 48"/>
                      <a:gd name="T40" fmla="*/ 3 w 168"/>
                      <a:gd name="T41" fmla="*/ 7 h 48"/>
                      <a:gd name="T42" fmla="*/ 0 w 168"/>
                      <a:gd name="T43" fmla="*/ 10 h 48"/>
                      <a:gd name="T44" fmla="*/ 5 w 168"/>
                      <a:gd name="T45" fmla="*/ 10 h 48"/>
                      <a:gd name="T46" fmla="*/ 12 w 168"/>
                      <a:gd name="T47" fmla="*/ 11 h 48"/>
                      <a:gd name="T48" fmla="*/ 18 w 168"/>
                      <a:gd name="T49" fmla="*/ 12 h 48"/>
                      <a:gd name="T50" fmla="*/ 23 w 168"/>
                      <a:gd name="T51" fmla="*/ 11 h 48"/>
                      <a:gd name="T52" fmla="*/ 29 w 168"/>
                      <a:gd name="T53" fmla="*/ 10 h 48"/>
                      <a:gd name="T54" fmla="*/ 38 w 168"/>
                      <a:gd name="T55" fmla="*/ 10 h 48"/>
                      <a:gd name="T56" fmla="*/ 50 w 168"/>
                      <a:gd name="T57" fmla="*/ 10 h 48"/>
                      <a:gd name="T58" fmla="*/ 60 w 168"/>
                      <a:gd name="T59" fmla="*/ 12 h 48"/>
                      <a:gd name="T60" fmla="*/ 70 w 168"/>
                      <a:gd name="T61" fmla="*/ 13 h 48"/>
                      <a:gd name="T62" fmla="*/ 79 w 168"/>
                      <a:gd name="T63" fmla="*/ 15 h 48"/>
                      <a:gd name="T64" fmla="*/ 89 w 168"/>
                      <a:gd name="T65" fmla="*/ 16 h 48"/>
                      <a:gd name="T66" fmla="*/ 98 w 168"/>
                      <a:gd name="T67" fmla="*/ 18 h 48"/>
                      <a:gd name="T68" fmla="*/ 106 w 168"/>
                      <a:gd name="T69" fmla="*/ 22 h 48"/>
                      <a:gd name="T70" fmla="*/ 114 w 168"/>
                      <a:gd name="T71" fmla="*/ 26 h 48"/>
                      <a:gd name="T72" fmla="*/ 123 w 168"/>
                      <a:gd name="T73" fmla="*/ 30 h 48"/>
                      <a:gd name="T74" fmla="*/ 127 w 168"/>
                      <a:gd name="T75" fmla="*/ 30 h 48"/>
                      <a:gd name="T76" fmla="*/ 131 w 168"/>
                      <a:gd name="T77" fmla="*/ 30 h 48"/>
                      <a:gd name="T78" fmla="*/ 137 w 168"/>
                      <a:gd name="T79" fmla="*/ 33 h 48"/>
                      <a:gd name="T80" fmla="*/ 144 w 168"/>
                      <a:gd name="T81" fmla="*/ 36 h 48"/>
                      <a:gd name="T82" fmla="*/ 150 w 168"/>
                      <a:gd name="T83" fmla="*/ 38 h 48"/>
                      <a:gd name="T84" fmla="*/ 158 w 168"/>
                      <a:gd name="T85" fmla="*/ 42 h 48"/>
                      <a:gd name="T86" fmla="*/ 164 w 168"/>
                      <a:gd name="T87" fmla="*/ 45 h 48"/>
                      <a:gd name="T88" fmla="*/ 167 w 168"/>
                      <a:gd name="T89" fmla="*/ 47 h 4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6" name="Freeform 32"/>
                  <p:cNvSpPr>
                    <a:spLocks/>
                  </p:cNvSpPr>
                  <p:nvPr/>
                </p:nvSpPr>
                <p:spPr bwMode="ltGray">
                  <a:xfrm>
                    <a:off x="1985" y="1514"/>
                    <a:ext cx="173" cy="20"/>
                  </a:xfrm>
                  <a:custGeom>
                    <a:avLst/>
                    <a:gdLst>
                      <a:gd name="T0" fmla="*/ 172 w 173"/>
                      <a:gd name="T1" fmla="*/ 19 h 20"/>
                      <a:gd name="T2" fmla="*/ 167 w 173"/>
                      <a:gd name="T3" fmla="*/ 17 h 20"/>
                      <a:gd name="T4" fmla="*/ 163 w 173"/>
                      <a:gd name="T5" fmla="*/ 15 h 20"/>
                      <a:gd name="T6" fmla="*/ 157 w 173"/>
                      <a:gd name="T7" fmla="*/ 13 h 20"/>
                      <a:gd name="T8" fmla="*/ 152 w 173"/>
                      <a:gd name="T9" fmla="*/ 11 h 20"/>
                      <a:gd name="T10" fmla="*/ 146 w 173"/>
                      <a:gd name="T11" fmla="*/ 9 h 20"/>
                      <a:gd name="T12" fmla="*/ 138 w 173"/>
                      <a:gd name="T13" fmla="*/ 6 h 20"/>
                      <a:gd name="T14" fmla="*/ 131 w 173"/>
                      <a:gd name="T15" fmla="*/ 2 h 20"/>
                      <a:gd name="T16" fmla="*/ 125 w 173"/>
                      <a:gd name="T17" fmla="*/ 2 h 20"/>
                      <a:gd name="T18" fmla="*/ 118 w 173"/>
                      <a:gd name="T19" fmla="*/ 3 h 20"/>
                      <a:gd name="T20" fmla="*/ 108 w 173"/>
                      <a:gd name="T21" fmla="*/ 5 h 20"/>
                      <a:gd name="T22" fmla="*/ 103 w 173"/>
                      <a:gd name="T23" fmla="*/ 5 h 20"/>
                      <a:gd name="T24" fmla="*/ 91 w 173"/>
                      <a:gd name="T25" fmla="*/ 3 h 20"/>
                      <a:gd name="T26" fmla="*/ 77 w 173"/>
                      <a:gd name="T27" fmla="*/ 1 h 20"/>
                      <a:gd name="T28" fmla="*/ 67 w 173"/>
                      <a:gd name="T29" fmla="*/ 0 h 20"/>
                      <a:gd name="T30" fmla="*/ 55 w 173"/>
                      <a:gd name="T31" fmla="*/ 0 h 20"/>
                      <a:gd name="T32" fmla="*/ 43 w 173"/>
                      <a:gd name="T33" fmla="*/ 0 h 20"/>
                      <a:gd name="T34" fmla="*/ 35 w 173"/>
                      <a:gd name="T35" fmla="*/ 1 h 20"/>
                      <a:gd name="T36" fmla="*/ 26 w 173"/>
                      <a:gd name="T37" fmla="*/ 2 h 20"/>
                      <a:gd name="T38" fmla="*/ 18 w 173"/>
                      <a:gd name="T39" fmla="*/ 3 h 20"/>
                      <a:gd name="T40" fmla="*/ 9 w 173"/>
                      <a:gd name="T41" fmla="*/ 4 h 20"/>
                      <a:gd name="T42" fmla="*/ 8 w 173"/>
                      <a:gd name="T43" fmla="*/ 8 h 20"/>
                      <a:gd name="T44" fmla="*/ 6 w 173"/>
                      <a:gd name="T45" fmla="*/ 11 h 20"/>
                      <a:gd name="T46" fmla="*/ 4 w 173"/>
                      <a:gd name="T47" fmla="*/ 14 h 20"/>
                      <a:gd name="T48" fmla="*/ 0 w 173"/>
                      <a:gd name="T49" fmla="*/ 16 h 20"/>
                      <a:gd name="T50" fmla="*/ 7 w 173"/>
                      <a:gd name="T51" fmla="*/ 15 h 20"/>
                      <a:gd name="T52" fmla="*/ 15 w 173"/>
                      <a:gd name="T53" fmla="*/ 13 h 20"/>
                      <a:gd name="T54" fmla="*/ 21 w 173"/>
                      <a:gd name="T55" fmla="*/ 12 h 20"/>
                      <a:gd name="T56" fmla="*/ 29 w 173"/>
                      <a:gd name="T57" fmla="*/ 11 h 20"/>
                      <a:gd name="T58" fmla="*/ 36 w 173"/>
                      <a:gd name="T59" fmla="*/ 10 h 20"/>
                      <a:gd name="T60" fmla="*/ 49 w 173"/>
                      <a:gd name="T61" fmla="*/ 9 h 20"/>
                      <a:gd name="T62" fmla="*/ 62 w 173"/>
                      <a:gd name="T63" fmla="*/ 8 h 20"/>
                      <a:gd name="T64" fmla="*/ 77 w 173"/>
                      <a:gd name="T65" fmla="*/ 7 h 20"/>
                      <a:gd name="T66" fmla="*/ 92 w 173"/>
                      <a:gd name="T67" fmla="*/ 6 h 20"/>
                      <a:gd name="T68" fmla="*/ 106 w 173"/>
                      <a:gd name="T69" fmla="*/ 6 h 20"/>
                      <a:gd name="T70" fmla="*/ 118 w 173"/>
                      <a:gd name="T71" fmla="*/ 7 h 20"/>
                      <a:gd name="T72" fmla="*/ 126 w 173"/>
                      <a:gd name="T73" fmla="*/ 9 h 20"/>
                      <a:gd name="T74" fmla="*/ 135 w 173"/>
                      <a:gd name="T75" fmla="*/ 11 h 20"/>
                      <a:gd name="T76" fmla="*/ 145 w 173"/>
                      <a:gd name="T77" fmla="*/ 13 h 20"/>
                      <a:gd name="T78" fmla="*/ 155 w 173"/>
                      <a:gd name="T79" fmla="*/ 16 h 20"/>
                      <a:gd name="T80" fmla="*/ 163 w 173"/>
                      <a:gd name="T81" fmla="*/ 17 h 20"/>
                      <a:gd name="T82" fmla="*/ 172 w 173"/>
                      <a:gd name="T83" fmla="*/ 19 h 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grpSp>
      </p:grpSp>
      <p:grpSp>
        <p:nvGrpSpPr>
          <p:cNvPr id="1035" name="Group 33"/>
          <p:cNvGrpSpPr>
            <a:grpSpLocks/>
          </p:cNvGrpSpPr>
          <p:nvPr/>
        </p:nvGrpSpPr>
        <p:grpSpPr bwMode="auto">
          <a:xfrm>
            <a:off x="7934325" y="6124575"/>
            <a:ext cx="322263" cy="420688"/>
            <a:chOff x="112" y="4288"/>
            <a:chExt cx="439" cy="478"/>
          </a:xfrm>
        </p:grpSpPr>
        <p:grpSp>
          <p:nvGrpSpPr>
            <p:cNvPr id="1040" name="Group 34"/>
            <p:cNvGrpSpPr>
              <a:grpSpLocks/>
            </p:cNvGrpSpPr>
            <p:nvPr/>
          </p:nvGrpSpPr>
          <p:grpSpPr bwMode="auto">
            <a:xfrm>
              <a:off x="259" y="4288"/>
              <a:ext cx="148" cy="478"/>
              <a:chOff x="259" y="4288"/>
              <a:chExt cx="148" cy="478"/>
            </a:xfrm>
          </p:grpSpPr>
          <p:sp>
            <p:nvSpPr>
              <p:cNvPr id="1044" name="Freeform 35"/>
              <p:cNvSpPr>
                <a:spLocks/>
              </p:cNvSpPr>
              <p:nvPr/>
            </p:nvSpPr>
            <p:spPr bwMode="auto">
              <a:xfrm>
                <a:off x="260" y="4288"/>
                <a:ext cx="147" cy="478"/>
              </a:xfrm>
              <a:custGeom>
                <a:avLst/>
                <a:gdLst>
                  <a:gd name="T0" fmla="*/ 49 w 147"/>
                  <a:gd name="T1" fmla="*/ 188 h 478"/>
                  <a:gd name="T2" fmla="*/ 131 w 147"/>
                  <a:gd name="T3" fmla="*/ 472 h 478"/>
                  <a:gd name="T4" fmla="*/ 135 w 147"/>
                  <a:gd name="T5" fmla="*/ 475 h 478"/>
                  <a:gd name="T6" fmla="*/ 139 w 147"/>
                  <a:gd name="T7" fmla="*/ 477 h 478"/>
                  <a:gd name="T8" fmla="*/ 142 w 147"/>
                  <a:gd name="T9" fmla="*/ 475 h 478"/>
                  <a:gd name="T10" fmla="*/ 144 w 147"/>
                  <a:gd name="T11" fmla="*/ 472 h 478"/>
                  <a:gd name="T12" fmla="*/ 146 w 147"/>
                  <a:gd name="T13" fmla="*/ 468 h 478"/>
                  <a:gd name="T14" fmla="*/ 146 w 147"/>
                  <a:gd name="T15" fmla="*/ 463 h 478"/>
                  <a:gd name="T16" fmla="*/ 143 w 147"/>
                  <a:gd name="T17" fmla="*/ 455 h 478"/>
                  <a:gd name="T18" fmla="*/ 61 w 147"/>
                  <a:gd name="T19" fmla="*/ 176 h 478"/>
                  <a:gd name="T20" fmla="*/ 9 w 147"/>
                  <a:gd name="T21" fmla="*/ 5 h 478"/>
                  <a:gd name="T22" fmla="*/ 6 w 147"/>
                  <a:gd name="T23" fmla="*/ 2 h 478"/>
                  <a:gd name="T24" fmla="*/ 4 w 147"/>
                  <a:gd name="T25" fmla="*/ 1 h 478"/>
                  <a:gd name="T26" fmla="*/ 1 w 147"/>
                  <a:gd name="T27" fmla="*/ 0 h 478"/>
                  <a:gd name="T28" fmla="*/ 0 w 147"/>
                  <a:gd name="T29" fmla="*/ 2 h 478"/>
                  <a:gd name="T30" fmla="*/ 0 w 147"/>
                  <a:gd name="T31" fmla="*/ 6 h 478"/>
                  <a:gd name="T32" fmla="*/ 0 w 147"/>
                  <a:gd name="T33" fmla="*/ 10 h 478"/>
                  <a:gd name="T34" fmla="*/ 49 w 147"/>
                  <a:gd name="T35" fmla="*/ 188 h 4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7" h="478">
                    <a:moveTo>
                      <a:pt x="49" y="188"/>
                    </a:moveTo>
                    <a:lnTo>
                      <a:pt x="131" y="472"/>
                    </a:lnTo>
                    <a:lnTo>
                      <a:pt x="135" y="475"/>
                    </a:lnTo>
                    <a:lnTo>
                      <a:pt x="139" y="477"/>
                    </a:lnTo>
                    <a:lnTo>
                      <a:pt x="142" y="475"/>
                    </a:lnTo>
                    <a:lnTo>
                      <a:pt x="144" y="472"/>
                    </a:lnTo>
                    <a:lnTo>
                      <a:pt x="146" y="468"/>
                    </a:lnTo>
                    <a:lnTo>
                      <a:pt x="146" y="463"/>
                    </a:lnTo>
                    <a:lnTo>
                      <a:pt x="143" y="455"/>
                    </a:lnTo>
                    <a:lnTo>
                      <a:pt x="61" y="176"/>
                    </a:lnTo>
                    <a:lnTo>
                      <a:pt x="9" y="5"/>
                    </a:lnTo>
                    <a:lnTo>
                      <a:pt x="6" y="2"/>
                    </a:lnTo>
                    <a:lnTo>
                      <a:pt x="4" y="1"/>
                    </a:lnTo>
                    <a:lnTo>
                      <a:pt x="1" y="0"/>
                    </a:lnTo>
                    <a:lnTo>
                      <a:pt x="0" y="2"/>
                    </a:lnTo>
                    <a:lnTo>
                      <a:pt x="0" y="6"/>
                    </a:lnTo>
                    <a:lnTo>
                      <a:pt x="0" y="10"/>
                    </a:lnTo>
                    <a:lnTo>
                      <a:pt x="49" y="188"/>
                    </a:lnTo>
                  </a:path>
                </a:pathLst>
              </a:custGeom>
              <a:solidFill>
                <a:srgbClr val="C0C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45" name="Freeform 36"/>
              <p:cNvSpPr>
                <a:spLocks/>
              </p:cNvSpPr>
              <p:nvPr/>
            </p:nvSpPr>
            <p:spPr bwMode="auto">
              <a:xfrm>
                <a:off x="259" y="4289"/>
                <a:ext cx="146" cy="477"/>
              </a:xfrm>
              <a:custGeom>
                <a:avLst/>
                <a:gdLst>
                  <a:gd name="T0" fmla="*/ 50 w 146"/>
                  <a:gd name="T1" fmla="*/ 186 h 477"/>
                  <a:gd name="T2" fmla="*/ 131 w 146"/>
                  <a:gd name="T3" fmla="*/ 471 h 477"/>
                  <a:gd name="T4" fmla="*/ 133 w 146"/>
                  <a:gd name="T5" fmla="*/ 474 h 477"/>
                  <a:gd name="T6" fmla="*/ 138 w 146"/>
                  <a:gd name="T7" fmla="*/ 476 h 477"/>
                  <a:gd name="T8" fmla="*/ 141 w 146"/>
                  <a:gd name="T9" fmla="*/ 474 h 477"/>
                  <a:gd name="T10" fmla="*/ 144 w 146"/>
                  <a:gd name="T11" fmla="*/ 473 h 477"/>
                  <a:gd name="T12" fmla="*/ 145 w 146"/>
                  <a:gd name="T13" fmla="*/ 467 h 477"/>
                  <a:gd name="T14" fmla="*/ 145 w 146"/>
                  <a:gd name="T15" fmla="*/ 462 h 477"/>
                  <a:gd name="T16" fmla="*/ 143 w 146"/>
                  <a:gd name="T17" fmla="*/ 454 h 477"/>
                  <a:gd name="T18" fmla="*/ 61 w 146"/>
                  <a:gd name="T19" fmla="*/ 174 h 477"/>
                  <a:gd name="T20" fmla="*/ 9 w 146"/>
                  <a:gd name="T21" fmla="*/ 4 h 477"/>
                  <a:gd name="T22" fmla="*/ 6 w 146"/>
                  <a:gd name="T23" fmla="*/ 2 h 477"/>
                  <a:gd name="T24" fmla="*/ 4 w 146"/>
                  <a:gd name="T25" fmla="*/ 0 h 477"/>
                  <a:gd name="T26" fmla="*/ 2 w 146"/>
                  <a:gd name="T27" fmla="*/ 0 h 477"/>
                  <a:gd name="T28" fmla="*/ 1 w 146"/>
                  <a:gd name="T29" fmla="*/ 2 h 477"/>
                  <a:gd name="T30" fmla="*/ 0 w 146"/>
                  <a:gd name="T31" fmla="*/ 5 h 477"/>
                  <a:gd name="T32" fmla="*/ 0 w 146"/>
                  <a:gd name="T33" fmla="*/ 9 h 477"/>
                  <a:gd name="T34" fmla="*/ 50 w 146"/>
                  <a:gd name="T35" fmla="*/ 186 h 4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6" h="477">
                    <a:moveTo>
                      <a:pt x="50" y="186"/>
                    </a:moveTo>
                    <a:lnTo>
                      <a:pt x="131" y="471"/>
                    </a:lnTo>
                    <a:lnTo>
                      <a:pt x="133" y="474"/>
                    </a:lnTo>
                    <a:lnTo>
                      <a:pt x="138" y="476"/>
                    </a:lnTo>
                    <a:lnTo>
                      <a:pt x="141" y="474"/>
                    </a:lnTo>
                    <a:lnTo>
                      <a:pt x="144" y="473"/>
                    </a:lnTo>
                    <a:lnTo>
                      <a:pt x="145" y="467"/>
                    </a:lnTo>
                    <a:lnTo>
                      <a:pt x="145" y="462"/>
                    </a:lnTo>
                    <a:lnTo>
                      <a:pt x="143" y="454"/>
                    </a:lnTo>
                    <a:lnTo>
                      <a:pt x="61" y="174"/>
                    </a:lnTo>
                    <a:lnTo>
                      <a:pt x="9" y="4"/>
                    </a:lnTo>
                    <a:lnTo>
                      <a:pt x="6" y="2"/>
                    </a:lnTo>
                    <a:lnTo>
                      <a:pt x="4" y="0"/>
                    </a:lnTo>
                    <a:lnTo>
                      <a:pt x="2" y="0"/>
                    </a:lnTo>
                    <a:lnTo>
                      <a:pt x="1" y="2"/>
                    </a:lnTo>
                    <a:lnTo>
                      <a:pt x="0" y="5"/>
                    </a:lnTo>
                    <a:lnTo>
                      <a:pt x="0" y="9"/>
                    </a:lnTo>
                    <a:lnTo>
                      <a:pt x="50" y="186"/>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nvGrpSpPr>
            <p:cNvPr id="1041" name="Group 37"/>
            <p:cNvGrpSpPr>
              <a:grpSpLocks/>
            </p:cNvGrpSpPr>
            <p:nvPr/>
          </p:nvGrpSpPr>
          <p:grpSpPr bwMode="auto">
            <a:xfrm>
              <a:off x="112" y="4295"/>
              <a:ext cx="439" cy="321"/>
              <a:chOff x="112" y="4295"/>
              <a:chExt cx="439" cy="321"/>
            </a:xfrm>
          </p:grpSpPr>
          <p:sp>
            <p:nvSpPr>
              <p:cNvPr id="1042" name="Freeform 38"/>
              <p:cNvSpPr>
                <a:spLocks/>
              </p:cNvSpPr>
              <p:nvPr/>
            </p:nvSpPr>
            <p:spPr bwMode="auto">
              <a:xfrm>
                <a:off x="191" y="4304"/>
                <a:ext cx="273" cy="276"/>
              </a:xfrm>
              <a:custGeom>
                <a:avLst/>
                <a:gdLst>
                  <a:gd name="T0" fmla="*/ 43 w 273"/>
                  <a:gd name="T1" fmla="*/ 32 h 276"/>
                  <a:gd name="T2" fmla="*/ 69 w 273"/>
                  <a:gd name="T3" fmla="*/ 13 h 276"/>
                  <a:gd name="T4" fmla="*/ 92 w 273"/>
                  <a:gd name="T5" fmla="*/ 4 h 276"/>
                  <a:gd name="T6" fmla="*/ 123 w 273"/>
                  <a:gd name="T7" fmla="*/ 0 h 276"/>
                  <a:gd name="T8" fmla="*/ 154 w 273"/>
                  <a:gd name="T9" fmla="*/ 9 h 276"/>
                  <a:gd name="T10" fmla="*/ 194 w 273"/>
                  <a:gd name="T11" fmla="*/ 36 h 276"/>
                  <a:gd name="T12" fmla="*/ 232 w 273"/>
                  <a:gd name="T13" fmla="*/ 75 h 276"/>
                  <a:gd name="T14" fmla="*/ 265 w 273"/>
                  <a:gd name="T15" fmla="*/ 128 h 276"/>
                  <a:gd name="T16" fmla="*/ 268 w 273"/>
                  <a:gd name="T17" fmla="*/ 156 h 276"/>
                  <a:gd name="T18" fmla="*/ 261 w 273"/>
                  <a:gd name="T19" fmla="*/ 146 h 276"/>
                  <a:gd name="T20" fmla="*/ 253 w 273"/>
                  <a:gd name="T21" fmla="*/ 138 h 276"/>
                  <a:gd name="T22" fmla="*/ 242 w 273"/>
                  <a:gd name="T23" fmla="*/ 133 h 276"/>
                  <a:gd name="T24" fmla="*/ 232 w 273"/>
                  <a:gd name="T25" fmla="*/ 132 h 276"/>
                  <a:gd name="T26" fmla="*/ 220 w 273"/>
                  <a:gd name="T27" fmla="*/ 133 h 276"/>
                  <a:gd name="T28" fmla="*/ 209 w 273"/>
                  <a:gd name="T29" fmla="*/ 137 h 276"/>
                  <a:gd name="T30" fmla="*/ 201 w 273"/>
                  <a:gd name="T31" fmla="*/ 144 h 276"/>
                  <a:gd name="T32" fmla="*/ 193 w 273"/>
                  <a:gd name="T33" fmla="*/ 155 h 276"/>
                  <a:gd name="T34" fmla="*/ 187 w 273"/>
                  <a:gd name="T35" fmla="*/ 167 h 276"/>
                  <a:gd name="T36" fmla="*/ 184 w 273"/>
                  <a:gd name="T37" fmla="*/ 181 h 276"/>
                  <a:gd name="T38" fmla="*/ 186 w 273"/>
                  <a:gd name="T39" fmla="*/ 196 h 276"/>
                  <a:gd name="T40" fmla="*/ 166 w 273"/>
                  <a:gd name="T41" fmla="*/ 150 h 276"/>
                  <a:gd name="T42" fmla="*/ 99 w 273"/>
                  <a:gd name="T43" fmla="*/ 225 h 276"/>
                  <a:gd name="T44" fmla="*/ 99 w 273"/>
                  <a:gd name="T45" fmla="*/ 231 h 276"/>
                  <a:gd name="T46" fmla="*/ 92 w 273"/>
                  <a:gd name="T47" fmla="*/ 221 h 276"/>
                  <a:gd name="T48" fmla="*/ 83 w 273"/>
                  <a:gd name="T49" fmla="*/ 212 h 276"/>
                  <a:gd name="T50" fmla="*/ 73 w 273"/>
                  <a:gd name="T51" fmla="*/ 207 h 276"/>
                  <a:gd name="T52" fmla="*/ 63 w 273"/>
                  <a:gd name="T53" fmla="*/ 204 h 276"/>
                  <a:gd name="T54" fmla="*/ 53 w 273"/>
                  <a:gd name="T55" fmla="*/ 206 h 276"/>
                  <a:gd name="T56" fmla="*/ 43 w 273"/>
                  <a:gd name="T57" fmla="*/ 208 h 276"/>
                  <a:gd name="T58" fmla="*/ 33 w 273"/>
                  <a:gd name="T59" fmla="*/ 214 h 276"/>
                  <a:gd name="T60" fmla="*/ 25 w 273"/>
                  <a:gd name="T61" fmla="*/ 222 h 276"/>
                  <a:gd name="T62" fmla="*/ 19 w 273"/>
                  <a:gd name="T63" fmla="*/ 231 h 276"/>
                  <a:gd name="T64" fmla="*/ 15 w 273"/>
                  <a:gd name="T65" fmla="*/ 243 h 276"/>
                  <a:gd name="T66" fmla="*/ 14 w 273"/>
                  <a:gd name="T67" fmla="*/ 258 h 276"/>
                  <a:gd name="T68" fmla="*/ 17 w 273"/>
                  <a:gd name="T69" fmla="*/ 275 h 276"/>
                  <a:gd name="T70" fmla="*/ 3 w 273"/>
                  <a:gd name="T71" fmla="*/ 229 h 276"/>
                  <a:gd name="T72" fmla="*/ 0 w 273"/>
                  <a:gd name="T73" fmla="*/ 173 h 276"/>
                  <a:gd name="T74" fmla="*/ 4 w 273"/>
                  <a:gd name="T75" fmla="*/ 119 h 276"/>
                  <a:gd name="T76" fmla="*/ 30 w 273"/>
                  <a:gd name="T77" fmla="*/ 48 h 2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73" h="276">
                    <a:moveTo>
                      <a:pt x="30" y="48"/>
                    </a:moveTo>
                    <a:lnTo>
                      <a:pt x="43" y="32"/>
                    </a:lnTo>
                    <a:lnTo>
                      <a:pt x="55" y="21"/>
                    </a:lnTo>
                    <a:lnTo>
                      <a:pt x="69" y="13"/>
                    </a:lnTo>
                    <a:lnTo>
                      <a:pt x="78" y="8"/>
                    </a:lnTo>
                    <a:lnTo>
                      <a:pt x="92" y="4"/>
                    </a:lnTo>
                    <a:lnTo>
                      <a:pt x="108" y="0"/>
                    </a:lnTo>
                    <a:lnTo>
                      <a:pt x="123" y="0"/>
                    </a:lnTo>
                    <a:lnTo>
                      <a:pt x="144" y="4"/>
                    </a:lnTo>
                    <a:lnTo>
                      <a:pt x="154" y="9"/>
                    </a:lnTo>
                    <a:lnTo>
                      <a:pt x="173" y="20"/>
                    </a:lnTo>
                    <a:lnTo>
                      <a:pt x="194" y="36"/>
                    </a:lnTo>
                    <a:lnTo>
                      <a:pt x="213" y="55"/>
                    </a:lnTo>
                    <a:lnTo>
                      <a:pt x="232" y="75"/>
                    </a:lnTo>
                    <a:lnTo>
                      <a:pt x="247" y="105"/>
                    </a:lnTo>
                    <a:lnTo>
                      <a:pt x="265" y="128"/>
                    </a:lnTo>
                    <a:lnTo>
                      <a:pt x="272" y="165"/>
                    </a:lnTo>
                    <a:lnTo>
                      <a:pt x="268" y="156"/>
                    </a:lnTo>
                    <a:lnTo>
                      <a:pt x="265" y="150"/>
                    </a:lnTo>
                    <a:lnTo>
                      <a:pt x="261" y="146"/>
                    </a:lnTo>
                    <a:lnTo>
                      <a:pt x="256" y="142"/>
                    </a:lnTo>
                    <a:lnTo>
                      <a:pt x="253" y="138"/>
                    </a:lnTo>
                    <a:lnTo>
                      <a:pt x="247" y="136"/>
                    </a:lnTo>
                    <a:lnTo>
                      <a:pt x="242" y="133"/>
                    </a:lnTo>
                    <a:lnTo>
                      <a:pt x="237" y="132"/>
                    </a:lnTo>
                    <a:lnTo>
                      <a:pt x="232" y="132"/>
                    </a:lnTo>
                    <a:lnTo>
                      <a:pt x="226" y="132"/>
                    </a:lnTo>
                    <a:lnTo>
                      <a:pt x="220" y="133"/>
                    </a:lnTo>
                    <a:lnTo>
                      <a:pt x="215" y="134"/>
                    </a:lnTo>
                    <a:lnTo>
                      <a:pt x="209" y="137"/>
                    </a:lnTo>
                    <a:lnTo>
                      <a:pt x="205" y="141"/>
                    </a:lnTo>
                    <a:lnTo>
                      <a:pt x="201" y="144"/>
                    </a:lnTo>
                    <a:lnTo>
                      <a:pt x="196" y="149"/>
                    </a:lnTo>
                    <a:lnTo>
                      <a:pt x="193" y="155"/>
                    </a:lnTo>
                    <a:lnTo>
                      <a:pt x="190" y="161"/>
                    </a:lnTo>
                    <a:lnTo>
                      <a:pt x="187" y="167"/>
                    </a:lnTo>
                    <a:lnTo>
                      <a:pt x="186" y="175"/>
                    </a:lnTo>
                    <a:lnTo>
                      <a:pt x="184" y="181"/>
                    </a:lnTo>
                    <a:lnTo>
                      <a:pt x="185" y="190"/>
                    </a:lnTo>
                    <a:lnTo>
                      <a:pt x="186" y="196"/>
                    </a:lnTo>
                    <a:lnTo>
                      <a:pt x="187" y="203"/>
                    </a:lnTo>
                    <a:lnTo>
                      <a:pt x="166" y="150"/>
                    </a:lnTo>
                    <a:lnTo>
                      <a:pt x="98" y="175"/>
                    </a:lnTo>
                    <a:lnTo>
                      <a:pt x="99" y="225"/>
                    </a:lnTo>
                    <a:lnTo>
                      <a:pt x="102" y="239"/>
                    </a:lnTo>
                    <a:lnTo>
                      <a:pt x="99" y="231"/>
                    </a:lnTo>
                    <a:lnTo>
                      <a:pt x="96" y="226"/>
                    </a:lnTo>
                    <a:lnTo>
                      <a:pt x="92" y="221"/>
                    </a:lnTo>
                    <a:lnTo>
                      <a:pt x="87" y="217"/>
                    </a:lnTo>
                    <a:lnTo>
                      <a:pt x="83" y="212"/>
                    </a:lnTo>
                    <a:lnTo>
                      <a:pt x="78" y="210"/>
                    </a:lnTo>
                    <a:lnTo>
                      <a:pt x="73" y="207"/>
                    </a:lnTo>
                    <a:lnTo>
                      <a:pt x="68" y="206"/>
                    </a:lnTo>
                    <a:lnTo>
                      <a:pt x="63" y="204"/>
                    </a:lnTo>
                    <a:lnTo>
                      <a:pt x="58" y="204"/>
                    </a:lnTo>
                    <a:lnTo>
                      <a:pt x="53" y="206"/>
                    </a:lnTo>
                    <a:lnTo>
                      <a:pt x="48" y="206"/>
                    </a:lnTo>
                    <a:lnTo>
                      <a:pt x="43" y="208"/>
                    </a:lnTo>
                    <a:lnTo>
                      <a:pt x="38" y="211"/>
                    </a:lnTo>
                    <a:lnTo>
                      <a:pt x="33" y="214"/>
                    </a:lnTo>
                    <a:lnTo>
                      <a:pt x="28" y="218"/>
                    </a:lnTo>
                    <a:lnTo>
                      <a:pt x="25" y="222"/>
                    </a:lnTo>
                    <a:lnTo>
                      <a:pt x="22" y="226"/>
                    </a:lnTo>
                    <a:lnTo>
                      <a:pt x="19" y="231"/>
                    </a:lnTo>
                    <a:lnTo>
                      <a:pt x="17" y="238"/>
                    </a:lnTo>
                    <a:lnTo>
                      <a:pt x="15" y="243"/>
                    </a:lnTo>
                    <a:lnTo>
                      <a:pt x="14" y="252"/>
                    </a:lnTo>
                    <a:lnTo>
                      <a:pt x="14" y="258"/>
                    </a:lnTo>
                    <a:lnTo>
                      <a:pt x="15" y="264"/>
                    </a:lnTo>
                    <a:lnTo>
                      <a:pt x="17" y="275"/>
                    </a:lnTo>
                    <a:lnTo>
                      <a:pt x="12" y="262"/>
                    </a:lnTo>
                    <a:lnTo>
                      <a:pt x="3" y="229"/>
                    </a:lnTo>
                    <a:lnTo>
                      <a:pt x="2" y="207"/>
                    </a:lnTo>
                    <a:lnTo>
                      <a:pt x="0" y="173"/>
                    </a:lnTo>
                    <a:lnTo>
                      <a:pt x="0" y="144"/>
                    </a:lnTo>
                    <a:lnTo>
                      <a:pt x="4" y="119"/>
                    </a:lnTo>
                    <a:lnTo>
                      <a:pt x="11" y="84"/>
                    </a:lnTo>
                    <a:lnTo>
                      <a:pt x="30" y="4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43" name="Freeform 39"/>
              <p:cNvSpPr>
                <a:spLocks/>
              </p:cNvSpPr>
              <p:nvPr/>
            </p:nvSpPr>
            <p:spPr bwMode="auto">
              <a:xfrm>
                <a:off x="112" y="4295"/>
                <a:ext cx="439" cy="321"/>
              </a:xfrm>
              <a:custGeom>
                <a:avLst/>
                <a:gdLst>
                  <a:gd name="T0" fmla="*/ 146 w 439"/>
                  <a:gd name="T1" fmla="*/ 22 h 321"/>
                  <a:gd name="T2" fmla="*/ 113 w 439"/>
                  <a:gd name="T3" fmla="*/ 43 h 321"/>
                  <a:gd name="T4" fmla="*/ 83 w 439"/>
                  <a:gd name="T5" fmla="*/ 67 h 321"/>
                  <a:gd name="T6" fmla="*/ 57 w 439"/>
                  <a:gd name="T7" fmla="*/ 96 h 321"/>
                  <a:gd name="T8" fmla="*/ 31 w 439"/>
                  <a:gd name="T9" fmla="*/ 134 h 321"/>
                  <a:gd name="T10" fmla="*/ 12 w 439"/>
                  <a:gd name="T11" fmla="*/ 177 h 321"/>
                  <a:gd name="T12" fmla="*/ 1 w 439"/>
                  <a:gd name="T13" fmla="*/ 227 h 321"/>
                  <a:gd name="T14" fmla="*/ 0 w 439"/>
                  <a:gd name="T15" fmla="*/ 278 h 321"/>
                  <a:gd name="T16" fmla="*/ 9 w 439"/>
                  <a:gd name="T17" fmla="*/ 320 h 321"/>
                  <a:gd name="T18" fmla="*/ 10 w 439"/>
                  <a:gd name="T19" fmla="*/ 282 h 321"/>
                  <a:gd name="T20" fmla="*/ 29 w 439"/>
                  <a:gd name="T21" fmla="*/ 258 h 321"/>
                  <a:gd name="T22" fmla="*/ 55 w 439"/>
                  <a:gd name="T23" fmla="*/ 250 h 321"/>
                  <a:gd name="T24" fmla="*/ 81 w 439"/>
                  <a:gd name="T25" fmla="*/ 260 h 321"/>
                  <a:gd name="T26" fmla="*/ 94 w 439"/>
                  <a:gd name="T27" fmla="*/ 276 h 321"/>
                  <a:gd name="T28" fmla="*/ 84 w 439"/>
                  <a:gd name="T29" fmla="*/ 229 h 321"/>
                  <a:gd name="T30" fmla="*/ 81 w 439"/>
                  <a:gd name="T31" fmla="*/ 178 h 321"/>
                  <a:gd name="T32" fmla="*/ 85 w 439"/>
                  <a:gd name="T33" fmla="*/ 129 h 321"/>
                  <a:gd name="T34" fmla="*/ 96 w 439"/>
                  <a:gd name="T35" fmla="*/ 91 h 321"/>
                  <a:gd name="T36" fmla="*/ 113 w 439"/>
                  <a:gd name="T37" fmla="*/ 57 h 321"/>
                  <a:gd name="T38" fmla="*/ 138 w 439"/>
                  <a:gd name="T39" fmla="*/ 30 h 321"/>
                  <a:gd name="T40" fmla="*/ 149 w 439"/>
                  <a:gd name="T41" fmla="*/ 30 h 321"/>
                  <a:gd name="T42" fmla="*/ 146 w 439"/>
                  <a:gd name="T43" fmla="*/ 71 h 321"/>
                  <a:gd name="T44" fmla="*/ 150 w 439"/>
                  <a:gd name="T45" fmla="*/ 116 h 321"/>
                  <a:gd name="T46" fmla="*/ 161 w 439"/>
                  <a:gd name="T47" fmla="*/ 172 h 321"/>
                  <a:gd name="T48" fmla="*/ 174 w 439"/>
                  <a:gd name="T49" fmla="*/ 220 h 321"/>
                  <a:gd name="T50" fmla="*/ 179 w 439"/>
                  <a:gd name="T51" fmla="*/ 231 h 321"/>
                  <a:gd name="T52" fmla="*/ 189 w 439"/>
                  <a:gd name="T53" fmla="*/ 196 h 321"/>
                  <a:gd name="T54" fmla="*/ 217 w 439"/>
                  <a:gd name="T55" fmla="*/ 178 h 321"/>
                  <a:gd name="T56" fmla="*/ 247 w 439"/>
                  <a:gd name="T57" fmla="*/ 184 h 321"/>
                  <a:gd name="T58" fmla="*/ 262 w 439"/>
                  <a:gd name="T59" fmla="*/ 198 h 321"/>
                  <a:gd name="T60" fmla="*/ 248 w 439"/>
                  <a:gd name="T61" fmla="*/ 158 h 321"/>
                  <a:gd name="T62" fmla="*/ 231 w 439"/>
                  <a:gd name="T63" fmla="*/ 115 h 321"/>
                  <a:gd name="T64" fmla="*/ 211 w 439"/>
                  <a:gd name="T65" fmla="*/ 75 h 321"/>
                  <a:gd name="T66" fmla="*/ 192 w 439"/>
                  <a:gd name="T67" fmla="*/ 44 h 321"/>
                  <a:gd name="T68" fmla="*/ 170 w 439"/>
                  <a:gd name="T69" fmla="*/ 20 h 321"/>
                  <a:gd name="T70" fmla="*/ 183 w 439"/>
                  <a:gd name="T71" fmla="*/ 12 h 321"/>
                  <a:gd name="T72" fmla="*/ 217 w 439"/>
                  <a:gd name="T73" fmla="*/ 14 h 321"/>
                  <a:gd name="T74" fmla="*/ 251 w 439"/>
                  <a:gd name="T75" fmla="*/ 30 h 321"/>
                  <a:gd name="T76" fmla="*/ 278 w 439"/>
                  <a:gd name="T77" fmla="*/ 52 h 321"/>
                  <a:gd name="T78" fmla="*/ 303 w 439"/>
                  <a:gd name="T79" fmla="*/ 80 h 321"/>
                  <a:gd name="T80" fmla="*/ 324 w 439"/>
                  <a:gd name="T81" fmla="*/ 112 h 321"/>
                  <a:gd name="T82" fmla="*/ 341 w 439"/>
                  <a:gd name="T83" fmla="*/ 149 h 321"/>
                  <a:gd name="T84" fmla="*/ 350 w 439"/>
                  <a:gd name="T85" fmla="*/ 157 h 321"/>
                  <a:gd name="T86" fmla="*/ 360 w 439"/>
                  <a:gd name="T87" fmla="*/ 125 h 321"/>
                  <a:gd name="T88" fmla="*/ 383 w 439"/>
                  <a:gd name="T89" fmla="*/ 106 h 321"/>
                  <a:gd name="T90" fmla="*/ 407 w 439"/>
                  <a:gd name="T91" fmla="*/ 106 h 321"/>
                  <a:gd name="T92" fmla="*/ 430 w 439"/>
                  <a:gd name="T93" fmla="*/ 125 h 321"/>
                  <a:gd name="T94" fmla="*/ 430 w 439"/>
                  <a:gd name="T95" fmla="*/ 116 h 321"/>
                  <a:gd name="T96" fmla="*/ 411 w 439"/>
                  <a:gd name="T97" fmla="*/ 83 h 321"/>
                  <a:gd name="T98" fmla="*/ 387 w 439"/>
                  <a:gd name="T99" fmla="*/ 53 h 321"/>
                  <a:gd name="T100" fmla="*/ 356 w 439"/>
                  <a:gd name="T101" fmla="*/ 29 h 321"/>
                  <a:gd name="T102" fmla="*/ 324 w 439"/>
                  <a:gd name="T103" fmla="*/ 13 h 321"/>
                  <a:gd name="T104" fmla="*/ 291 w 439"/>
                  <a:gd name="T105" fmla="*/ 4 h 321"/>
                  <a:gd name="T106" fmla="*/ 256 w 439"/>
                  <a:gd name="T107" fmla="*/ 0 h 321"/>
                  <a:gd name="T108" fmla="*/ 217 w 439"/>
                  <a:gd name="T109" fmla="*/ 1 h 321"/>
                  <a:gd name="T110" fmla="*/ 180 w 439"/>
                  <a:gd name="T111" fmla="*/ 9 h 32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39" h="321">
                    <a:moveTo>
                      <a:pt x="172" y="12"/>
                    </a:moveTo>
                    <a:lnTo>
                      <a:pt x="162" y="16"/>
                    </a:lnTo>
                    <a:lnTo>
                      <a:pt x="157" y="17"/>
                    </a:lnTo>
                    <a:lnTo>
                      <a:pt x="152" y="20"/>
                    </a:lnTo>
                    <a:lnTo>
                      <a:pt x="146" y="22"/>
                    </a:lnTo>
                    <a:lnTo>
                      <a:pt x="138" y="26"/>
                    </a:lnTo>
                    <a:lnTo>
                      <a:pt x="132" y="30"/>
                    </a:lnTo>
                    <a:lnTo>
                      <a:pt x="126" y="33"/>
                    </a:lnTo>
                    <a:lnTo>
                      <a:pt x="119" y="38"/>
                    </a:lnTo>
                    <a:lnTo>
                      <a:pt x="113" y="43"/>
                    </a:lnTo>
                    <a:lnTo>
                      <a:pt x="107" y="47"/>
                    </a:lnTo>
                    <a:lnTo>
                      <a:pt x="101" y="52"/>
                    </a:lnTo>
                    <a:lnTo>
                      <a:pt x="94" y="57"/>
                    </a:lnTo>
                    <a:lnTo>
                      <a:pt x="88" y="61"/>
                    </a:lnTo>
                    <a:lnTo>
                      <a:pt x="83" y="67"/>
                    </a:lnTo>
                    <a:lnTo>
                      <a:pt x="77" y="72"/>
                    </a:lnTo>
                    <a:lnTo>
                      <a:pt x="72" y="79"/>
                    </a:lnTo>
                    <a:lnTo>
                      <a:pt x="66" y="84"/>
                    </a:lnTo>
                    <a:lnTo>
                      <a:pt x="61" y="90"/>
                    </a:lnTo>
                    <a:lnTo>
                      <a:pt x="57" y="96"/>
                    </a:lnTo>
                    <a:lnTo>
                      <a:pt x="51" y="103"/>
                    </a:lnTo>
                    <a:lnTo>
                      <a:pt x="46" y="110"/>
                    </a:lnTo>
                    <a:lnTo>
                      <a:pt x="41" y="118"/>
                    </a:lnTo>
                    <a:lnTo>
                      <a:pt x="36" y="126"/>
                    </a:lnTo>
                    <a:lnTo>
                      <a:pt x="31" y="134"/>
                    </a:lnTo>
                    <a:lnTo>
                      <a:pt x="27" y="141"/>
                    </a:lnTo>
                    <a:lnTo>
                      <a:pt x="23" y="150"/>
                    </a:lnTo>
                    <a:lnTo>
                      <a:pt x="18" y="160"/>
                    </a:lnTo>
                    <a:lnTo>
                      <a:pt x="15" y="169"/>
                    </a:lnTo>
                    <a:lnTo>
                      <a:pt x="12" y="177"/>
                    </a:lnTo>
                    <a:lnTo>
                      <a:pt x="9" y="186"/>
                    </a:lnTo>
                    <a:lnTo>
                      <a:pt x="6" y="196"/>
                    </a:lnTo>
                    <a:lnTo>
                      <a:pt x="4" y="207"/>
                    </a:lnTo>
                    <a:lnTo>
                      <a:pt x="3" y="216"/>
                    </a:lnTo>
                    <a:lnTo>
                      <a:pt x="1" y="227"/>
                    </a:lnTo>
                    <a:lnTo>
                      <a:pt x="0" y="239"/>
                    </a:lnTo>
                    <a:lnTo>
                      <a:pt x="0" y="250"/>
                    </a:lnTo>
                    <a:lnTo>
                      <a:pt x="0" y="260"/>
                    </a:lnTo>
                    <a:lnTo>
                      <a:pt x="0" y="270"/>
                    </a:lnTo>
                    <a:lnTo>
                      <a:pt x="0" y="278"/>
                    </a:lnTo>
                    <a:lnTo>
                      <a:pt x="1" y="286"/>
                    </a:lnTo>
                    <a:lnTo>
                      <a:pt x="3" y="294"/>
                    </a:lnTo>
                    <a:lnTo>
                      <a:pt x="4" y="302"/>
                    </a:lnTo>
                    <a:lnTo>
                      <a:pt x="6" y="310"/>
                    </a:lnTo>
                    <a:lnTo>
                      <a:pt x="9" y="320"/>
                    </a:lnTo>
                    <a:lnTo>
                      <a:pt x="7" y="310"/>
                    </a:lnTo>
                    <a:lnTo>
                      <a:pt x="7" y="302"/>
                    </a:lnTo>
                    <a:lnTo>
                      <a:pt x="7" y="295"/>
                    </a:lnTo>
                    <a:lnTo>
                      <a:pt x="9" y="289"/>
                    </a:lnTo>
                    <a:lnTo>
                      <a:pt x="10" y="282"/>
                    </a:lnTo>
                    <a:lnTo>
                      <a:pt x="13" y="276"/>
                    </a:lnTo>
                    <a:lnTo>
                      <a:pt x="16" y="271"/>
                    </a:lnTo>
                    <a:lnTo>
                      <a:pt x="21" y="264"/>
                    </a:lnTo>
                    <a:lnTo>
                      <a:pt x="25" y="260"/>
                    </a:lnTo>
                    <a:lnTo>
                      <a:pt x="29" y="258"/>
                    </a:lnTo>
                    <a:lnTo>
                      <a:pt x="33" y="255"/>
                    </a:lnTo>
                    <a:lnTo>
                      <a:pt x="39" y="252"/>
                    </a:lnTo>
                    <a:lnTo>
                      <a:pt x="45" y="251"/>
                    </a:lnTo>
                    <a:lnTo>
                      <a:pt x="50" y="250"/>
                    </a:lnTo>
                    <a:lnTo>
                      <a:pt x="55" y="250"/>
                    </a:lnTo>
                    <a:lnTo>
                      <a:pt x="60" y="251"/>
                    </a:lnTo>
                    <a:lnTo>
                      <a:pt x="66" y="252"/>
                    </a:lnTo>
                    <a:lnTo>
                      <a:pt x="72" y="255"/>
                    </a:lnTo>
                    <a:lnTo>
                      <a:pt x="75" y="258"/>
                    </a:lnTo>
                    <a:lnTo>
                      <a:pt x="81" y="260"/>
                    </a:lnTo>
                    <a:lnTo>
                      <a:pt x="85" y="266"/>
                    </a:lnTo>
                    <a:lnTo>
                      <a:pt x="89" y="271"/>
                    </a:lnTo>
                    <a:lnTo>
                      <a:pt x="93" y="278"/>
                    </a:lnTo>
                    <a:lnTo>
                      <a:pt x="96" y="285"/>
                    </a:lnTo>
                    <a:lnTo>
                      <a:pt x="94" y="276"/>
                    </a:lnTo>
                    <a:lnTo>
                      <a:pt x="92" y="268"/>
                    </a:lnTo>
                    <a:lnTo>
                      <a:pt x="89" y="259"/>
                    </a:lnTo>
                    <a:lnTo>
                      <a:pt x="87" y="248"/>
                    </a:lnTo>
                    <a:lnTo>
                      <a:pt x="86" y="239"/>
                    </a:lnTo>
                    <a:lnTo>
                      <a:pt x="84" y="229"/>
                    </a:lnTo>
                    <a:lnTo>
                      <a:pt x="83" y="220"/>
                    </a:lnTo>
                    <a:lnTo>
                      <a:pt x="82" y="211"/>
                    </a:lnTo>
                    <a:lnTo>
                      <a:pt x="81" y="200"/>
                    </a:lnTo>
                    <a:lnTo>
                      <a:pt x="81" y="189"/>
                    </a:lnTo>
                    <a:lnTo>
                      <a:pt x="81" y="178"/>
                    </a:lnTo>
                    <a:lnTo>
                      <a:pt x="81" y="166"/>
                    </a:lnTo>
                    <a:lnTo>
                      <a:pt x="82" y="155"/>
                    </a:lnTo>
                    <a:lnTo>
                      <a:pt x="83" y="147"/>
                    </a:lnTo>
                    <a:lnTo>
                      <a:pt x="84" y="138"/>
                    </a:lnTo>
                    <a:lnTo>
                      <a:pt x="85" y="129"/>
                    </a:lnTo>
                    <a:lnTo>
                      <a:pt x="87" y="119"/>
                    </a:lnTo>
                    <a:lnTo>
                      <a:pt x="90" y="111"/>
                    </a:lnTo>
                    <a:lnTo>
                      <a:pt x="92" y="103"/>
                    </a:lnTo>
                    <a:lnTo>
                      <a:pt x="93" y="96"/>
                    </a:lnTo>
                    <a:lnTo>
                      <a:pt x="96" y="91"/>
                    </a:lnTo>
                    <a:lnTo>
                      <a:pt x="99" y="86"/>
                    </a:lnTo>
                    <a:lnTo>
                      <a:pt x="102" y="77"/>
                    </a:lnTo>
                    <a:lnTo>
                      <a:pt x="105" y="69"/>
                    </a:lnTo>
                    <a:lnTo>
                      <a:pt x="109" y="63"/>
                    </a:lnTo>
                    <a:lnTo>
                      <a:pt x="113" y="57"/>
                    </a:lnTo>
                    <a:lnTo>
                      <a:pt x="117" y="52"/>
                    </a:lnTo>
                    <a:lnTo>
                      <a:pt x="123" y="45"/>
                    </a:lnTo>
                    <a:lnTo>
                      <a:pt x="127" y="40"/>
                    </a:lnTo>
                    <a:lnTo>
                      <a:pt x="132" y="34"/>
                    </a:lnTo>
                    <a:lnTo>
                      <a:pt x="138" y="30"/>
                    </a:lnTo>
                    <a:lnTo>
                      <a:pt x="144" y="26"/>
                    </a:lnTo>
                    <a:lnTo>
                      <a:pt x="150" y="22"/>
                    </a:lnTo>
                    <a:lnTo>
                      <a:pt x="154" y="21"/>
                    </a:lnTo>
                    <a:lnTo>
                      <a:pt x="151" y="25"/>
                    </a:lnTo>
                    <a:lnTo>
                      <a:pt x="149" y="30"/>
                    </a:lnTo>
                    <a:lnTo>
                      <a:pt x="147" y="38"/>
                    </a:lnTo>
                    <a:lnTo>
                      <a:pt x="147" y="47"/>
                    </a:lnTo>
                    <a:lnTo>
                      <a:pt x="146" y="53"/>
                    </a:lnTo>
                    <a:lnTo>
                      <a:pt x="146" y="63"/>
                    </a:lnTo>
                    <a:lnTo>
                      <a:pt x="146" y="71"/>
                    </a:lnTo>
                    <a:lnTo>
                      <a:pt x="146" y="77"/>
                    </a:lnTo>
                    <a:lnTo>
                      <a:pt x="147" y="87"/>
                    </a:lnTo>
                    <a:lnTo>
                      <a:pt x="147" y="98"/>
                    </a:lnTo>
                    <a:lnTo>
                      <a:pt x="149" y="107"/>
                    </a:lnTo>
                    <a:lnTo>
                      <a:pt x="150" y="116"/>
                    </a:lnTo>
                    <a:lnTo>
                      <a:pt x="152" y="129"/>
                    </a:lnTo>
                    <a:lnTo>
                      <a:pt x="154" y="139"/>
                    </a:lnTo>
                    <a:lnTo>
                      <a:pt x="156" y="151"/>
                    </a:lnTo>
                    <a:lnTo>
                      <a:pt x="159" y="162"/>
                    </a:lnTo>
                    <a:lnTo>
                      <a:pt x="161" y="172"/>
                    </a:lnTo>
                    <a:lnTo>
                      <a:pt x="163" y="181"/>
                    </a:lnTo>
                    <a:lnTo>
                      <a:pt x="165" y="190"/>
                    </a:lnTo>
                    <a:lnTo>
                      <a:pt x="168" y="200"/>
                    </a:lnTo>
                    <a:lnTo>
                      <a:pt x="171" y="209"/>
                    </a:lnTo>
                    <a:lnTo>
                      <a:pt x="174" y="220"/>
                    </a:lnTo>
                    <a:lnTo>
                      <a:pt x="176" y="229"/>
                    </a:lnTo>
                    <a:lnTo>
                      <a:pt x="178" y="237"/>
                    </a:lnTo>
                    <a:lnTo>
                      <a:pt x="181" y="248"/>
                    </a:lnTo>
                    <a:lnTo>
                      <a:pt x="180" y="240"/>
                    </a:lnTo>
                    <a:lnTo>
                      <a:pt x="179" y="231"/>
                    </a:lnTo>
                    <a:lnTo>
                      <a:pt x="180" y="223"/>
                    </a:lnTo>
                    <a:lnTo>
                      <a:pt x="180" y="216"/>
                    </a:lnTo>
                    <a:lnTo>
                      <a:pt x="183" y="209"/>
                    </a:lnTo>
                    <a:lnTo>
                      <a:pt x="186" y="203"/>
                    </a:lnTo>
                    <a:lnTo>
                      <a:pt x="189" y="196"/>
                    </a:lnTo>
                    <a:lnTo>
                      <a:pt x="193" y="190"/>
                    </a:lnTo>
                    <a:lnTo>
                      <a:pt x="198" y="186"/>
                    </a:lnTo>
                    <a:lnTo>
                      <a:pt x="204" y="182"/>
                    </a:lnTo>
                    <a:lnTo>
                      <a:pt x="210" y="178"/>
                    </a:lnTo>
                    <a:lnTo>
                      <a:pt x="217" y="178"/>
                    </a:lnTo>
                    <a:lnTo>
                      <a:pt x="223" y="177"/>
                    </a:lnTo>
                    <a:lnTo>
                      <a:pt x="230" y="177"/>
                    </a:lnTo>
                    <a:lnTo>
                      <a:pt x="236" y="178"/>
                    </a:lnTo>
                    <a:lnTo>
                      <a:pt x="243" y="181"/>
                    </a:lnTo>
                    <a:lnTo>
                      <a:pt x="247" y="184"/>
                    </a:lnTo>
                    <a:lnTo>
                      <a:pt x="252" y="188"/>
                    </a:lnTo>
                    <a:lnTo>
                      <a:pt x="256" y="193"/>
                    </a:lnTo>
                    <a:lnTo>
                      <a:pt x="261" y="198"/>
                    </a:lnTo>
                    <a:lnTo>
                      <a:pt x="267" y="212"/>
                    </a:lnTo>
                    <a:lnTo>
                      <a:pt x="262" y="198"/>
                    </a:lnTo>
                    <a:lnTo>
                      <a:pt x="259" y="190"/>
                    </a:lnTo>
                    <a:lnTo>
                      <a:pt x="257" y="184"/>
                    </a:lnTo>
                    <a:lnTo>
                      <a:pt x="255" y="176"/>
                    </a:lnTo>
                    <a:lnTo>
                      <a:pt x="252" y="168"/>
                    </a:lnTo>
                    <a:lnTo>
                      <a:pt x="248" y="158"/>
                    </a:lnTo>
                    <a:lnTo>
                      <a:pt x="244" y="149"/>
                    </a:lnTo>
                    <a:lnTo>
                      <a:pt x="241" y="139"/>
                    </a:lnTo>
                    <a:lnTo>
                      <a:pt x="238" y="131"/>
                    </a:lnTo>
                    <a:lnTo>
                      <a:pt x="234" y="123"/>
                    </a:lnTo>
                    <a:lnTo>
                      <a:pt x="231" y="115"/>
                    </a:lnTo>
                    <a:lnTo>
                      <a:pt x="227" y="106"/>
                    </a:lnTo>
                    <a:lnTo>
                      <a:pt x="222" y="98"/>
                    </a:lnTo>
                    <a:lnTo>
                      <a:pt x="219" y="90"/>
                    </a:lnTo>
                    <a:lnTo>
                      <a:pt x="215" y="83"/>
                    </a:lnTo>
                    <a:lnTo>
                      <a:pt x="211" y="75"/>
                    </a:lnTo>
                    <a:lnTo>
                      <a:pt x="207" y="68"/>
                    </a:lnTo>
                    <a:lnTo>
                      <a:pt x="204" y="61"/>
                    </a:lnTo>
                    <a:lnTo>
                      <a:pt x="201" y="55"/>
                    </a:lnTo>
                    <a:lnTo>
                      <a:pt x="196" y="49"/>
                    </a:lnTo>
                    <a:lnTo>
                      <a:pt x="192" y="44"/>
                    </a:lnTo>
                    <a:lnTo>
                      <a:pt x="188" y="37"/>
                    </a:lnTo>
                    <a:lnTo>
                      <a:pt x="184" y="32"/>
                    </a:lnTo>
                    <a:lnTo>
                      <a:pt x="180" y="28"/>
                    </a:lnTo>
                    <a:lnTo>
                      <a:pt x="175" y="24"/>
                    </a:lnTo>
                    <a:lnTo>
                      <a:pt x="170" y="20"/>
                    </a:lnTo>
                    <a:lnTo>
                      <a:pt x="165" y="18"/>
                    </a:lnTo>
                    <a:lnTo>
                      <a:pt x="161" y="17"/>
                    </a:lnTo>
                    <a:lnTo>
                      <a:pt x="169" y="14"/>
                    </a:lnTo>
                    <a:lnTo>
                      <a:pt x="176" y="13"/>
                    </a:lnTo>
                    <a:lnTo>
                      <a:pt x="183" y="12"/>
                    </a:lnTo>
                    <a:lnTo>
                      <a:pt x="190" y="12"/>
                    </a:lnTo>
                    <a:lnTo>
                      <a:pt x="198" y="12"/>
                    </a:lnTo>
                    <a:lnTo>
                      <a:pt x="205" y="12"/>
                    </a:lnTo>
                    <a:lnTo>
                      <a:pt x="211" y="13"/>
                    </a:lnTo>
                    <a:lnTo>
                      <a:pt x="217" y="14"/>
                    </a:lnTo>
                    <a:lnTo>
                      <a:pt x="224" y="17"/>
                    </a:lnTo>
                    <a:lnTo>
                      <a:pt x="231" y="20"/>
                    </a:lnTo>
                    <a:lnTo>
                      <a:pt x="238" y="24"/>
                    </a:lnTo>
                    <a:lnTo>
                      <a:pt x="245" y="26"/>
                    </a:lnTo>
                    <a:lnTo>
                      <a:pt x="251" y="30"/>
                    </a:lnTo>
                    <a:lnTo>
                      <a:pt x="256" y="33"/>
                    </a:lnTo>
                    <a:lnTo>
                      <a:pt x="261" y="37"/>
                    </a:lnTo>
                    <a:lnTo>
                      <a:pt x="267" y="43"/>
                    </a:lnTo>
                    <a:lnTo>
                      <a:pt x="273" y="47"/>
                    </a:lnTo>
                    <a:lnTo>
                      <a:pt x="278" y="52"/>
                    </a:lnTo>
                    <a:lnTo>
                      <a:pt x="284" y="57"/>
                    </a:lnTo>
                    <a:lnTo>
                      <a:pt x="289" y="63"/>
                    </a:lnTo>
                    <a:lnTo>
                      <a:pt x="294" y="68"/>
                    </a:lnTo>
                    <a:lnTo>
                      <a:pt x="298" y="73"/>
                    </a:lnTo>
                    <a:lnTo>
                      <a:pt x="303" y="80"/>
                    </a:lnTo>
                    <a:lnTo>
                      <a:pt x="308" y="87"/>
                    </a:lnTo>
                    <a:lnTo>
                      <a:pt x="312" y="92"/>
                    </a:lnTo>
                    <a:lnTo>
                      <a:pt x="315" y="99"/>
                    </a:lnTo>
                    <a:lnTo>
                      <a:pt x="320" y="106"/>
                    </a:lnTo>
                    <a:lnTo>
                      <a:pt x="324" y="112"/>
                    </a:lnTo>
                    <a:lnTo>
                      <a:pt x="327" y="119"/>
                    </a:lnTo>
                    <a:lnTo>
                      <a:pt x="331" y="126"/>
                    </a:lnTo>
                    <a:lnTo>
                      <a:pt x="335" y="134"/>
                    </a:lnTo>
                    <a:lnTo>
                      <a:pt x="338" y="141"/>
                    </a:lnTo>
                    <a:lnTo>
                      <a:pt x="341" y="149"/>
                    </a:lnTo>
                    <a:lnTo>
                      <a:pt x="345" y="157"/>
                    </a:lnTo>
                    <a:lnTo>
                      <a:pt x="348" y="165"/>
                    </a:lnTo>
                    <a:lnTo>
                      <a:pt x="351" y="176"/>
                    </a:lnTo>
                    <a:lnTo>
                      <a:pt x="350" y="164"/>
                    </a:lnTo>
                    <a:lnTo>
                      <a:pt x="350" y="157"/>
                    </a:lnTo>
                    <a:lnTo>
                      <a:pt x="350" y="149"/>
                    </a:lnTo>
                    <a:lnTo>
                      <a:pt x="351" y="142"/>
                    </a:lnTo>
                    <a:lnTo>
                      <a:pt x="354" y="135"/>
                    </a:lnTo>
                    <a:lnTo>
                      <a:pt x="356" y="130"/>
                    </a:lnTo>
                    <a:lnTo>
                      <a:pt x="360" y="125"/>
                    </a:lnTo>
                    <a:lnTo>
                      <a:pt x="364" y="119"/>
                    </a:lnTo>
                    <a:lnTo>
                      <a:pt x="369" y="114"/>
                    </a:lnTo>
                    <a:lnTo>
                      <a:pt x="374" y="111"/>
                    </a:lnTo>
                    <a:lnTo>
                      <a:pt x="378" y="108"/>
                    </a:lnTo>
                    <a:lnTo>
                      <a:pt x="383" y="106"/>
                    </a:lnTo>
                    <a:lnTo>
                      <a:pt x="388" y="104"/>
                    </a:lnTo>
                    <a:lnTo>
                      <a:pt x="393" y="103"/>
                    </a:lnTo>
                    <a:lnTo>
                      <a:pt x="398" y="103"/>
                    </a:lnTo>
                    <a:lnTo>
                      <a:pt x="402" y="104"/>
                    </a:lnTo>
                    <a:lnTo>
                      <a:pt x="407" y="106"/>
                    </a:lnTo>
                    <a:lnTo>
                      <a:pt x="412" y="108"/>
                    </a:lnTo>
                    <a:lnTo>
                      <a:pt x="417" y="111"/>
                    </a:lnTo>
                    <a:lnTo>
                      <a:pt x="422" y="114"/>
                    </a:lnTo>
                    <a:lnTo>
                      <a:pt x="426" y="119"/>
                    </a:lnTo>
                    <a:lnTo>
                      <a:pt x="430" y="125"/>
                    </a:lnTo>
                    <a:lnTo>
                      <a:pt x="434" y="130"/>
                    </a:lnTo>
                    <a:lnTo>
                      <a:pt x="438" y="137"/>
                    </a:lnTo>
                    <a:lnTo>
                      <a:pt x="435" y="129"/>
                    </a:lnTo>
                    <a:lnTo>
                      <a:pt x="432" y="123"/>
                    </a:lnTo>
                    <a:lnTo>
                      <a:pt x="430" y="116"/>
                    </a:lnTo>
                    <a:lnTo>
                      <a:pt x="427" y="110"/>
                    </a:lnTo>
                    <a:lnTo>
                      <a:pt x="423" y="103"/>
                    </a:lnTo>
                    <a:lnTo>
                      <a:pt x="420" y="95"/>
                    </a:lnTo>
                    <a:lnTo>
                      <a:pt x="415" y="88"/>
                    </a:lnTo>
                    <a:lnTo>
                      <a:pt x="411" y="83"/>
                    </a:lnTo>
                    <a:lnTo>
                      <a:pt x="407" y="76"/>
                    </a:lnTo>
                    <a:lnTo>
                      <a:pt x="402" y="69"/>
                    </a:lnTo>
                    <a:lnTo>
                      <a:pt x="396" y="64"/>
                    </a:lnTo>
                    <a:lnTo>
                      <a:pt x="392" y="59"/>
                    </a:lnTo>
                    <a:lnTo>
                      <a:pt x="387" y="53"/>
                    </a:lnTo>
                    <a:lnTo>
                      <a:pt x="381" y="48"/>
                    </a:lnTo>
                    <a:lnTo>
                      <a:pt x="375" y="43"/>
                    </a:lnTo>
                    <a:lnTo>
                      <a:pt x="369" y="38"/>
                    </a:lnTo>
                    <a:lnTo>
                      <a:pt x="362" y="33"/>
                    </a:lnTo>
                    <a:lnTo>
                      <a:pt x="356" y="29"/>
                    </a:lnTo>
                    <a:lnTo>
                      <a:pt x="350" y="26"/>
                    </a:lnTo>
                    <a:lnTo>
                      <a:pt x="343" y="22"/>
                    </a:lnTo>
                    <a:lnTo>
                      <a:pt x="337" y="20"/>
                    </a:lnTo>
                    <a:lnTo>
                      <a:pt x="330" y="16"/>
                    </a:lnTo>
                    <a:lnTo>
                      <a:pt x="324" y="13"/>
                    </a:lnTo>
                    <a:lnTo>
                      <a:pt x="317" y="10"/>
                    </a:lnTo>
                    <a:lnTo>
                      <a:pt x="310" y="9"/>
                    </a:lnTo>
                    <a:lnTo>
                      <a:pt x="304" y="6"/>
                    </a:lnTo>
                    <a:lnTo>
                      <a:pt x="297" y="5"/>
                    </a:lnTo>
                    <a:lnTo>
                      <a:pt x="291" y="4"/>
                    </a:lnTo>
                    <a:lnTo>
                      <a:pt x="285" y="2"/>
                    </a:lnTo>
                    <a:lnTo>
                      <a:pt x="279" y="1"/>
                    </a:lnTo>
                    <a:lnTo>
                      <a:pt x="270" y="0"/>
                    </a:lnTo>
                    <a:lnTo>
                      <a:pt x="263" y="0"/>
                    </a:lnTo>
                    <a:lnTo>
                      <a:pt x="256" y="0"/>
                    </a:lnTo>
                    <a:lnTo>
                      <a:pt x="249" y="0"/>
                    </a:lnTo>
                    <a:lnTo>
                      <a:pt x="240" y="0"/>
                    </a:lnTo>
                    <a:lnTo>
                      <a:pt x="232" y="0"/>
                    </a:lnTo>
                    <a:lnTo>
                      <a:pt x="225" y="0"/>
                    </a:lnTo>
                    <a:lnTo>
                      <a:pt x="217" y="1"/>
                    </a:lnTo>
                    <a:lnTo>
                      <a:pt x="209" y="2"/>
                    </a:lnTo>
                    <a:lnTo>
                      <a:pt x="203" y="4"/>
                    </a:lnTo>
                    <a:lnTo>
                      <a:pt x="196" y="5"/>
                    </a:lnTo>
                    <a:lnTo>
                      <a:pt x="189" y="8"/>
                    </a:lnTo>
                    <a:lnTo>
                      <a:pt x="180" y="9"/>
                    </a:lnTo>
                    <a:lnTo>
                      <a:pt x="172" y="12"/>
                    </a:lnTo>
                  </a:path>
                </a:pathLst>
              </a:custGeom>
              <a:solidFill>
                <a:srgbClr val="FF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sp>
        <p:nvSpPr>
          <p:cNvPr id="1036" name="Text Box 40"/>
          <p:cNvSpPr txBox="1">
            <a:spLocks noChangeArrowheads="1"/>
          </p:cNvSpPr>
          <p:nvPr/>
        </p:nvSpPr>
        <p:spPr bwMode="auto">
          <a:xfrm>
            <a:off x="6762750" y="6613525"/>
            <a:ext cx="23812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pPr>
            <a:r>
              <a:rPr kumimoji="0" lang="en-US" sz="1000" b="1" i="0" smtClean="0">
                <a:solidFill>
                  <a:srgbClr val="CC3300"/>
                </a:solidFill>
              </a:rPr>
              <a:t>©Silberschatz, Korth and Sudarshan</a:t>
            </a:r>
          </a:p>
        </p:txBody>
      </p:sp>
      <p:sp>
        <p:nvSpPr>
          <p:cNvPr id="1037" name="Text Box 41"/>
          <p:cNvSpPr txBox="1">
            <a:spLocks noChangeArrowheads="1"/>
          </p:cNvSpPr>
          <p:nvPr/>
        </p:nvSpPr>
        <p:spPr bwMode="auto">
          <a:xfrm>
            <a:off x="4481513" y="6613525"/>
            <a:ext cx="4445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pPr>
            <a:r>
              <a:rPr kumimoji="0" lang="en-US" sz="1000" b="1" i="0" smtClean="0">
                <a:solidFill>
                  <a:srgbClr val="CC3300"/>
                </a:solidFill>
              </a:rPr>
              <a:t>3.</a:t>
            </a:r>
            <a:fld id="{8D0109CD-3502-4E67-A598-E5930CD4B0A0}" type="slidenum">
              <a:rPr kumimoji="0" lang="en-US" sz="1000" b="1" i="0" smtClean="0">
                <a:solidFill>
                  <a:srgbClr val="CC3300"/>
                </a:solidFill>
              </a:rPr>
              <a:pPr algn="ctr" eaLnBrk="0" fontAlgn="base" hangingPunct="0">
                <a:spcBef>
                  <a:spcPct val="50000"/>
                </a:spcBef>
                <a:spcAft>
                  <a:spcPct val="0"/>
                </a:spcAft>
              </a:pPr>
              <a:t>‹#›</a:t>
            </a:fld>
            <a:endParaRPr kumimoji="0" lang="en-US" sz="1000" b="1" i="0" smtClean="0">
              <a:solidFill>
                <a:srgbClr val="CC3300"/>
              </a:solidFill>
            </a:endParaRPr>
          </a:p>
        </p:txBody>
      </p:sp>
      <p:sp>
        <p:nvSpPr>
          <p:cNvPr id="96298" name="Rectangle 42"/>
          <p:cNvSpPr>
            <a:spLocks noGrp="1" noChangeArrowheads="1"/>
          </p:cNvSpPr>
          <p:nvPr>
            <p:ph type="title"/>
          </p:nvPr>
        </p:nvSpPr>
        <p:spPr bwMode="auto">
          <a:xfrm>
            <a:off x="552450" y="200025"/>
            <a:ext cx="80772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39" name="Text Box 43"/>
          <p:cNvSpPr txBox="1">
            <a:spLocks noChangeArrowheads="1"/>
          </p:cNvSpPr>
          <p:nvPr/>
        </p:nvSpPr>
        <p:spPr bwMode="auto">
          <a:xfrm>
            <a:off x="0" y="6613525"/>
            <a:ext cx="18430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eaLnBrk="0" fontAlgn="base" hangingPunct="0">
              <a:spcBef>
                <a:spcPct val="50000"/>
              </a:spcBef>
              <a:spcAft>
                <a:spcPct val="0"/>
              </a:spcAft>
            </a:pPr>
            <a:r>
              <a:rPr kumimoji="0" lang="en-US" sz="1000" b="1" i="0" smtClean="0">
                <a:solidFill>
                  <a:srgbClr val="CC3300"/>
                </a:solidFill>
              </a:rPr>
              <a:t>Database System Concepts</a:t>
            </a:r>
          </a:p>
        </p:txBody>
      </p:sp>
    </p:spTree>
    <p:extLst>
      <p:ext uri="{BB962C8B-B14F-4D97-AF65-F5344CB8AC3E}">
        <p14:creationId xmlns:p14="http://schemas.microsoft.com/office/powerpoint/2010/main" val="14622527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000">
          <a:solidFill>
            <a:schemeClr val="tx1"/>
          </a:solidFill>
          <a:latin typeface="+mn-lt"/>
          <a:ea typeface="+mn-ea"/>
          <a:cs typeface="+mn-cs"/>
        </a:defRPr>
      </a:lvl1pPr>
      <a:lvl2pPr marL="742950" indent="-285750" algn="l" rtl="0" eaLnBrk="0" fontAlgn="base" hangingPunct="0">
        <a:spcBef>
          <a:spcPct val="35000"/>
        </a:spcBef>
        <a:spcAft>
          <a:spcPct val="0"/>
        </a:spcAft>
        <a:buClr>
          <a:srgbClr val="CC6600"/>
        </a:buClr>
        <a:buSzPct val="105000"/>
        <a:buFont typeface="Monotype Sorts" pitchFamily="2" charset="2"/>
        <a:buChar char="H"/>
        <a:defRPr kumimoji="1">
          <a:solidFill>
            <a:schemeClr val="tx1"/>
          </a:solidFill>
          <a:latin typeface="+mn-lt"/>
        </a:defRPr>
      </a:lvl2pPr>
      <a:lvl3pPr marL="1085850" indent="-228600" algn="l" rtl="0" eaLnBrk="0" fontAlgn="base" hangingPunct="0">
        <a:spcBef>
          <a:spcPct val="35000"/>
        </a:spcBef>
        <a:spcAft>
          <a:spcPct val="0"/>
        </a:spcAft>
        <a:buClr>
          <a:srgbClr val="000099"/>
        </a:buClr>
        <a:buSzPct val="85000"/>
        <a:buFont typeface="Monotype Sorts" pitchFamily="2"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1">
                <a:gamma/>
                <a:shade val="76078"/>
                <a:invGamma/>
              </a:schemeClr>
            </a:gs>
          </a:gsLst>
          <a:lin ang="5400000" scaled="1"/>
        </a:gra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52400"/>
            <a:ext cx="9144000" cy="1314450"/>
          </a:xfrm>
          <a:prstGeom prst="rect">
            <a:avLst/>
          </a:prstGeom>
          <a:gradFill rotWithShape="0">
            <a:gsLst>
              <a:gs pos="0">
                <a:srgbClr val="FFFFFF"/>
              </a:gs>
              <a:gs pos="100000">
                <a:schemeClr val="bg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27" name="Rectangle 3"/>
          <p:cNvSpPr>
            <a:spLocks noGrp="1" noChangeArrowheads="1"/>
          </p:cNvSpPr>
          <p:nvPr>
            <p:ph type="body" idx="1"/>
          </p:nvPr>
        </p:nvSpPr>
        <p:spPr bwMode="auto">
          <a:xfrm>
            <a:off x="571500" y="1114425"/>
            <a:ext cx="78486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6260"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spcBef>
                <a:spcPct val="50000"/>
              </a:spcBef>
              <a:buClrTx/>
              <a:buSzTx/>
              <a:buFontTx/>
              <a:buNone/>
              <a:defRPr kumimoji="0" sz="1400" i="0" smtClean="0">
                <a:solidFill>
                  <a:schemeClr val="bg2"/>
                </a:solidFill>
                <a:latin typeface="Times New Roman" charset="0"/>
              </a:defRPr>
            </a:lvl1pPr>
          </a:lstStyle>
          <a:p>
            <a:pPr eaLnBrk="0" fontAlgn="base" hangingPunct="0">
              <a:spcAft>
                <a:spcPct val="0"/>
              </a:spcAft>
              <a:defRPr/>
            </a:pPr>
            <a:endParaRPr lang="en-US">
              <a:solidFill>
                <a:srgbClr val="666699"/>
              </a:solidFill>
              <a:sym typeface="Symbol" pitchFamily="18" charset="2"/>
            </a:endParaRPr>
          </a:p>
        </p:txBody>
      </p:sp>
      <p:sp>
        <p:nvSpPr>
          <p:cNvPr id="96261" name="Rectangle 5"/>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spcBef>
                <a:spcPct val="50000"/>
              </a:spcBef>
              <a:buClrTx/>
              <a:buSzTx/>
              <a:buFontTx/>
              <a:buNone/>
              <a:defRPr kumimoji="0" sz="1400" i="0" smtClean="0">
                <a:solidFill>
                  <a:schemeClr val="bg2"/>
                </a:solidFill>
                <a:latin typeface="Times New Roman" charset="0"/>
              </a:defRPr>
            </a:lvl1pPr>
          </a:lstStyle>
          <a:p>
            <a:pPr eaLnBrk="0" fontAlgn="base" hangingPunct="0">
              <a:spcAft>
                <a:spcPct val="0"/>
              </a:spcAft>
              <a:defRPr/>
            </a:pPr>
            <a:fld id="{084DA3EB-42B6-4084-AC0B-DAA33BCFB076}" type="slidenum">
              <a:rPr lang="en-US">
                <a:solidFill>
                  <a:srgbClr val="666699"/>
                </a:solidFill>
                <a:sym typeface="Symbol" pitchFamily="18" charset="2"/>
              </a:rPr>
              <a:pPr eaLnBrk="0" fontAlgn="base" hangingPunct="0">
                <a:spcAft>
                  <a:spcPct val="0"/>
                </a:spcAft>
                <a:defRPr/>
              </a:pPr>
              <a:t>‹#›</a:t>
            </a:fld>
            <a:endParaRPr lang="en-US">
              <a:solidFill>
                <a:srgbClr val="666699"/>
              </a:solidFill>
              <a:sym typeface="Symbol" pitchFamily="18" charset="2"/>
            </a:endParaRPr>
          </a:p>
        </p:txBody>
      </p:sp>
      <p:sp>
        <p:nvSpPr>
          <p:cNvPr id="96262" name="Oval 6"/>
          <p:cNvSpPr>
            <a:spLocks noChangeArrowheads="1"/>
          </p:cNvSpPr>
          <p:nvPr/>
        </p:nvSpPr>
        <p:spPr bwMode="ltGray">
          <a:xfrm>
            <a:off x="142875" y="0"/>
            <a:ext cx="838200" cy="781050"/>
          </a:xfrm>
          <a:prstGeom prst="ellipse">
            <a:avLst/>
          </a:prstGeom>
          <a:gradFill rotWithShape="0">
            <a:gsLst>
              <a:gs pos="0">
                <a:schemeClr val="hlink"/>
              </a:gs>
              <a:gs pos="100000">
                <a:schemeClr val="hlink">
                  <a:gamma/>
                  <a:tint val="70196"/>
                  <a:invGamma/>
                </a:schemeClr>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35000"/>
              </a:spcBef>
              <a:spcAft>
                <a:spcPct val="0"/>
              </a:spcAft>
              <a:buClr>
                <a:srgbClr val="CC3300"/>
              </a:buClr>
              <a:buSzPct val="90000"/>
              <a:buFont typeface="Monotype Sorts" pitchFamily="2" charset="2"/>
              <a:buNone/>
              <a:defRPr/>
            </a:pPr>
            <a:endParaRPr kumimoji="1" lang="en-IN" i="1">
              <a:solidFill>
                <a:srgbClr val="000000"/>
              </a:solidFill>
              <a:sym typeface="Symbol" pitchFamily="18" charset="2"/>
            </a:endParaRPr>
          </a:p>
        </p:txBody>
      </p:sp>
      <p:sp>
        <p:nvSpPr>
          <p:cNvPr id="1031" name="Freeform 7"/>
          <p:cNvSpPr>
            <a:spLocks/>
          </p:cNvSpPr>
          <p:nvPr/>
        </p:nvSpPr>
        <p:spPr bwMode="auto">
          <a:xfrm>
            <a:off x="31750" y="338138"/>
            <a:ext cx="390525" cy="149225"/>
          </a:xfrm>
          <a:custGeom>
            <a:avLst/>
            <a:gdLst>
              <a:gd name="T0" fmla="*/ 11113 w 246"/>
              <a:gd name="T1" fmla="*/ 82550 h 94"/>
              <a:gd name="T2" fmla="*/ 34925 w 246"/>
              <a:gd name="T3" fmla="*/ 76200 h 94"/>
              <a:gd name="T4" fmla="*/ 60325 w 246"/>
              <a:gd name="T5" fmla="*/ 76200 h 94"/>
              <a:gd name="T6" fmla="*/ 84138 w 246"/>
              <a:gd name="T7" fmla="*/ 79375 h 94"/>
              <a:gd name="T8" fmla="*/ 109538 w 246"/>
              <a:gd name="T9" fmla="*/ 85725 h 94"/>
              <a:gd name="T10" fmla="*/ 133350 w 246"/>
              <a:gd name="T11" fmla="*/ 93663 h 94"/>
              <a:gd name="T12" fmla="*/ 157163 w 246"/>
              <a:gd name="T13" fmla="*/ 103188 h 94"/>
              <a:gd name="T14" fmla="*/ 179388 w 246"/>
              <a:gd name="T15" fmla="*/ 114300 h 94"/>
              <a:gd name="T16" fmla="*/ 196850 w 246"/>
              <a:gd name="T17" fmla="*/ 104775 h 94"/>
              <a:gd name="T18" fmla="*/ 215900 w 246"/>
              <a:gd name="T19" fmla="*/ 76200 h 94"/>
              <a:gd name="T20" fmla="*/ 238125 w 246"/>
              <a:gd name="T21" fmla="*/ 55563 h 94"/>
              <a:gd name="T22" fmla="*/ 263525 w 246"/>
              <a:gd name="T23" fmla="*/ 38100 h 94"/>
              <a:gd name="T24" fmla="*/ 290513 w 246"/>
              <a:gd name="T25" fmla="*/ 25400 h 94"/>
              <a:gd name="T26" fmla="*/ 319088 w 246"/>
              <a:gd name="T27" fmla="*/ 14288 h 94"/>
              <a:gd name="T28" fmla="*/ 347663 w 246"/>
              <a:gd name="T29" fmla="*/ 7938 h 94"/>
              <a:gd name="T30" fmla="*/ 376238 w 246"/>
              <a:gd name="T31" fmla="*/ 1588 h 94"/>
              <a:gd name="T32" fmla="*/ 376238 w 246"/>
              <a:gd name="T33" fmla="*/ 4763 h 94"/>
              <a:gd name="T34" fmla="*/ 352425 w 246"/>
              <a:gd name="T35" fmla="*/ 17463 h 94"/>
              <a:gd name="T36" fmla="*/ 328613 w 246"/>
              <a:gd name="T37" fmla="*/ 30163 h 94"/>
              <a:gd name="T38" fmla="*/ 303213 w 246"/>
              <a:gd name="T39" fmla="*/ 44450 h 94"/>
              <a:gd name="T40" fmla="*/ 280988 w 246"/>
              <a:gd name="T41" fmla="*/ 61913 h 94"/>
              <a:gd name="T42" fmla="*/ 258763 w 246"/>
              <a:gd name="T43" fmla="*/ 80963 h 94"/>
              <a:gd name="T44" fmla="*/ 241300 w 246"/>
              <a:gd name="T45" fmla="*/ 101600 h 94"/>
              <a:gd name="T46" fmla="*/ 225425 w 246"/>
              <a:gd name="T47" fmla="*/ 125413 h 94"/>
              <a:gd name="T48" fmla="*/ 214313 w 246"/>
              <a:gd name="T49" fmla="*/ 142875 h 94"/>
              <a:gd name="T50" fmla="*/ 206375 w 246"/>
              <a:gd name="T51" fmla="*/ 147638 h 94"/>
              <a:gd name="T52" fmla="*/ 195263 w 246"/>
              <a:gd name="T53" fmla="*/ 142875 h 94"/>
              <a:gd name="T54" fmla="*/ 184150 w 246"/>
              <a:gd name="T55" fmla="*/ 138113 h 94"/>
              <a:gd name="T56" fmla="*/ 169863 w 246"/>
              <a:gd name="T57" fmla="*/ 133350 h 94"/>
              <a:gd name="T58" fmla="*/ 147638 w 246"/>
              <a:gd name="T59" fmla="*/ 123825 h 94"/>
              <a:gd name="T60" fmla="*/ 125413 w 246"/>
              <a:gd name="T61" fmla="*/ 112713 h 94"/>
              <a:gd name="T62" fmla="*/ 100013 w 246"/>
              <a:gd name="T63" fmla="*/ 101600 h 94"/>
              <a:gd name="T64" fmla="*/ 74613 w 246"/>
              <a:gd name="T65" fmla="*/ 92075 h 94"/>
              <a:gd name="T66" fmla="*/ 49213 w 246"/>
              <a:gd name="T67" fmla="*/ 85725 h 94"/>
              <a:gd name="T68" fmla="*/ 26988 w 246"/>
              <a:gd name="T69" fmla="*/ 82550 h 94"/>
              <a:gd name="T70" fmla="*/ 7938 w 246"/>
              <a:gd name="T71" fmla="*/ 84138 h 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46" h="94">
                <a:moveTo>
                  <a:pt x="0" y="55"/>
                </a:moveTo>
                <a:lnTo>
                  <a:pt x="7" y="52"/>
                </a:lnTo>
                <a:lnTo>
                  <a:pt x="14" y="50"/>
                </a:lnTo>
                <a:lnTo>
                  <a:pt x="22" y="48"/>
                </a:lnTo>
                <a:lnTo>
                  <a:pt x="30" y="48"/>
                </a:lnTo>
                <a:lnTo>
                  <a:pt x="38" y="48"/>
                </a:lnTo>
                <a:lnTo>
                  <a:pt x="45" y="48"/>
                </a:lnTo>
                <a:lnTo>
                  <a:pt x="53" y="50"/>
                </a:lnTo>
                <a:lnTo>
                  <a:pt x="61" y="51"/>
                </a:lnTo>
                <a:lnTo>
                  <a:pt x="69" y="54"/>
                </a:lnTo>
                <a:lnTo>
                  <a:pt x="76" y="56"/>
                </a:lnTo>
                <a:lnTo>
                  <a:pt x="84" y="59"/>
                </a:lnTo>
                <a:lnTo>
                  <a:pt x="92" y="62"/>
                </a:lnTo>
                <a:lnTo>
                  <a:pt x="99" y="65"/>
                </a:lnTo>
                <a:lnTo>
                  <a:pt x="106" y="68"/>
                </a:lnTo>
                <a:lnTo>
                  <a:pt x="113" y="72"/>
                </a:lnTo>
                <a:lnTo>
                  <a:pt x="119" y="75"/>
                </a:lnTo>
                <a:lnTo>
                  <a:pt x="124" y="66"/>
                </a:lnTo>
                <a:lnTo>
                  <a:pt x="130" y="56"/>
                </a:lnTo>
                <a:lnTo>
                  <a:pt x="136" y="48"/>
                </a:lnTo>
                <a:lnTo>
                  <a:pt x="143" y="42"/>
                </a:lnTo>
                <a:lnTo>
                  <a:pt x="150" y="35"/>
                </a:lnTo>
                <a:lnTo>
                  <a:pt x="158" y="29"/>
                </a:lnTo>
                <a:lnTo>
                  <a:pt x="166" y="24"/>
                </a:lnTo>
                <a:lnTo>
                  <a:pt x="175" y="20"/>
                </a:lnTo>
                <a:lnTo>
                  <a:pt x="183" y="16"/>
                </a:lnTo>
                <a:lnTo>
                  <a:pt x="193" y="13"/>
                </a:lnTo>
                <a:lnTo>
                  <a:pt x="201" y="9"/>
                </a:lnTo>
                <a:lnTo>
                  <a:pt x="210" y="7"/>
                </a:lnTo>
                <a:lnTo>
                  <a:pt x="219" y="5"/>
                </a:lnTo>
                <a:lnTo>
                  <a:pt x="228" y="3"/>
                </a:lnTo>
                <a:lnTo>
                  <a:pt x="237" y="1"/>
                </a:lnTo>
                <a:lnTo>
                  <a:pt x="245" y="0"/>
                </a:lnTo>
                <a:lnTo>
                  <a:pt x="237" y="3"/>
                </a:lnTo>
                <a:lnTo>
                  <a:pt x="230" y="7"/>
                </a:lnTo>
                <a:lnTo>
                  <a:pt x="222" y="11"/>
                </a:lnTo>
                <a:lnTo>
                  <a:pt x="214" y="15"/>
                </a:lnTo>
                <a:lnTo>
                  <a:pt x="207" y="19"/>
                </a:lnTo>
                <a:lnTo>
                  <a:pt x="199" y="24"/>
                </a:lnTo>
                <a:lnTo>
                  <a:pt x="191" y="28"/>
                </a:lnTo>
                <a:lnTo>
                  <a:pt x="185" y="33"/>
                </a:lnTo>
                <a:lnTo>
                  <a:pt x="177" y="39"/>
                </a:lnTo>
                <a:lnTo>
                  <a:pt x="170" y="44"/>
                </a:lnTo>
                <a:lnTo>
                  <a:pt x="163" y="51"/>
                </a:lnTo>
                <a:lnTo>
                  <a:pt x="158" y="57"/>
                </a:lnTo>
                <a:lnTo>
                  <a:pt x="152" y="64"/>
                </a:lnTo>
                <a:lnTo>
                  <a:pt x="146" y="71"/>
                </a:lnTo>
                <a:lnTo>
                  <a:pt x="142" y="79"/>
                </a:lnTo>
                <a:lnTo>
                  <a:pt x="138" y="87"/>
                </a:lnTo>
                <a:lnTo>
                  <a:pt x="135" y="90"/>
                </a:lnTo>
                <a:lnTo>
                  <a:pt x="133" y="92"/>
                </a:lnTo>
                <a:lnTo>
                  <a:pt x="130" y="93"/>
                </a:lnTo>
                <a:lnTo>
                  <a:pt x="127" y="91"/>
                </a:lnTo>
                <a:lnTo>
                  <a:pt x="123" y="90"/>
                </a:lnTo>
                <a:lnTo>
                  <a:pt x="120" y="89"/>
                </a:lnTo>
                <a:lnTo>
                  <a:pt x="116" y="87"/>
                </a:lnTo>
                <a:lnTo>
                  <a:pt x="113" y="86"/>
                </a:lnTo>
                <a:lnTo>
                  <a:pt x="107" y="84"/>
                </a:lnTo>
                <a:lnTo>
                  <a:pt x="101" y="80"/>
                </a:lnTo>
                <a:lnTo>
                  <a:pt x="93" y="78"/>
                </a:lnTo>
                <a:lnTo>
                  <a:pt x="87" y="74"/>
                </a:lnTo>
                <a:lnTo>
                  <a:pt x="79" y="71"/>
                </a:lnTo>
                <a:lnTo>
                  <a:pt x="71" y="67"/>
                </a:lnTo>
                <a:lnTo>
                  <a:pt x="63" y="64"/>
                </a:lnTo>
                <a:lnTo>
                  <a:pt x="55" y="61"/>
                </a:lnTo>
                <a:lnTo>
                  <a:pt x="47" y="58"/>
                </a:lnTo>
                <a:lnTo>
                  <a:pt x="39" y="55"/>
                </a:lnTo>
                <a:lnTo>
                  <a:pt x="31" y="54"/>
                </a:lnTo>
                <a:lnTo>
                  <a:pt x="24" y="52"/>
                </a:lnTo>
                <a:lnTo>
                  <a:pt x="17" y="52"/>
                </a:lnTo>
                <a:lnTo>
                  <a:pt x="10" y="52"/>
                </a:lnTo>
                <a:lnTo>
                  <a:pt x="5" y="53"/>
                </a:lnTo>
                <a:lnTo>
                  <a:pt x="0" y="55"/>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32" name="Freeform 8"/>
          <p:cNvSpPr>
            <a:spLocks/>
          </p:cNvSpPr>
          <p:nvPr/>
        </p:nvSpPr>
        <p:spPr bwMode="auto">
          <a:xfrm>
            <a:off x="619125" y="638175"/>
            <a:ext cx="468313" cy="177800"/>
          </a:xfrm>
          <a:custGeom>
            <a:avLst/>
            <a:gdLst>
              <a:gd name="T0" fmla="*/ 12700 w 295"/>
              <a:gd name="T1" fmla="*/ 98425 h 112"/>
              <a:gd name="T2" fmla="*/ 41275 w 295"/>
              <a:gd name="T3" fmla="*/ 90488 h 112"/>
              <a:gd name="T4" fmla="*/ 71438 w 295"/>
              <a:gd name="T5" fmla="*/ 90488 h 112"/>
              <a:gd name="T6" fmla="*/ 100013 w 295"/>
              <a:gd name="T7" fmla="*/ 93663 h 112"/>
              <a:gd name="T8" fmla="*/ 130175 w 295"/>
              <a:gd name="T9" fmla="*/ 101600 h 112"/>
              <a:gd name="T10" fmla="*/ 158750 w 295"/>
              <a:gd name="T11" fmla="*/ 111125 h 112"/>
              <a:gd name="T12" fmla="*/ 187325 w 295"/>
              <a:gd name="T13" fmla="*/ 122238 h 112"/>
              <a:gd name="T14" fmla="*/ 214313 w 295"/>
              <a:gd name="T15" fmla="*/ 134938 h 112"/>
              <a:gd name="T16" fmla="*/ 234950 w 295"/>
              <a:gd name="T17" fmla="*/ 123825 h 112"/>
              <a:gd name="T18" fmla="*/ 258763 w 295"/>
              <a:gd name="T19" fmla="*/ 90488 h 112"/>
              <a:gd name="T20" fmla="*/ 285750 w 295"/>
              <a:gd name="T21" fmla="*/ 65088 h 112"/>
              <a:gd name="T22" fmla="*/ 315913 w 295"/>
              <a:gd name="T23" fmla="*/ 44450 h 112"/>
              <a:gd name="T24" fmla="*/ 347663 w 295"/>
              <a:gd name="T25" fmla="*/ 30163 h 112"/>
              <a:gd name="T26" fmla="*/ 382588 w 295"/>
              <a:gd name="T27" fmla="*/ 15875 h 112"/>
              <a:gd name="T28" fmla="*/ 415925 w 295"/>
              <a:gd name="T29" fmla="*/ 7938 h 112"/>
              <a:gd name="T30" fmla="*/ 450850 w 295"/>
              <a:gd name="T31" fmla="*/ 1588 h 112"/>
              <a:gd name="T32" fmla="*/ 450850 w 295"/>
              <a:gd name="T33" fmla="*/ 4763 h 112"/>
              <a:gd name="T34" fmla="*/ 422275 w 295"/>
              <a:gd name="T35" fmla="*/ 20638 h 112"/>
              <a:gd name="T36" fmla="*/ 393700 w 295"/>
              <a:gd name="T37" fmla="*/ 34925 h 112"/>
              <a:gd name="T38" fmla="*/ 363538 w 295"/>
              <a:gd name="T39" fmla="*/ 52388 h 112"/>
              <a:gd name="T40" fmla="*/ 336550 w 295"/>
              <a:gd name="T41" fmla="*/ 73025 h 112"/>
              <a:gd name="T42" fmla="*/ 309563 w 295"/>
              <a:gd name="T43" fmla="*/ 95250 h 112"/>
              <a:gd name="T44" fmla="*/ 288925 w 295"/>
              <a:gd name="T45" fmla="*/ 120650 h 112"/>
              <a:gd name="T46" fmla="*/ 269875 w 295"/>
              <a:gd name="T47" fmla="*/ 149225 h 112"/>
              <a:gd name="T48" fmla="*/ 257175 w 295"/>
              <a:gd name="T49" fmla="*/ 169863 h 112"/>
              <a:gd name="T50" fmla="*/ 247650 w 295"/>
              <a:gd name="T51" fmla="*/ 176213 h 112"/>
              <a:gd name="T52" fmla="*/ 233363 w 295"/>
              <a:gd name="T53" fmla="*/ 169863 h 112"/>
              <a:gd name="T54" fmla="*/ 220663 w 295"/>
              <a:gd name="T55" fmla="*/ 163513 h 112"/>
              <a:gd name="T56" fmla="*/ 203200 w 295"/>
              <a:gd name="T57" fmla="*/ 158750 h 112"/>
              <a:gd name="T58" fmla="*/ 176213 w 295"/>
              <a:gd name="T59" fmla="*/ 147638 h 112"/>
              <a:gd name="T60" fmla="*/ 149225 w 295"/>
              <a:gd name="T61" fmla="*/ 133350 h 112"/>
              <a:gd name="T62" fmla="*/ 119063 w 295"/>
              <a:gd name="T63" fmla="*/ 120650 h 112"/>
              <a:gd name="T64" fmla="*/ 88900 w 295"/>
              <a:gd name="T65" fmla="*/ 109538 h 112"/>
              <a:gd name="T66" fmla="*/ 58738 w 295"/>
              <a:gd name="T67" fmla="*/ 101600 h 112"/>
              <a:gd name="T68" fmla="*/ 31750 w 295"/>
              <a:gd name="T69" fmla="*/ 98425 h 112"/>
              <a:gd name="T70" fmla="*/ 9525 w 295"/>
              <a:gd name="T71" fmla="*/ 100013 h 11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5" h="112">
                <a:moveTo>
                  <a:pt x="0" y="65"/>
                </a:moveTo>
                <a:lnTo>
                  <a:pt x="8" y="62"/>
                </a:lnTo>
                <a:lnTo>
                  <a:pt x="16" y="59"/>
                </a:lnTo>
                <a:lnTo>
                  <a:pt x="26" y="57"/>
                </a:lnTo>
                <a:lnTo>
                  <a:pt x="36" y="57"/>
                </a:lnTo>
                <a:lnTo>
                  <a:pt x="45" y="57"/>
                </a:lnTo>
                <a:lnTo>
                  <a:pt x="54" y="57"/>
                </a:lnTo>
                <a:lnTo>
                  <a:pt x="63" y="59"/>
                </a:lnTo>
                <a:lnTo>
                  <a:pt x="73" y="60"/>
                </a:lnTo>
                <a:lnTo>
                  <a:pt x="82" y="64"/>
                </a:lnTo>
                <a:lnTo>
                  <a:pt x="91" y="66"/>
                </a:lnTo>
                <a:lnTo>
                  <a:pt x="100" y="70"/>
                </a:lnTo>
                <a:lnTo>
                  <a:pt x="110" y="74"/>
                </a:lnTo>
                <a:lnTo>
                  <a:pt x="118" y="77"/>
                </a:lnTo>
                <a:lnTo>
                  <a:pt x="127" y="81"/>
                </a:lnTo>
                <a:lnTo>
                  <a:pt x="135" y="85"/>
                </a:lnTo>
                <a:lnTo>
                  <a:pt x="142" y="89"/>
                </a:lnTo>
                <a:lnTo>
                  <a:pt x="148" y="78"/>
                </a:lnTo>
                <a:lnTo>
                  <a:pt x="156" y="66"/>
                </a:lnTo>
                <a:lnTo>
                  <a:pt x="163" y="57"/>
                </a:lnTo>
                <a:lnTo>
                  <a:pt x="171" y="50"/>
                </a:lnTo>
                <a:lnTo>
                  <a:pt x="180" y="41"/>
                </a:lnTo>
                <a:lnTo>
                  <a:pt x="189" y="34"/>
                </a:lnTo>
                <a:lnTo>
                  <a:pt x="199" y="28"/>
                </a:lnTo>
                <a:lnTo>
                  <a:pt x="210" y="23"/>
                </a:lnTo>
                <a:lnTo>
                  <a:pt x="219" y="19"/>
                </a:lnTo>
                <a:lnTo>
                  <a:pt x="231" y="15"/>
                </a:lnTo>
                <a:lnTo>
                  <a:pt x="241" y="10"/>
                </a:lnTo>
                <a:lnTo>
                  <a:pt x="252" y="8"/>
                </a:lnTo>
                <a:lnTo>
                  <a:pt x="262" y="5"/>
                </a:lnTo>
                <a:lnTo>
                  <a:pt x="273" y="3"/>
                </a:lnTo>
                <a:lnTo>
                  <a:pt x="284" y="1"/>
                </a:lnTo>
                <a:lnTo>
                  <a:pt x="294" y="0"/>
                </a:lnTo>
                <a:lnTo>
                  <a:pt x="284" y="3"/>
                </a:lnTo>
                <a:lnTo>
                  <a:pt x="276" y="8"/>
                </a:lnTo>
                <a:lnTo>
                  <a:pt x="266" y="13"/>
                </a:lnTo>
                <a:lnTo>
                  <a:pt x="256" y="17"/>
                </a:lnTo>
                <a:lnTo>
                  <a:pt x="248" y="22"/>
                </a:lnTo>
                <a:lnTo>
                  <a:pt x="238" y="28"/>
                </a:lnTo>
                <a:lnTo>
                  <a:pt x="229" y="33"/>
                </a:lnTo>
                <a:lnTo>
                  <a:pt x="222" y="39"/>
                </a:lnTo>
                <a:lnTo>
                  <a:pt x="212" y="46"/>
                </a:lnTo>
                <a:lnTo>
                  <a:pt x="204" y="52"/>
                </a:lnTo>
                <a:lnTo>
                  <a:pt x="195" y="60"/>
                </a:lnTo>
                <a:lnTo>
                  <a:pt x="189" y="68"/>
                </a:lnTo>
                <a:lnTo>
                  <a:pt x="182" y="76"/>
                </a:lnTo>
                <a:lnTo>
                  <a:pt x="175" y="84"/>
                </a:lnTo>
                <a:lnTo>
                  <a:pt x="170" y="94"/>
                </a:lnTo>
                <a:lnTo>
                  <a:pt x="165" y="103"/>
                </a:lnTo>
                <a:lnTo>
                  <a:pt x="162" y="107"/>
                </a:lnTo>
                <a:lnTo>
                  <a:pt x="159" y="109"/>
                </a:lnTo>
                <a:lnTo>
                  <a:pt x="156" y="111"/>
                </a:lnTo>
                <a:lnTo>
                  <a:pt x="152" y="108"/>
                </a:lnTo>
                <a:lnTo>
                  <a:pt x="147" y="107"/>
                </a:lnTo>
                <a:lnTo>
                  <a:pt x="144" y="106"/>
                </a:lnTo>
                <a:lnTo>
                  <a:pt x="139" y="103"/>
                </a:lnTo>
                <a:lnTo>
                  <a:pt x="135" y="102"/>
                </a:lnTo>
                <a:lnTo>
                  <a:pt x="128" y="100"/>
                </a:lnTo>
                <a:lnTo>
                  <a:pt x="121" y="95"/>
                </a:lnTo>
                <a:lnTo>
                  <a:pt x="111" y="93"/>
                </a:lnTo>
                <a:lnTo>
                  <a:pt x="104" y="88"/>
                </a:lnTo>
                <a:lnTo>
                  <a:pt x="94" y="84"/>
                </a:lnTo>
                <a:lnTo>
                  <a:pt x="85" y="79"/>
                </a:lnTo>
                <a:lnTo>
                  <a:pt x="75" y="76"/>
                </a:lnTo>
                <a:lnTo>
                  <a:pt x="66" y="72"/>
                </a:lnTo>
                <a:lnTo>
                  <a:pt x="56" y="69"/>
                </a:lnTo>
                <a:lnTo>
                  <a:pt x="46" y="65"/>
                </a:lnTo>
                <a:lnTo>
                  <a:pt x="37" y="64"/>
                </a:lnTo>
                <a:lnTo>
                  <a:pt x="28" y="62"/>
                </a:lnTo>
                <a:lnTo>
                  <a:pt x="20" y="62"/>
                </a:lnTo>
                <a:lnTo>
                  <a:pt x="12" y="62"/>
                </a:lnTo>
                <a:lnTo>
                  <a:pt x="6" y="63"/>
                </a:lnTo>
                <a:lnTo>
                  <a:pt x="0" y="65"/>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33" name="Freeform 9"/>
          <p:cNvSpPr>
            <a:spLocks/>
          </p:cNvSpPr>
          <p:nvPr/>
        </p:nvSpPr>
        <p:spPr bwMode="auto">
          <a:xfrm>
            <a:off x="7515225" y="6257925"/>
            <a:ext cx="1524000" cy="533400"/>
          </a:xfrm>
          <a:custGeom>
            <a:avLst/>
            <a:gdLst>
              <a:gd name="T0" fmla="*/ 298926 w 1453"/>
              <a:gd name="T1" fmla="*/ 9983 h 374"/>
              <a:gd name="T2" fmla="*/ 245434 w 1453"/>
              <a:gd name="T3" fmla="*/ 21393 h 374"/>
              <a:gd name="T4" fmla="*/ 192991 w 1453"/>
              <a:gd name="T5" fmla="*/ 74163 h 374"/>
              <a:gd name="T6" fmla="*/ 139499 w 1453"/>
              <a:gd name="T7" fmla="*/ 116949 h 374"/>
              <a:gd name="T8" fmla="*/ 87056 w 1453"/>
              <a:gd name="T9" fmla="*/ 126932 h 374"/>
              <a:gd name="T10" fmla="*/ 35661 w 1453"/>
              <a:gd name="T11" fmla="*/ 148325 h 374"/>
              <a:gd name="T12" fmla="*/ 0 w 1453"/>
              <a:gd name="T13" fmla="*/ 201095 h 374"/>
              <a:gd name="T14" fmla="*/ 0 w 1453"/>
              <a:gd name="T15" fmla="*/ 265274 h 374"/>
              <a:gd name="T16" fmla="*/ 17831 w 1453"/>
              <a:gd name="T17" fmla="*/ 329453 h 374"/>
              <a:gd name="T18" fmla="*/ 69225 w 1453"/>
              <a:gd name="T19" fmla="*/ 339436 h 374"/>
              <a:gd name="T20" fmla="*/ 122717 w 1453"/>
              <a:gd name="T21" fmla="*/ 318043 h 374"/>
              <a:gd name="T22" fmla="*/ 166769 w 1453"/>
              <a:gd name="T23" fmla="*/ 339436 h 374"/>
              <a:gd name="T24" fmla="*/ 210822 w 1453"/>
              <a:gd name="T25" fmla="*/ 403616 h 374"/>
              <a:gd name="T26" fmla="*/ 263265 w 1453"/>
              <a:gd name="T27" fmla="*/ 446402 h 374"/>
              <a:gd name="T28" fmla="*/ 325148 w 1453"/>
              <a:gd name="T29" fmla="*/ 446402 h 374"/>
              <a:gd name="T30" fmla="*/ 378640 w 1453"/>
              <a:gd name="T31" fmla="*/ 434992 h 374"/>
              <a:gd name="T32" fmla="*/ 431083 w 1453"/>
              <a:gd name="T33" fmla="*/ 467795 h 374"/>
              <a:gd name="T34" fmla="*/ 483526 w 1453"/>
              <a:gd name="T35" fmla="*/ 509155 h 374"/>
              <a:gd name="T36" fmla="*/ 562191 w 1453"/>
              <a:gd name="T37" fmla="*/ 520564 h 374"/>
              <a:gd name="T38" fmla="*/ 685957 w 1453"/>
              <a:gd name="T39" fmla="*/ 520564 h 374"/>
              <a:gd name="T40" fmla="*/ 738401 w 1453"/>
              <a:gd name="T41" fmla="*/ 509155 h 374"/>
              <a:gd name="T42" fmla="*/ 791893 w 1453"/>
              <a:gd name="T43" fmla="*/ 499171 h 374"/>
              <a:gd name="T44" fmla="*/ 844336 w 1453"/>
              <a:gd name="T45" fmla="*/ 477778 h 374"/>
              <a:gd name="T46" fmla="*/ 896779 w 1453"/>
              <a:gd name="T47" fmla="*/ 467795 h 374"/>
              <a:gd name="T48" fmla="*/ 950271 w 1453"/>
              <a:gd name="T49" fmla="*/ 477778 h 374"/>
              <a:gd name="T50" fmla="*/ 1002714 w 1453"/>
              <a:gd name="T51" fmla="*/ 499171 h 374"/>
              <a:gd name="T52" fmla="*/ 1090819 w 1453"/>
              <a:gd name="T53" fmla="*/ 520564 h 374"/>
              <a:gd name="T54" fmla="*/ 1188363 w 1453"/>
              <a:gd name="T55" fmla="*/ 520564 h 374"/>
              <a:gd name="T56" fmla="*/ 1276468 w 1453"/>
              <a:gd name="T57" fmla="*/ 509155 h 374"/>
              <a:gd name="T58" fmla="*/ 1328911 w 1453"/>
              <a:gd name="T59" fmla="*/ 467795 h 374"/>
              <a:gd name="T60" fmla="*/ 1389745 w 1453"/>
              <a:gd name="T61" fmla="*/ 425009 h 374"/>
              <a:gd name="T62" fmla="*/ 1443237 w 1453"/>
              <a:gd name="T63" fmla="*/ 403616 h 374"/>
              <a:gd name="T64" fmla="*/ 1495681 w 1453"/>
              <a:gd name="T65" fmla="*/ 392206 h 374"/>
              <a:gd name="T66" fmla="*/ 1513511 w 1453"/>
              <a:gd name="T67" fmla="*/ 362256 h 374"/>
              <a:gd name="T68" fmla="*/ 1486241 w 1453"/>
              <a:gd name="T69" fmla="*/ 296650 h 374"/>
              <a:gd name="T70" fmla="*/ 1513511 w 1453"/>
              <a:gd name="T71" fmla="*/ 233897 h 374"/>
              <a:gd name="T72" fmla="*/ 1513511 w 1453"/>
              <a:gd name="T73" fmla="*/ 169718 h 374"/>
              <a:gd name="T74" fmla="*/ 1468410 w 1453"/>
              <a:gd name="T75" fmla="*/ 116949 h 374"/>
              <a:gd name="T76" fmla="*/ 1417016 w 1453"/>
              <a:gd name="T77" fmla="*/ 116949 h 374"/>
              <a:gd name="T78" fmla="*/ 1364573 w 1453"/>
              <a:gd name="T79" fmla="*/ 116949 h 374"/>
              <a:gd name="T80" fmla="*/ 1311081 w 1453"/>
              <a:gd name="T81" fmla="*/ 105539 h 374"/>
              <a:gd name="T82" fmla="*/ 1258637 w 1453"/>
              <a:gd name="T83" fmla="*/ 95556 h 374"/>
              <a:gd name="T84" fmla="*/ 1206194 w 1453"/>
              <a:gd name="T85" fmla="*/ 105539 h 374"/>
              <a:gd name="T86" fmla="*/ 1161093 w 1453"/>
              <a:gd name="T87" fmla="*/ 84146 h 374"/>
              <a:gd name="T88" fmla="*/ 1108650 w 1453"/>
              <a:gd name="T89" fmla="*/ 42786 h 374"/>
              <a:gd name="T90" fmla="*/ 1055158 w 1453"/>
              <a:gd name="T91" fmla="*/ 31376 h 374"/>
              <a:gd name="T92" fmla="*/ 994323 w 1453"/>
              <a:gd name="T93" fmla="*/ 9983 h 374"/>
              <a:gd name="T94" fmla="*/ 941880 w 1453"/>
              <a:gd name="T95" fmla="*/ 31376 h 374"/>
              <a:gd name="T96" fmla="*/ 888388 w 1453"/>
              <a:gd name="T97" fmla="*/ 42786 h 374"/>
              <a:gd name="T98" fmla="*/ 835945 w 1453"/>
              <a:gd name="T99" fmla="*/ 42786 h 374"/>
              <a:gd name="T100" fmla="*/ 783502 w 1453"/>
              <a:gd name="T101" fmla="*/ 31376 h 374"/>
              <a:gd name="T102" fmla="*/ 730010 w 1453"/>
              <a:gd name="T103" fmla="*/ 9983 h 374"/>
              <a:gd name="T104" fmla="*/ 677566 w 1453"/>
              <a:gd name="T105" fmla="*/ 9983 h 374"/>
              <a:gd name="T106" fmla="*/ 625123 w 1453"/>
              <a:gd name="T107" fmla="*/ 31376 h 374"/>
              <a:gd name="T108" fmla="*/ 571631 w 1453"/>
              <a:gd name="T109" fmla="*/ 42786 h 374"/>
              <a:gd name="T110" fmla="*/ 509748 w 1453"/>
              <a:gd name="T111" fmla="*/ 9983 h 374"/>
              <a:gd name="T112" fmla="*/ 457305 w 1453"/>
              <a:gd name="T113" fmla="*/ 0 h 374"/>
              <a:gd name="T114" fmla="*/ 403813 w 1453"/>
              <a:gd name="T115" fmla="*/ 0 h 374"/>
              <a:gd name="T116" fmla="*/ 334588 w 1453"/>
              <a:gd name="T117" fmla="*/ 17114 h 374"/>
              <a:gd name="T118" fmla="*/ 281096 w 1453"/>
              <a:gd name="T119" fmla="*/ 84146 h 374"/>
              <a:gd name="T120" fmla="*/ 245434 w 1453"/>
              <a:gd name="T121" fmla="*/ 105539 h 374"/>
              <a:gd name="T122" fmla="*/ 227604 w 1453"/>
              <a:gd name="T123" fmla="*/ 81294 h 37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53" h="374">
                <a:moveTo>
                  <a:pt x="319" y="12"/>
                </a:moveTo>
                <a:lnTo>
                  <a:pt x="285" y="7"/>
                </a:lnTo>
                <a:lnTo>
                  <a:pt x="260" y="7"/>
                </a:lnTo>
                <a:lnTo>
                  <a:pt x="234" y="15"/>
                </a:lnTo>
                <a:lnTo>
                  <a:pt x="209" y="37"/>
                </a:lnTo>
                <a:lnTo>
                  <a:pt x="184" y="52"/>
                </a:lnTo>
                <a:lnTo>
                  <a:pt x="159" y="67"/>
                </a:lnTo>
                <a:lnTo>
                  <a:pt x="133" y="82"/>
                </a:lnTo>
                <a:lnTo>
                  <a:pt x="109" y="89"/>
                </a:lnTo>
                <a:lnTo>
                  <a:pt x="83" y="89"/>
                </a:lnTo>
                <a:lnTo>
                  <a:pt x="58" y="89"/>
                </a:lnTo>
                <a:lnTo>
                  <a:pt x="34" y="104"/>
                </a:lnTo>
                <a:lnTo>
                  <a:pt x="8" y="119"/>
                </a:lnTo>
                <a:lnTo>
                  <a:pt x="0" y="141"/>
                </a:lnTo>
                <a:lnTo>
                  <a:pt x="0" y="164"/>
                </a:lnTo>
                <a:lnTo>
                  <a:pt x="0" y="186"/>
                </a:lnTo>
                <a:lnTo>
                  <a:pt x="8" y="208"/>
                </a:lnTo>
                <a:lnTo>
                  <a:pt x="17" y="231"/>
                </a:lnTo>
                <a:lnTo>
                  <a:pt x="42" y="231"/>
                </a:lnTo>
                <a:lnTo>
                  <a:pt x="66" y="238"/>
                </a:lnTo>
                <a:lnTo>
                  <a:pt x="92" y="238"/>
                </a:lnTo>
                <a:lnTo>
                  <a:pt x="117" y="223"/>
                </a:lnTo>
                <a:lnTo>
                  <a:pt x="142" y="216"/>
                </a:lnTo>
                <a:lnTo>
                  <a:pt x="159" y="238"/>
                </a:lnTo>
                <a:lnTo>
                  <a:pt x="176" y="261"/>
                </a:lnTo>
                <a:lnTo>
                  <a:pt x="201" y="283"/>
                </a:lnTo>
                <a:lnTo>
                  <a:pt x="226" y="298"/>
                </a:lnTo>
                <a:lnTo>
                  <a:pt x="251" y="313"/>
                </a:lnTo>
                <a:lnTo>
                  <a:pt x="285" y="321"/>
                </a:lnTo>
                <a:lnTo>
                  <a:pt x="310" y="313"/>
                </a:lnTo>
                <a:lnTo>
                  <a:pt x="335" y="305"/>
                </a:lnTo>
                <a:lnTo>
                  <a:pt x="361" y="305"/>
                </a:lnTo>
                <a:lnTo>
                  <a:pt x="385" y="313"/>
                </a:lnTo>
                <a:lnTo>
                  <a:pt x="411" y="328"/>
                </a:lnTo>
                <a:lnTo>
                  <a:pt x="436" y="335"/>
                </a:lnTo>
                <a:lnTo>
                  <a:pt x="461" y="357"/>
                </a:lnTo>
                <a:lnTo>
                  <a:pt x="486" y="365"/>
                </a:lnTo>
                <a:lnTo>
                  <a:pt x="536" y="365"/>
                </a:lnTo>
                <a:lnTo>
                  <a:pt x="587" y="365"/>
                </a:lnTo>
                <a:lnTo>
                  <a:pt x="654" y="365"/>
                </a:lnTo>
                <a:lnTo>
                  <a:pt x="680" y="365"/>
                </a:lnTo>
                <a:lnTo>
                  <a:pt x="704" y="357"/>
                </a:lnTo>
                <a:lnTo>
                  <a:pt x="730" y="357"/>
                </a:lnTo>
                <a:lnTo>
                  <a:pt x="755" y="350"/>
                </a:lnTo>
                <a:lnTo>
                  <a:pt x="780" y="342"/>
                </a:lnTo>
                <a:lnTo>
                  <a:pt x="805" y="335"/>
                </a:lnTo>
                <a:lnTo>
                  <a:pt x="831" y="328"/>
                </a:lnTo>
                <a:lnTo>
                  <a:pt x="855" y="328"/>
                </a:lnTo>
                <a:lnTo>
                  <a:pt x="881" y="335"/>
                </a:lnTo>
                <a:lnTo>
                  <a:pt x="906" y="335"/>
                </a:lnTo>
                <a:lnTo>
                  <a:pt x="931" y="342"/>
                </a:lnTo>
                <a:lnTo>
                  <a:pt x="956" y="350"/>
                </a:lnTo>
                <a:lnTo>
                  <a:pt x="990" y="365"/>
                </a:lnTo>
                <a:lnTo>
                  <a:pt x="1040" y="365"/>
                </a:lnTo>
                <a:lnTo>
                  <a:pt x="1107" y="373"/>
                </a:lnTo>
                <a:lnTo>
                  <a:pt x="1133" y="365"/>
                </a:lnTo>
                <a:lnTo>
                  <a:pt x="1183" y="365"/>
                </a:lnTo>
                <a:lnTo>
                  <a:pt x="1217" y="357"/>
                </a:lnTo>
                <a:lnTo>
                  <a:pt x="1241" y="335"/>
                </a:lnTo>
                <a:lnTo>
                  <a:pt x="1267" y="328"/>
                </a:lnTo>
                <a:lnTo>
                  <a:pt x="1301" y="313"/>
                </a:lnTo>
                <a:lnTo>
                  <a:pt x="1325" y="298"/>
                </a:lnTo>
                <a:lnTo>
                  <a:pt x="1351" y="290"/>
                </a:lnTo>
                <a:lnTo>
                  <a:pt x="1376" y="283"/>
                </a:lnTo>
                <a:lnTo>
                  <a:pt x="1400" y="275"/>
                </a:lnTo>
                <a:lnTo>
                  <a:pt x="1426" y="275"/>
                </a:lnTo>
                <a:lnTo>
                  <a:pt x="1452" y="275"/>
                </a:lnTo>
                <a:lnTo>
                  <a:pt x="1443" y="254"/>
                </a:lnTo>
                <a:lnTo>
                  <a:pt x="1426" y="231"/>
                </a:lnTo>
                <a:lnTo>
                  <a:pt x="1417" y="208"/>
                </a:lnTo>
                <a:lnTo>
                  <a:pt x="1426" y="186"/>
                </a:lnTo>
                <a:lnTo>
                  <a:pt x="1443" y="164"/>
                </a:lnTo>
                <a:lnTo>
                  <a:pt x="1452" y="141"/>
                </a:lnTo>
                <a:lnTo>
                  <a:pt x="1443" y="119"/>
                </a:lnTo>
                <a:lnTo>
                  <a:pt x="1426" y="97"/>
                </a:lnTo>
                <a:lnTo>
                  <a:pt x="1400" y="82"/>
                </a:lnTo>
                <a:lnTo>
                  <a:pt x="1376" y="82"/>
                </a:lnTo>
                <a:lnTo>
                  <a:pt x="1351" y="82"/>
                </a:lnTo>
                <a:lnTo>
                  <a:pt x="1325" y="82"/>
                </a:lnTo>
                <a:lnTo>
                  <a:pt x="1301" y="82"/>
                </a:lnTo>
                <a:lnTo>
                  <a:pt x="1275" y="82"/>
                </a:lnTo>
                <a:lnTo>
                  <a:pt x="1250" y="74"/>
                </a:lnTo>
                <a:lnTo>
                  <a:pt x="1225" y="67"/>
                </a:lnTo>
                <a:lnTo>
                  <a:pt x="1200" y="67"/>
                </a:lnTo>
                <a:lnTo>
                  <a:pt x="1174" y="67"/>
                </a:lnTo>
                <a:lnTo>
                  <a:pt x="1150" y="74"/>
                </a:lnTo>
                <a:lnTo>
                  <a:pt x="1124" y="82"/>
                </a:lnTo>
                <a:lnTo>
                  <a:pt x="1107" y="59"/>
                </a:lnTo>
                <a:lnTo>
                  <a:pt x="1082" y="45"/>
                </a:lnTo>
                <a:lnTo>
                  <a:pt x="1057" y="30"/>
                </a:lnTo>
                <a:lnTo>
                  <a:pt x="1032" y="30"/>
                </a:lnTo>
                <a:lnTo>
                  <a:pt x="1006" y="22"/>
                </a:lnTo>
                <a:lnTo>
                  <a:pt x="973" y="15"/>
                </a:lnTo>
                <a:lnTo>
                  <a:pt x="948" y="7"/>
                </a:lnTo>
                <a:lnTo>
                  <a:pt x="922" y="7"/>
                </a:lnTo>
                <a:lnTo>
                  <a:pt x="898" y="22"/>
                </a:lnTo>
                <a:lnTo>
                  <a:pt x="872" y="30"/>
                </a:lnTo>
                <a:lnTo>
                  <a:pt x="847" y="30"/>
                </a:lnTo>
                <a:lnTo>
                  <a:pt x="822" y="30"/>
                </a:lnTo>
                <a:lnTo>
                  <a:pt x="797" y="30"/>
                </a:lnTo>
                <a:lnTo>
                  <a:pt x="771" y="30"/>
                </a:lnTo>
                <a:lnTo>
                  <a:pt x="747" y="22"/>
                </a:lnTo>
                <a:lnTo>
                  <a:pt x="721" y="15"/>
                </a:lnTo>
                <a:lnTo>
                  <a:pt x="696" y="7"/>
                </a:lnTo>
                <a:lnTo>
                  <a:pt x="671" y="7"/>
                </a:lnTo>
                <a:lnTo>
                  <a:pt x="646" y="7"/>
                </a:lnTo>
                <a:lnTo>
                  <a:pt x="620" y="7"/>
                </a:lnTo>
                <a:lnTo>
                  <a:pt x="596" y="22"/>
                </a:lnTo>
                <a:lnTo>
                  <a:pt x="570" y="30"/>
                </a:lnTo>
                <a:lnTo>
                  <a:pt x="545" y="30"/>
                </a:lnTo>
                <a:lnTo>
                  <a:pt x="520" y="22"/>
                </a:lnTo>
                <a:lnTo>
                  <a:pt x="486" y="7"/>
                </a:lnTo>
                <a:lnTo>
                  <a:pt x="461" y="7"/>
                </a:lnTo>
                <a:lnTo>
                  <a:pt x="436" y="0"/>
                </a:lnTo>
                <a:lnTo>
                  <a:pt x="411" y="0"/>
                </a:lnTo>
                <a:lnTo>
                  <a:pt x="385" y="0"/>
                </a:lnTo>
                <a:lnTo>
                  <a:pt x="361" y="7"/>
                </a:lnTo>
                <a:lnTo>
                  <a:pt x="319" y="12"/>
                </a:lnTo>
                <a:lnTo>
                  <a:pt x="293" y="45"/>
                </a:lnTo>
                <a:lnTo>
                  <a:pt x="268" y="59"/>
                </a:lnTo>
                <a:lnTo>
                  <a:pt x="260" y="82"/>
                </a:lnTo>
                <a:lnTo>
                  <a:pt x="234" y="74"/>
                </a:lnTo>
                <a:lnTo>
                  <a:pt x="209" y="67"/>
                </a:lnTo>
                <a:lnTo>
                  <a:pt x="217" y="57"/>
                </a:lnTo>
              </a:path>
            </a:pathLst>
          </a:custGeom>
          <a:gradFill rotWithShape="0">
            <a:gsLst>
              <a:gs pos="0">
                <a:srgbClr val="F5EACB"/>
              </a:gs>
              <a:gs pos="100000">
                <a:srgbClr val="CC9900"/>
              </a:gs>
            </a:gsLst>
            <a:lin ang="5400000" scaled="1"/>
          </a:gradFill>
          <a:ln w="12700" cap="rnd" cmpd="sng">
            <a:solidFill>
              <a:srgbClr val="996633"/>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nvGrpSpPr>
          <p:cNvPr id="1034" name="Group 10"/>
          <p:cNvGrpSpPr>
            <a:grpSpLocks/>
          </p:cNvGrpSpPr>
          <p:nvPr/>
        </p:nvGrpSpPr>
        <p:grpSpPr bwMode="auto">
          <a:xfrm>
            <a:off x="7620000" y="5076825"/>
            <a:ext cx="1371600" cy="1600200"/>
            <a:chOff x="0" y="3182"/>
            <a:chExt cx="808" cy="998"/>
          </a:xfrm>
        </p:grpSpPr>
        <p:grpSp>
          <p:nvGrpSpPr>
            <p:cNvPr id="1046" name="Group 11"/>
            <p:cNvGrpSpPr>
              <a:grpSpLocks/>
            </p:cNvGrpSpPr>
            <p:nvPr/>
          </p:nvGrpSpPr>
          <p:grpSpPr bwMode="auto">
            <a:xfrm>
              <a:off x="0" y="3182"/>
              <a:ext cx="506" cy="927"/>
              <a:chOff x="1685" y="1023"/>
              <a:chExt cx="506" cy="927"/>
            </a:xfrm>
          </p:grpSpPr>
          <p:sp>
            <p:nvSpPr>
              <p:cNvPr id="1059" name="Freeform 12"/>
              <p:cNvSpPr>
                <a:spLocks/>
              </p:cNvSpPr>
              <p:nvPr/>
            </p:nvSpPr>
            <p:spPr bwMode="ltGray">
              <a:xfrm>
                <a:off x="1733" y="1329"/>
                <a:ext cx="76" cy="621"/>
              </a:xfrm>
              <a:custGeom>
                <a:avLst/>
                <a:gdLst>
                  <a:gd name="T0" fmla="*/ 0 w 76"/>
                  <a:gd name="T1" fmla="*/ 54 h 621"/>
                  <a:gd name="T2" fmla="*/ 11 w 76"/>
                  <a:gd name="T3" fmla="*/ 269 h 621"/>
                  <a:gd name="T4" fmla="*/ 22 w 76"/>
                  <a:gd name="T5" fmla="*/ 442 h 621"/>
                  <a:gd name="T6" fmla="*/ 30 w 76"/>
                  <a:gd name="T7" fmla="*/ 570 h 621"/>
                  <a:gd name="T8" fmla="*/ 28 w 76"/>
                  <a:gd name="T9" fmla="*/ 620 h 621"/>
                  <a:gd name="T10" fmla="*/ 44 w 76"/>
                  <a:gd name="T11" fmla="*/ 620 h 621"/>
                  <a:gd name="T12" fmla="*/ 49 w 76"/>
                  <a:gd name="T13" fmla="*/ 546 h 621"/>
                  <a:gd name="T14" fmla="*/ 52 w 76"/>
                  <a:gd name="T15" fmla="*/ 434 h 621"/>
                  <a:gd name="T16" fmla="*/ 58 w 76"/>
                  <a:gd name="T17" fmla="*/ 329 h 621"/>
                  <a:gd name="T18" fmla="*/ 61 w 76"/>
                  <a:gd name="T19" fmla="*/ 250 h 621"/>
                  <a:gd name="T20" fmla="*/ 67 w 76"/>
                  <a:gd name="T21" fmla="*/ 135 h 621"/>
                  <a:gd name="T22" fmla="*/ 75 w 76"/>
                  <a:gd name="T23" fmla="*/ 36 h 621"/>
                  <a:gd name="T24" fmla="*/ 70 w 76"/>
                  <a:gd name="T25" fmla="*/ 11 h 621"/>
                  <a:gd name="T26" fmla="*/ 62 w 76"/>
                  <a:gd name="T27" fmla="*/ 0 h 621"/>
                  <a:gd name="T28" fmla="*/ 53 w 76"/>
                  <a:gd name="T29" fmla="*/ 121 h 621"/>
                  <a:gd name="T30" fmla="*/ 45 w 76"/>
                  <a:gd name="T31" fmla="*/ 224 h 621"/>
                  <a:gd name="T32" fmla="*/ 43 w 76"/>
                  <a:gd name="T33" fmla="*/ 305 h 621"/>
                  <a:gd name="T34" fmla="*/ 40 w 76"/>
                  <a:gd name="T35" fmla="*/ 390 h 621"/>
                  <a:gd name="T36" fmla="*/ 34 w 76"/>
                  <a:gd name="T37" fmla="*/ 475 h 621"/>
                  <a:gd name="T38" fmla="*/ 25 w 76"/>
                  <a:gd name="T39" fmla="*/ 327 h 621"/>
                  <a:gd name="T40" fmla="*/ 15 w 76"/>
                  <a:gd name="T41" fmla="*/ 187 h 621"/>
                  <a:gd name="T42" fmla="*/ 0 w 76"/>
                  <a:gd name="T43" fmla="*/ 54 h 62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76" h="621">
                    <a:moveTo>
                      <a:pt x="0" y="54"/>
                    </a:moveTo>
                    <a:lnTo>
                      <a:pt x="11" y="269"/>
                    </a:lnTo>
                    <a:lnTo>
                      <a:pt x="22" y="442"/>
                    </a:lnTo>
                    <a:lnTo>
                      <a:pt x="30" y="570"/>
                    </a:lnTo>
                    <a:lnTo>
                      <a:pt x="28" y="620"/>
                    </a:lnTo>
                    <a:lnTo>
                      <a:pt x="44" y="620"/>
                    </a:lnTo>
                    <a:lnTo>
                      <a:pt x="49" y="546"/>
                    </a:lnTo>
                    <a:lnTo>
                      <a:pt x="52" y="434"/>
                    </a:lnTo>
                    <a:lnTo>
                      <a:pt x="58" y="329"/>
                    </a:lnTo>
                    <a:lnTo>
                      <a:pt x="61" y="250"/>
                    </a:lnTo>
                    <a:lnTo>
                      <a:pt x="67" y="135"/>
                    </a:lnTo>
                    <a:lnTo>
                      <a:pt x="75" y="36"/>
                    </a:lnTo>
                    <a:lnTo>
                      <a:pt x="70" y="11"/>
                    </a:lnTo>
                    <a:lnTo>
                      <a:pt x="62" y="0"/>
                    </a:lnTo>
                    <a:lnTo>
                      <a:pt x="53" y="121"/>
                    </a:lnTo>
                    <a:lnTo>
                      <a:pt x="45" y="224"/>
                    </a:lnTo>
                    <a:lnTo>
                      <a:pt x="43" y="305"/>
                    </a:lnTo>
                    <a:lnTo>
                      <a:pt x="40" y="390"/>
                    </a:lnTo>
                    <a:lnTo>
                      <a:pt x="34" y="475"/>
                    </a:lnTo>
                    <a:lnTo>
                      <a:pt x="25" y="327"/>
                    </a:lnTo>
                    <a:lnTo>
                      <a:pt x="15" y="187"/>
                    </a:lnTo>
                    <a:lnTo>
                      <a:pt x="0" y="54"/>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0" name="Freeform 13"/>
              <p:cNvSpPr>
                <a:spLocks/>
              </p:cNvSpPr>
              <p:nvPr/>
            </p:nvSpPr>
            <p:spPr bwMode="ltGray">
              <a:xfrm>
                <a:off x="1790" y="1583"/>
                <a:ext cx="120" cy="349"/>
              </a:xfrm>
              <a:custGeom>
                <a:avLst/>
                <a:gdLst>
                  <a:gd name="T0" fmla="*/ 0 w 120"/>
                  <a:gd name="T1" fmla="*/ 161 h 349"/>
                  <a:gd name="T2" fmla="*/ 10 w 120"/>
                  <a:gd name="T3" fmla="*/ 232 h 349"/>
                  <a:gd name="T4" fmla="*/ 20 w 120"/>
                  <a:gd name="T5" fmla="*/ 289 h 349"/>
                  <a:gd name="T6" fmla="*/ 26 w 120"/>
                  <a:gd name="T7" fmla="*/ 331 h 349"/>
                  <a:gd name="T8" fmla="*/ 25 w 120"/>
                  <a:gd name="T9" fmla="*/ 348 h 349"/>
                  <a:gd name="T10" fmla="*/ 39 w 120"/>
                  <a:gd name="T11" fmla="*/ 348 h 349"/>
                  <a:gd name="T12" fmla="*/ 43 w 120"/>
                  <a:gd name="T13" fmla="*/ 323 h 349"/>
                  <a:gd name="T14" fmla="*/ 45 w 120"/>
                  <a:gd name="T15" fmla="*/ 286 h 349"/>
                  <a:gd name="T16" fmla="*/ 51 w 120"/>
                  <a:gd name="T17" fmla="*/ 252 h 349"/>
                  <a:gd name="T18" fmla="*/ 54 w 120"/>
                  <a:gd name="T19" fmla="*/ 226 h 349"/>
                  <a:gd name="T20" fmla="*/ 59 w 120"/>
                  <a:gd name="T21" fmla="*/ 188 h 349"/>
                  <a:gd name="T22" fmla="*/ 66 w 120"/>
                  <a:gd name="T23" fmla="*/ 156 h 349"/>
                  <a:gd name="T24" fmla="*/ 71 w 120"/>
                  <a:gd name="T25" fmla="*/ 127 h 349"/>
                  <a:gd name="T26" fmla="*/ 77 w 120"/>
                  <a:gd name="T27" fmla="*/ 96 h 349"/>
                  <a:gd name="T28" fmla="*/ 86 w 120"/>
                  <a:gd name="T29" fmla="*/ 66 h 349"/>
                  <a:gd name="T30" fmla="*/ 96 w 120"/>
                  <a:gd name="T31" fmla="*/ 40 h 349"/>
                  <a:gd name="T32" fmla="*/ 113 w 120"/>
                  <a:gd name="T33" fmla="*/ 15 h 349"/>
                  <a:gd name="T34" fmla="*/ 119 w 120"/>
                  <a:gd name="T35" fmla="*/ 5 h 349"/>
                  <a:gd name="T36" fmla="*/ 112 w 120"/>
                  <a:gd name="T37" fmla="*/ 0 h 349"/>
                  <a:gd name="T38" fmla="*/ 101 w 120"/>
                  <a:gd name="T39" fmla="*/ 10 h 349"/>
                  <a:gd name="T40" fmla="*/ 86 w 120"/>
                  <a:gd name="T41" fmla="*/ 33 h 349"/>
                  <a:gd name="T42" fmla="*/ 75 w 120"/>
                  <a:gd name="T43" fmla="*/ 57 h 349"/>
                  <a:gd name="T44" fmla="*/ 66 w 120"/>
                  <a:gd name="T45" fmla="*/ 81 h 349"/>
                  <a:gd name="T46" fmla="*/ 60 w 120"/>
                  <a:gd name="T47" fmla="*/ 113 h 349"/>
                  <a:gd name="T48" fmla="*/ 55 w 120"/>
                  <a:gd name="T49" fmla="*/ 144 h 349"/>
                  <a:gd name="T50" fmla="*/ 47 w 120"/>
                  <a:gd name="T51" fmla="*/ 184 h 349"/>
                  <a:gd name="T52" fmla="*/ 40 w 120"/>
                  <a:gd name="T53" fmla="*/ 217 h 349"/>
                  <a:gd name="T54" fmla="*/ 37 w 120"/>
                  <a:gd name="T55" fmla="*/ 244 h 349"/>
                  <a:gd name="T56" fmla="*/ 36 w 120"/>
                  <a:gd name="T57" fmla="*/ 272 h 349"/>
                  <a:gd name="T58" fmla="*/ 30 w 120"/>
                  <a:gd name="T59" fmla="*/ 300 h 349"/>
                  <a:gd name="T60" fmla="*/ 22 w 120"/>
                  <a:gd name="T61" fmla="*/ 251 h 349"/>
                  <a:gd name="T62" fmla="*/ 13 w 120"/>
                  <a:gd name="T63" fmla="*/ 205 h 349"/>
                  <a:gd name="T64" fmla="*/ 0 w 120"/>
                  <a:gd name="T65" fmla="*/ 161 h 34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20" h="349">
                    <a:moveTo>
                      <a:pt x="0" y="161"/>
                    </a:moveTo>
                    <a:lnTo>
                      <a:pt x="10" y="232"/>
                    </a:lnTo>
                    <a:lnTo>
                      <a:pt x="20" y="289"/>
                    </a:lnTo>
                    <a:lnTo>
                      <a:pt x="26" y="331"/>
                    </a:lnTo>
                    <a:lnTo>
                      <a:pt x="25" y="348"/>
                    </a:lnTo>
                    <a:lnTo>
                      <a:pt x="39" y="348"/>
                    </a:lnTo>
                    <a:lnTo>
                      <a:pt x="43" y="323"/>
                    </a:lnTo>
                    <a:lnTo>
                      <a:pt x="45" y="286"/>
                    </a:lnTo>
                    <a:lnTo>
                      <a:pt x="51" y="252"/>
                    </a:lnTo>
                    <a:lnTo>
                      <a:pt x="54" y="226"/>
                    </a:lnTo>
                    <a:lnTo>
                      <a:pt x="59" y="188"/>
                    </a:lnTo>
                    <a:lnTo>
                      <a:pt x="66" y="156"/>
                    </a:lnTo>
                    <a:lnTo>
                      <a:pt x="71" y="127"/>
                    </a:lnTo>
                    <a:lnTo>
                      <a:pt x="77" y="96"/>
                    </a:lnTo>
                    <a:lnTo>
                      <a:pt x="86" y="66"/>
                    </a:lnTo>
                    <a:lnTo>
                      <a:pt x="96" y="40"/>
                    </a:lnTo>
                    <a:lnTo>
                      <a:pt x="113" y="15"/>
                    </a:lnTo>
                    <a:lnTo>
                      <a:pt x="119" y="5"/>
                    </a:lnTo>
                    <a:lnTo>
                      <a:pt x="112" y="0"/>
                    </a:lnTo>
                    <a:lnTo>
                      <a:pt x="101" y="10"/>
                    </a:lnTo>
                    <a:lnTo>
                      <a:pt x="86" y="33"/>
                    </a:lnTo>
                    <a:lnTo>
                      <a:pt x="75" y="57"/>
                    </a:lnTo>
                    <a:lnTo>
                      <a:pt x="66" y="81"/>
                    </a:lnTo>
                    <a:lnTo>
                      <a:pt x="60" y="113"/>
                    </a:lnTo>
                    <a:lnTo>
                      <a:pt x="55" y="144"/>
                    </a:lnTo>
                    <a:lnTo>
                      <a:pt x="47" y="184"/>
                    </a:lnTo>
                    <a:lnTo>
                      <a:pt x="40" y="217"/>
                    </a:lnTo>
                    <a:lnTo>
                      <a:pt x="37" y="244"/>
                    </a:lnTo>
                    <a:lnTo>
                      <a:pt x="36" y="272"/>
                    </a:lnTo>
                    <a:lnTo>
                      <a:pt x="30" y="300"/>
                    </a:lnTo>
                    <a:lnTo>
                      <a:pt x="22" y="251"/>
                    </a:lnTo>
                    <a:lnTo>
                      <a:pt x="13" y="205"/>
                    </a:lnTo>
                    <a:lnTo>
                      <a:pt x="0" y="161"/>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1" name="Freeform 14"/>
              <p:cNvSpPr>
                <a:spLocks/>
              </p:cNvSpPr>
              <p:nvPr/>
            </p:nvSpPr>
            <p:spPr bwMode="ltGray">
              <a:xfrm>
                <a:off x="1685" y="1239"/>
                <a:ext cx="266" cy="391"/>
              </a:xfrm>
              <a:custGeom>
                <a:avLst/>
                <a:gdLst>
                  <a:gd name="T0" fmla="*/ 107 w 266"/>
                  <a:gd name="T1" fmla="*/ 123 h 391"/>
                  <a:gd name="T2" fmla="*/ 116 w 266"/>
                  <a:gd name="T3" fmla="*/ 135 h 391"/>
                  <a:gd name="T4" fmla="*/ 163 w 266"/>
                  <a:gd name="T5" fmla="*/ 114 h 391"/>
                  <a:gd name="T6" fmla="*/ 211 w 266"/>
                  <a:gd name="T7" fmla="*/ 81 h 391"/>
                  <a:gd name="T8" fmla="*/ 233 w 266"/>
                  <a:gd name="T9" fmla="*/ 46 h 391"/>
                  <a:gd name="T10" fmla="*/ 220 w 266"/>
                  <a:gd name="T11" fmla="*/ 76 h 391"/>
                  <a:gd name="T12" fmla="*/ 183 w 266"/>
                  <a:gd name="T13" fmla="*/ 109 h 391"/>
                  <a:gd name="T14" fmla="*/ 142 w 266"/>
                  <a:gd name="T15" fmla="*/ 138 h 391"/>
                  <a:gd name="T16" fmla="*/ 102 w 266"/>
                  <a:gd name="T17" fmla="*/ 159 h 391"/>
                  <a:gd name="T18" fmla="*/ 119 w 266"/>
                  <a:gd name="T19" fmla="*/ 178 h 391"/>
                  <a:gd name="T20" fmla="*/ 155 w 266"/>
                  <a:gd name="T21" fmla="*/ 180 h 391"/>
                  <a:gd name="T22" fmla="*/ 202 w 266"/>
                  <a:gd name="T23" fmla="*/ 187 h 391"/>
                  <a:gd name="T24" fmla="*/ 239 w 266"/>
                  <a:gd name="T25" fmla="*/ 204 h 391"/>
                  <a:gd name="T26" fmla="*/ 251 w 266"/>
                  <a:gd name="T27" fmla="*/ 215 h 391"/>
                  <a:gd name="T28" fmla="*/ 213 w 266"/>
                  <a:gd name="T29" fmla="*/ 204 h 391"/>
                  <a:gd name="T30" fmla="*/ 162 w 266"/>
                  <a:gd name="T31" fmla="*/ 198 h 391"/>
                  <a:gd name="T32" fmla="*/ 114 w 266"/>
                  <a:gd name="T33" fmla="*/ 195 h 391"/>
                  <a:gd name="T34" fmla="*/ 88 w 266"/>
                  <a:gd name="T35" fmla="*/ 203 h 391"/>
                  <a:gd name="T36" fmla="*/ 93 w 266"/>
                  <a:gd name="T37" fmla="*/ 248 h 391"/>
                  <a:gd name="T38" fmla="*/ 93 w 266"/>
                  <a:gd name="T39" fmla="*/ 307 h 391"/>
                  <a:gd name="T40" fmla="*/ 77 w 266"/>
                  <a:gd name="T41" fmla="*/ 354 h 391"/>
                  <a:gd name="T42" fmla="*/ 46 w 266"/>
                  <a:gd name="T43" fmla="*/ 390 h 391"/>
                  <a:gd name="T44" fmla="*/ 50 w 266"/>
                  <a:gd name="T45" fmla="*/ 346 h 391"/>
                  <a:gd name="T46" fmla="*/ 61 w 266"/>
                  <a:gd name="T47" fmla="*/ 299 h 391"/>
                  <a:gd name="T48" fmla="*/ 67 w 266"/>
                  <a:gd name="T49" fmla="*/ 238 h 391"/>
                  <a:gd name="T50" fmla="*/ 64 w 266"/>
                  <a:gd name="T51" fmla="*/ 198 h 391"/>
                  <a:gd name="T52" fmla="*/ 48 w 266"/>
                  <a:gd name="T53" fmla="*/ 221 h 391"/>
                  <a:gd name="T54" fmla="*/ 39 w 266"/>
                  <a:gd name="T55" fmla="*/ 273 h 391"/>
                  <a:gd name="T56" fmla="*/ 32 w 266"/>
                  <a:gd name="T57" fmla="*/ 325 h 391"/>
                  <a:gd name="T58" fmla="*/ 10 w 266"/>
                  <a:gd name="T59" fmla="*/ 364 h 391"/>
                  <a:gd name="T60" fmla="*/ 2 w 266"/>
                  <a:gd name="T61" fmla="*/ 364 h 391"/>
                  <a:gd name="T62" fmla="*/ 2 w 266"/>
                  <a:gd name="T63" fmla="*/ 324 h 391"/>
                  <a:gd name="T64" fmla="*/ 17 w 266"/>
                  <a:gd name="T65" fmla="*/ 287 h 391"/>
                  <a:gd name="T66" fmla="*/ 34 w 266"/>
                  <a:gd name="T67" fmla="*/ 239 h 391"/>
                  <a:gd name="T68" fmla="*/ 42 w 266"/>
                  <a:gd name="T69" fmla="*/ 204 h 391"/>
                  <a:gd name="T70" fmla="*/ 26 w 266"/>
                  <a:gd name="T71" fmla="*/ 182 h 391"/>
                  <a:gd name="T72" fmla="*/ 2 w 266"/>
                  <a:gd name="T73" fmla="*/ 184 h 391"/>
                  <a:gd name="T74" fmla="*/ 2 w 266"/>
                  <a:gd name="T75" fmla="*/ 184 h 391"/>
                  <a:gd name="T76" fmla="*/ 2 w 266"/>
                  <a:gd name="T77" fmla="*/ 184 h 391"/>
                  <a:gd name="T78" fmla="*/ 2 w 266"/>
                  <a:gd name="T79" fmla="*/ 184 h 391"/>
                  <a:gd name="T80" fmla="*/ 2 w 266"/>
                  <a:gd name="T81" fmla="*/ 184 h 391"/>
                  <a:gd name="T82" fmla="*/ 2 w 266"/>
                  <a:gd name="T83" fmla="*/ 184 h 391"/>
                  <a:gd name="T84" fmla="*/ 13 w 266"/>
                  <a:gd name="T85" fmla="*/ 161 h 391"/>
                  <a:gd name="T86" fmla="*/ 13 w 266"/>
                  <a:gd name="T87" fmla="*/ 138 h 391"/>
                  <a:gd name="T88" fmla="*/ 2 w 266"/>
                  <a:gd name="T89" fmla="*/ 105 h 391"/>
                  <a:gd name="T90" fmla="*/ 2 w 266"/>
                  <a:gd name="T91" fmla="*/ 105 h 391"/>
                  <a:gd name="T92" fmla="*/ 2 w 266"/>
                  <a:gd name="T93" fmla="*/ 105 h 391"/>
                  <a:gd name="T94" fmla="*/ 2 w 266"/>
                  <a:gd name="T95" fmla="*/ 105 h 391"/>
                  <a:gd name="T96" fmla="*/ 24 w 266"/>
                  <a:gd name="T97" fmla="*/ 122 h 391"/>
                  <a:gd name="T98" fmla="*/ 53 w 266"/>
                  <a:gd name="T99" fmla="*/ 157 h 391"/>
                  <a:gd name="T100" fmla="*/ 55 w 266"/>
                  <a:gd name="T101" fmla="*/ 130 h 391"/>
                  <a:gd name="T102" fmla="*/ 24 w 266"/>
                  <a:gd name="T103" fmla="*/ 91 h 391"/>
                  <a:gd name="T104" fmla="*/ 2 w 266"/>
                  <a:gd name="T105" fmla="*/ 65 h 391"/>
                  <a:gd name="T106" fmla="*/ 2 w 266"/>
                  <a:gd name="T107" fmla="*/ 65 h 391"/>
                  <a:gd name="T108" fmla="*/ 2 w 266"/>
                  <a:gd name="T109" fmla="*/ 48 h 391"/>
                  <a:gd name="T110" fmla="*/ 30 w 266"/>
                  <a:gd name="T111" fmla="*/ 87 h 391"/>
                  <a:gd name="T112" fmla="*/ 61 w 266"/>
                  <a:gd name="T113" fmla="*/ 138 h 391"/>
                  <a:gd name="T114" fmla="*/ 80 w 266"/>
                  <a:gd name="T115" fmla="*/ 127 h 391"/>
                  <a:gd name="T116" fmla="*/ 106 w 266"/>
                  <a:gd name="T117" fmla="*/ 87 h 391"/>
                  <a:gd name="T118" fmla="*/ 139 w 266"/>
                  <a:gd name="T119" fmla="*/ 39 h 391"/>
                  <a:gd name="T120" fmla="*/ 165 w 266"/>
                  <a:gd name="T121" fmla="*/ 6 h 391"/>
                  <a:gd name="T122" fmla="*/ 163 w 266"/>
                  <a:gd name="T123" fmla="*/ 29 h 391"/>
                  <a:gd name="T124" fmla="*/ 137 w 266"/>
                  <a:gd name="T125" fmla="*/ 76 h 39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66" h="391">
                    <a:moveTo>
                      <a:pt x="124" y="95"/>
                    </a:moveTo>
                    <a:lnTo>
                      <a:pt x="119" y="101"/>
                    </a:lnTo>
                    <a:lnTo>
                      <a:pt x="115" y="108"/>
                    </a:lnTo>
                    <a:lnTo>
                      <a:pt x="111" y="115"/>
                    </a:lnTo>
                    <a:lnTo>
                      <a:pt x="107" y="123"/>
                    </a:lnTo>
                    <a:lnTo>
                      <a:pt x="104" y="129"/>
                    </a:lnTo>
                    <a:lnTo>
                      <a:pt x="102" y="136"/>
                    </a:lnTo>
                    <a:lnTo>
                      <a:pt x="100" y="142"/>
                    </a:lnTo>
                    <a:lnTo>
                      <a:pt x="107" y="138"/>
                    </a:lnTo>
                    <a:lnTo>
                      <a:pt x="116" y="135"/>
                    </a:lnTo>
                    <a:lnTo>
                      <a:pt x="125" y="131"/>
                    </a:lnTo>
                    <a:lnTo>
                      <a:pt x="134" y="127"/>
                    </a:lnTo>
                    <a:lnTo>
                      <a:pt x="144" y="124"/>
                    </a:lnTo>
                    <a:lnTo>
                      <a:pt x="154" y="119"/>
                    </a:lnTo>
                    <a:lnTo>
                      <a:pt x="163" y="114"/>
                    </a:lnTo>
                    <a:lnTo>
                      <a:pt x="175" y="107"/>
                    </a:lnTo>
                    <a:lnTo>
                      <a:pt x="184" y="101"/>
                    </a:lnTo>
                    <a:lnTo>
                      <a:pt x="195" y="93"/>
                    </a:lnTo>
                    <a:lnTo>
                      <a:pt x="203" y="89"/>
                    </a:lnTo>
                    <a:lnTo>
                      <a:pt x="211" y="81"/>
                    </a:lnTo>
                    <a:lnTo>
                      <a:pt x="218" y="75"/>
                    </a:lnTo>
                    <a:lnTo>
                      <a:pt x="224" y="66"/>
                    </a:lnTo>
                    <a:lnTo>
                      <a:pt x="227" y="59"/>
                    </a:lnTo>
                    <a:lnTo>
                      <a:pt x="230" y="51"/>
                    </a:lnTo>
                    <a:lnTo>
                      <a:pt x="233" y="46"/>
                    </a:lnTo>
                    <a:lnTo>
                      <a:pt x="233" y="52"/>
                    </a:lnTo>
                    <a:lnTo>
                      <a:pt x="233" y="56"/>
                    </a:lnTo>
                    <a:lnTo>
                      <a:pt x="231" y="61"/>
                    </a:lnTo>
                    <a:lnTo>
                      <a:pt x="227" y="67"/>
                    </a:lnTo>
                    <a:lnTo>
                      <a:pt x="220" y="76"/>
                    </a:lnTo>
                    <a:lnTo>
                      <a:pt x="217" y="83"/>
                    </a:lnTo>
                    <a:lnTo>
                      <a:pt x="210" y="88"/>
                    </a:lnTo>
                    <a:lnTo>
                      <a:pt x="202" y="94"/>
                    </a:lnTo>
                    <a:lnTo>
                      <a:pt x="192" y="101"/>
                    </a:lnTo>
                    <a:lnTo>
                      <a:pt x="183" y="109"/>
                    </a:lnTo>
                    <a:lnTo>
                      <a:pt x="173" y="116"/>
                    </a:lnTo>
                    <a:lnTo>
                      <a:pt x="167" y="122"/>
                    </a:lnTo>
                    <a:lnTo>
                      <a:pt x="159" y="129"/>
                    </a:lnTo>
                    <a:lnTo>
                      <a:pt x="151" y="133"/>
                    </a:lnTo>
                    <a:lnTo>
                      <a:pt x="142" y="138"/>
                    </a:lnTo>
                    <a:lnTo>
                      <a:pt x="133" y="143"/>
                    </a:lnTo>
                    <a:lnTo>
                      <a:pt x="125" y="148"/>
                    </a:lnTo>
                    <a:lnTo>
                      <a:pt x="118" y="152"/>
                    </a:lnTo>
                    <a:lnTo>
                      <a:pt x="109" y="156"/>
                    </a:lnTo>
                    <a:lnTo>
                      <a:pt x="102" y="159"/>
                    </a:lnTo>
                    <a:lnTo>
                      <a:pt x="100" y="161"/>
                    </a:lnTo>
                    <a:lnTo>
                      <a:pt x="102" y="165"/>
                    </a:lnTo>
                    <a:lnTo>
                      <a:pt x="106" y="170"/>
                    </a:lnTo>
                    <a:lnTo>
                      <a:pt x="110" y="176"/>
                    </a:lnTo>
                    <a:lnTo>
                      <a:pt x="119" y="178"/>
                    </a:lnTo>
                    <a:lnTo>
                      <a:pt x="125" y="178"/>
                    </a:lnTo>
                    <a:lnTo>
                      <a:pt x="135" y="180"/>
                    </a:lnTo>
                    <a:lnTo>
                      <a:pt x="144" y="180"/>
                    </a:lnTo>
                    <a:lnTo>
                      <a:pt x="155" y="180"/>
                    </a:lnTo>
                    <a:lnTo>
                      <a:pt x="165" y="182"/>
                    </a:lnTo>
                    <a:lnTo>
                      <a:pt x="175" y="182"/>
                    </a:lnTo>
                    <a:lnTo>
                      <a:pt x="185" y="184"/>
                    </a:lnTo>
                    <a:lnTo>
                      <a:pt x="193" y="185"/>
                    </a:lnTo>
                    <a:lnTo>
                      <a:pt x="202" y="187"/>
                    </a:lnTo>
                    <a:lnTo>
                      <a:pt x="208" y="189"/>
                    </a:lnTo>
                    <a:lnTo>
                      <a:pt x="215" y="193"/>
                    </a:lnTo>
                    <a:lnTo>
                      <a:pt x="221" y="196"/>
                    </a:lnTo>
                    <a:lnTo>
                      <a:pt x="229" y="200"/>
                    </a:lnTo>
                    <a:lnTo>
                      <a:pt x="239" y="204"/>
                    </a:lnTo>
                    <a:lnTo>
                      <a:pt x="249" y="208"/>
                    </a:lnTo>
                    <a:lnTo>
                      <a:pt x="256" y="211"/>
                    </a:lnTo>
                    <a:lnTo>
                      <a:pt x="265" y="214"/>
                    </a:lnTo>
                    <a:lnTo>
                      <a:pt x="258" y="215"/>
                    </a:lnTo>
                    <a:lnTo>
                      <a:pt x="251" y="215"/>
                    </a:lnTo>
                    <a:lnTo>
                      <a:pt x="244" y="213"/>
                    </a:lnTo>
                    <a:lnTo>
                      <a:pt x="236" y="211"/>
                    </a:lnTo>
                    <a:lnTo>
                      <a:pt x="226" y="207"/>
                    </a:lnTo>
                    <a:lnTo>
                      <a:pt x="219" y="206"/>
                    </a:lnTo>
                    <a:lnTo>
                      <a:pt x="213" y="204"/>
                    </a:lnTo>
                    <a:lnTo>
                      <a:pt x="204" y="202"/>
                    </a:lnTo>
                    <a:lnTo>
                      <a:pt x="195" y="201"/>
                    </a:lnTo>
                    <a:lnTo>
                      <a:pt x="184" y="200"/>
                    </a:lnTo>
                    <a:lnTo>
                      <a:pt x="173" y="199"/>
                    </a:lnTo>
                    <a:lnTo>
                      <a:pt x="162" y="198"/>
                    </a:lnTo>
                    <a:lnTo>
                      <a:pt x="152" y="198"/>
                    </a:lnTo>
                    <a:lnTo>
                      <a:pt x="142" y="198"/>
                    </a:lnTo>
                    <a:lnTo>
                      <a:pt x="134" y="197"/>
                    </a:lnTo>
                    <a:lnTo>
                      <a:pt x="124" y="197"/>
                    </a:lnTo>
                    <a:lnTo>
                      <a:pt x="114" y="195"/>
                    </a:lnTo>
                    <a:lnTo>
                      <a:pt x="102" y="192"/>
                    </a:lnTo>
                    <a:lnTo>
                      <a:pt x="92" y="189"/>
                    </a:lnTo>
                    <a:lnTo>
                      <a:pt x="80" y="188"/>
                    </a:lnTo>
                    <a:lnTo>
                      <a:pt x="84" y="195"/>
                    </a:lnTo>
                    <a:lnTo>
                      <a:pt x="88" y="203"/>
                    </a:lnTo>
                    <a:lnTo>
                      <a:pt x="93" y="215"/>
                    </a:lnTo>
                    <a:lnTo>
                      <a:pt x="94" y="223"/>
                    </a:lnTo>
                    <a:lnTo>
                      <a:pt x="95" y="233"/>
                    </a:lnTo>
                    <a:lnTo>
                      <a:pt x="94" y="241"/>
                    </a:lnTo>
                    <a:lnTo>
                      <a:pt x="93" y="248"/>
                    </a:lnTo>
                    <a:lnTo>
                      <a:pt x="93" y="259"/>
                    </a:lnTo>
                    <a:lnTo>
                      <a:pt x="92" y="273"/>
                    </a:lnTo>
                    <a:lnTo>
                      <a:pt x="92" y="285"/>
                    </a:lnTo>
                    <a:lnTo>
                      <a:pt x="93" y="297"/>
                    </a:lnTo>
                    <a:lnTo>
                      <a:pt x="93" y="307"/>
                    </a:lnTo>
                    <a:lnTo>
                      <a:pt x="92" y="316"/>
                    </a:lnTo>
                    <a:lnTo>
                      <a:pt x="89" y="326"/>
                    </a:lnTo>
                    <a:lnTo>
                      <a:pt x="85" y="338"/>
                    </a:lnTo>
                    <a:lnTo>
                      <a:pt x="82" y="346"/>
                    </a:lnTo>
                    <a:lnTo>
                      <a:pt x="77" y="354"/>
                    </a:lnTo>
                    <a:lnTo>
                      <a:pt x="73" y="363"/>
                    </a:lnTo>
                    <a:lnTo>
                      <a:pt x="69" y="369"/>
                    </a:lnTo>
                    <a:lnTo>
                      <a:pt x="62" y="376"/>
                    </a:lnTo>
                    <a:lnTo>
                      <a:pt x="53" y="382"/>
                    </a:lnTo>
                    <a:lnTo>
                      <a:pt x="46" y="390"/>
                    </a:lnTo>
                    <a:lnTo>
                      <a:pt x="45" y="382"/>
                    </a:lnTo>
                    <a:lnTo>
                      <a:pt x="46" y="372"/>
                    </a:lnTo>
                    <a:lnTo>
                      <a:pt x="47" y="362"/>
                    </a:lnTo>
                    <a:lnTo>
                      <a:pt x="48" y="353"/>
                    </a:lnTo>
                    <a:lnTo>
                      <a:pt x="50" y="346"/>
                    </a:lnTo>
                    <a:lnTo>
                      <a:pt x="53" y="337"/>
                    </a:lnTo>
                    <a:lnTo>
                      <a:pt x="56" y="328"/>
                    </a:lnTo>
                    <a:lnTo>
                      <a:pt x="58" y="320"/>
                    </a:lnTo>
                    <a:lnTo>
                      <a:pt x="59" y="313"/>
                    </a:lnTo>
                    <a:lnTo>
                      <a:pt x="61" y="299"/>
                    </a:lnTo>
                    <a:lnTo>
                      <a:pt x="62" y="285"/>
                    </a:lnTo>
                    <a:lnTo>
                      <a:pt x="63" y="273"/>
                    </a:lnTo>
                    <a:lnTo>
                      <a:pt x="65" y="260"/>
                    </a:lnTo>
                    <a:lnTo>
                      <a:pt x="67" y="247"/>
                    </a:lnTo>
                    <a:lnTo>
                      <a:pt x="67" y="238"/>
                    </a:lnTo>
                    <a:lnTo>
                      <a:pt x="67" y="231"/>
                    </a:lnTo>
                    <a:lnTo>
                      <a:pt x="68" y="222"/>
                    </a:lnTo>
                    <a:lnTo>
                      <a:pt x="67" y="212"/>
                    </a:lnTo>
                    <a:lnTo>
                      <a:pt x="66" y="206"/>
                    </a:lnTo>
                    <a:lnTo>
                      <a:pt x="64" y="198"/>
                    </a:lnTo>
                    <a:lnTo>
                      <a:pt x="62" y="187"/>
                    </a:lnTo>
                    <a:lnTo>
                      <a:pt x="58" y="195"/>
                    </a:lnTo>
                    <a:lnTo>
                      <a:pt x="54" y="203"/>
                    </a:lnTo>
                    <a:lnTo>
                      <a:pt x="50" y="212"/>
                    </a:lnTo>
                    <a:lnTo>
                      <a:pt x="48" y="221"/>
                    </a:lnTo>
                    <a:lnTo>
                      <a:pt x="46" y="232"/>
                    </a:lnTo>
                    <a:lnTo>
                      <a:pt x="44" y="239"/>
                    </a:lnTo>
                    <a:lnTo>
                      <a:pt x="43" y="249"/>
                    </a:lnTo>
                    <a:lnTo>
                      <a:pt x="41" y="260"/>
                    </a:lnTo>
                    <a:lnTo>
                      <a:pt x="39" y="273"/>
                    </a:lnTo>
                    <a:lnTo>
                      <a:pt x="38" y="283"/>
                    </a:lnTo>
                    <a:lnTo>
                      <a:pt x="37" y="295"/>
                    </a:lnTo>
                    <a:lnTo>
                      <a:pt x="36" y="305"/>
                    </a:lnTo>
                    <a:lnTo>
                      <a:pt x="33" y="315"/>
                    </a:lnTo>
                    <a:lnTo>
                      <a:pt x="32" y="325"/>
                    </a:lnTo>
                    <a:lnTo>
                      <a:pt x="30" y="333"/>
                    </a:lnTo>
                    <a:lnTo>
                      <a:pt x="26" y="340"/>
                    </a:lnTo>
                    <a:lnTo>
                      <a:pt x="21" y="348"/>
                    </a:lnTo>
                    <a:lnTo>
                      <a:pt x="15" y="356"/>
                    </a:lnTo>
                    <a:lnTo>
                      <a:pt x="10" y="364"/>
                    </a:lnTo>
                    <a:lnTo>
                      <a:pt x="5" y="368"/>
                    </a:lnTo>
                    <a:lnTo>
                      <a:pt x="2" y="364"/>
                    </a:lnTo>
                    <a:lnTo>
                      <a:pt x="2" y="344"/>
                    </a:lnTo>
                    <a:lnTo>
                      <a:pt x="2" y="364"/>
                    </a:lnTo>
                    <a:lnTo>
                      <a:pt x="2" y="344"/>
                    </a:lnTo>
                    <a:lnTo>
                      <a:pt x="2" y="324"/>
                    </a:lnTo>
                    <a:lnTo>
                      <a:pt x="5" y="316"/>
                    </a:lnTo>
                    <a:lnTo>
                      <a:pt x="9" y="306"/>
                    </a:lnTo>
                    <a:lnTo>
                      <a:pt x="13" y="297"/>
                    </a:lnTo>
                    <a:lnTo>
                      <a:pt x="17" y="287"/>
                    </a:lnTo>
                    <a:lnTo>
                      <a:pt x="21" y="278"/>
                    </a:lnTo>
                    <a:lnTo>
                      <a:pt x="25" y="268"/>
                    </a:lnTo>
                    <a:lnTo>
                      <a:pt x="28" y="259"/>
                    </a:lnTo>
                    <a:lnTo>
                      <a:pt x="31" y="249"/>
                    </a:lnTo>
                    <a:lnTo>
                      <a:pt x="34" y="239"/>
                    </a:lnTo>
                    <a:lnTo>
                      <a:pt x="36" y="233"/>
                    </a:lnTo>
                    <a:lnTo>
                      <a:pt x="38" y="225"/>
                    </a:lnTo>
                    <a:lnTo>
                      <a:pt x="41" y="216"/>
                    </a:lnTo>
                    <a:lnTo>
                      <a:pt x="44" y="210"/>
                    </a:lnTo>
                    <a:lnTo>
                      <a:pt x="42" y="204"/>
                    </a:lnTo>
                    <a:lnTo>
                      <a:pt x="41" y="197"/>
                    </a:lnTo>
                    <a:lnTo>
                      <a:pt x="42" y="192"/>
                    </a:lnTo>
                    <a:lnTo>
                      <a:pt x="43" y="185"/>
                    </a:lnTo>
                    <a:lnTo>
                      <a:pt x="36" y="184"/>
                    </a:lnTo>
                    <a:lnTo>
                      <a:pt x="26" y="182"/>
                    </a:lnTo>
                    <a:lnTo>
                      <a:pt x="18" y="187"/>
                    </a:lnTo>
                    <a:lnTo>
                      <a:pt x="11" y="191"/>
                    </a:lnTo>
                    <a:lnTo>
                      <a:pt x="3" y="195"/>
                    </a:lnTo>
                    <a:lnTo>
                      <a:pt x="2" y="184"/>
                    </a:lnTo>
                    <a:lnTo>
                      <a:pt x="2" y="164"/>
                    </a:lnTo>
                    <a:lnTo>
                      <a:pt x="2" y="184"/>
                    </a:lnTo>
                    <a:lnTo>
                      <a:pt x="2" y="164"/>
                    </a:lnTo>
                    <a:lnTo>
                      <a:pt x="5" y="164"/>
                    </a:lnTo>
                    <a:lnTo>
                      <a:pt x="13" y="161"/>
                    </a:lnTo>
                    <a:lnTo>
                      <a:pt x="15" y="156"/>
                    </a:lnTo>
                    <a:lnTo>
                      <a:pt x="17" y="151"/>
                    </a:lnTo>
                    <a:lnTo>
                      <a:pt x="19" y="146"/>
                    </a:lnTo>
                    <a:lnTo>
                      <a:pt x="18" y="144"/>
                    </a:lnTo>
                    <a:lnTo>
                      <a:pt x="13" y="138"/>
                    </a:lnTo>
                    <a:lnTo>
                      <a:pt x="6" y="132"/>
                    </a:lnTo>
                    <a:lnTo>
                      <a:pt x="0" y="125"/>
                    </a:lnTo>
                    <a:lnTo>
                      <a:pt x="2" y="124"/>
                    </a:lnTo>
                    <a:lnTo>
                      <a:pt x="2" y="105"/>
                    </a:lnTo>
                    <a:lnTo>
                      <a:pt x="1" y="103"/>
                    </a:lnTo>
                    <a:lnTo>
                      <a:pt x="11" y="110"/>
                    </a:lnTo>
                    <a:lnTo>
                      <a:pt x="19" y="117"/>
                    </a:lnTo>
                    <a:lnTo>
                      <a:pt x="24" y="122"/>
                    </a:lnTo>
                    <a:lnTo>
                      <a:pt x="28" y="128"/>
                    </a:lnTo>
                    <a:lnTo>
                      <a:pt x="35" y="137"/>
                    </a:lnTo>
                    <a:lnTo>
                      <a:pt x="40" y="143"/>
                    </a:lnTo>
                    <a:lnTo>
                      <a:pt x="46" y="150"/>
                    </a:lnTo>
                    <a:lnTo>
                      <a:pt x="53" y="157"/>
                    </a:lnTo>
                    <a:lnTo>
                      <a:pt x="55" y="155"/>
                    </a:lnTo>
                    <a:lnTo>
                      <a:pt x="59" y="148"/>
                    </a:lnTo>
                    <a:lnTo>
                      <a:pt x="62" y="143"/>
                    </a:lnTo>
                    <a:lnTo>
                      <a:pt x="60" y="138"/>
                    </a:lnTo>
                    <a:lnTo>
                      <a:pt x="55" y="130"/>
                    </a:lnTo>
                    <a:lnTo>
                      <a:pt x="51" y="123"/>
                    </a:lnTo>
                    <a:lnTo>
                      <a:pt x="46" y="115"/>
                    </a:lnTo>
                    <a:lnTo>
                      <a:pt x="40" y="109"/>
                    </a:lnTo>
                    <a:lnTo>
                      <a:pt x="31" y="100"/>
                    </a:lnTo>
                    <a:lnTo>
                      <a:pt x="24" y="91"/>
                    </a:lnTo>
                    <a:lnTo>
                      <a:pt x="17" y="84"/>
                    </a:lnTo>
                    <a:lnTo>
                      <a:pt x="12" y="78"/>
                    </a:lnTo>
                    <a:lnTo>
                      <a:pt x="6" y="70"/>
                    </a:lnTo>
                    <a:lnTo>
                      <a:pt x="2" y="65"/>
                    </a:lnTo>
                    <a:lnTo>
                      <a:pt x="2" y="44"/>
                    </a:lnTo>
                    <a:lnTo>
                      <a:pt x="2" y="65"/>
                    </a:lnTo>
                    <a:lnTo>
                      <a:pt x="2" y="44"/>
                    </a:lnTo>
                    <a:lnTo>
                      <a:pt x="2" y="53"/>
                    </a:lnTo>
                    <a:lnTo>
                      <a:pt x="2" y="48"/>
                    </a:lnTo>
                    <a:lnTo>
                      <a:pt x="4" y="55"/>
                    </a:lnTo>
                    <a:lnTo>
                      <a:pt x="11" y="63"/>
                    </a:lnTo>
                    <a:lnTo>
                      <a:pt x="17" y="70"/>
                    </a:lnTo>
                    <a:lnTo>
                      <a:pt x="25" y="80"/>
                    </a:lnTo>
                    <a:lnTo>
                      <a:pt x="30" y="87"/>
                    </a:lnTo>
                    <a:lnTo>
                      <a:pt x="37" y="95"/>
                    </a:lnTo>
                    <a:lnTo>
                      <a:pt x="43" y="106"/>
                    </a:lnTo>
                    <a:lnTo>
                      <a:pt x="48" y="115"/>
                    </a:lnTo>
                    <a:lnTo>
                      <a:pt x="54" y="124"/>
                    </a:lnTo>
                    <a:lnTo>
                      <a:pt x="61" y="138"/>
                    </a:lnTo>
                    <a:lnTo>
                      <a:pt x="64" y="146"/>
                    </a:lnTo>
                    <a:lnTo>
                      <a:pt x="66" y="151"/>
                    </a:lnTo>
                    <a:lnTo>
                      <a:pt x="70" y="143"/>
                    </a:lnTo>
                    <a:lnTo>
                      <a:pt x="75" y="135"/>
                    </a:lnTo>
                    <a:lnTo>
                      <a:pt x="80" y="127"/>
                    </a:lnTo>
                    <a:lnTo>
                      <a:pt x="85" y="118"/>
                    </a:lnTo>
                    <a:lnTo>
                      <a:pt x="90" y="110"/>
                    </a:lnTo>
                    <a:lnTo>
                      <a:pt x="94" y="103"/>
                    </a:lnTo>
                    <a:lnTo>
                      <a:pt x="100" y="96"/>
                    </a:lnTo>
                    <a:lnTo>
                      <a:pt x="106" y="87"/>
                    </a:lnTo>
                    <a:lnTo>
                      <a:pt x="113" y="78"/>
                    </a:lnTo>
                    <a:lnTo>
                      <a:pt x="120" y="68"/>
                    </a:lnTo>
                    <a:lnTo>
                      <a:pt x="127" y="58"/>
                    </a:lnTo>
                    <a:lnTo>
                      <a:pt x="132" y="50"/>
                    </a:lnTo>
                    <a:lnTo>
                      <a:pt x="139" y="39"/>
                    </a:lnTo>
                    <a:lnTo>
                      <a:pt x="144" y="33"/>
                    </a:lnTo>
                    <a:lnTo>
                      <a:pt x="150" y="26"/>
                    </a:lnTo>
                    <a:lnTo>
                      <a:pt x="156" y="21"/>
                    </a:lnTo>
                    <a:lnTo>
                      <a:pt x="161" y="15"/>
                    </a:lnTo>
                    <a:lnTo>
                      <a:pt x="165" y="6"/>
                    </a:lnTo>
                    <a:lnTo>
                      <a:pt x="170" y="0"/>
                    </a:lnTo>
                    <a:lnTo>
                      <a:pt x="169" y="5"/>
                    </a:lnTo>
                    <a:lnTo>
                      <a:pt x="168" y="13"/>
                    </a:lnTo>
                    <a:lnTo>
                      <a:pt x="166" y="21"/>
                    </a:lnTo>
                    <a:lnTo>
                      <a:pt x="163" y="29"/>
                    </a:lnTo>
                    <a:lnTo>
                      <a:pt x="159" y="37"/>
                    </a:lnTo>
                    <a:lnTo>
                      <a:pt x="153" y="47"/>
                    </a:lnTo>
                    <a:lnTo>
                      <a:pt x="148" y="56"/>
                    </a:lnTo>
                    <a:lnTo>
                      <a:pt x="143" y="67"/>
                    </a:lnTo>
                    <a:lnTo>
                      <a:pt x="137" y="76"/>
                    </a:lnTo>
                    <a:lnTo>
                      <a:pt x="130" y="87"/>
                    </a:lnTo>
                    <a:lnTo>
                      <a:pt x="124" y="95"/>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nvGrpSpPr>
              <p:cNvPr id="1062" name="Group 15"/>
              <p:cNvGrpSpPr>
                <a:grpSpLocks/>
              </p:cNvGrpSpPr>
              <p:nvPr/>
            </p:nvGrpSpPr>
            <p:grpSpPr bwMode="auto">
              <a:xfrm>
                <a:off x="1707" y="1466"/>
                <a:ext cx="484" cy="368"/>
                <a:chOff x="1707" y="1466"/>
                <a:chExt cx="484" cy="368"/>
              </a:xfrm>
            </p:grpSpPr>
            <p:sp>
              <p:nvSpPr>
                <p:cNvPr id="1064" name="Freeform 16"/>
                <p:cNvSpPr>
                  <a:spLocks/>
                </p:cNvSpPr>
                <p:nvPr/>
              </p:nvSpPr>
              <p:spPr bwMode="ltGray">
                <a:xfrm>
                  <a:off x="1751" y="1466"/>
                  <a:ext cx="440" cy="342"/>
                </a:xfrm>
                <a:custGeom>
                  <a:avLst/>
                  <a:gdLst>
                    <a:gd name="T0" fmla="*/ 167 w 440"/>
                    <a:gd name="T1" fmla="*/ 42 h 342"/>
                    <a:gd name="T2" fmla="*/ 202 w 440"/>
                    <a:gd name="T3" fmla="*/ 14 h 342"/>
                    <a:gd name="T4" fmla="*/ 245 w 440"/>
                    <a:gd name="T5" fmla="*/ 3 h 342"/>
                    <a:gd name="T6" fmla="*/ 292 w 440"/>
                    <a:gd name="T7" fmla="*/ 2 h 342"/>
                    <a:gd name="T8" fmla="*/ 304 w 440"/>
                    <a:gd name="T9" fmla="*/ 7 h 342"/>
                    <a:gd name="T10" fmla="*/ 272 w 440"/>
                    <a:gd name="T11" fmla="*/ 15 h 342"/>
                    <a:gd name="T12" fmla="*/ 236 w 440"/>
                    <a:gd name="T13" fmla="*/ 26 h 342"/>
                    <a:gd name="T14" fmla="*/ 195 w 440"/>
                    <a:gd name="T15" fmla="*/ 55 h 342"/>
                    <a:gd name="T16" fmla="*/ 191 w 440"/>
                    <a:gd name="T17" fmla="*/ 94 h 342"/>
                    <a:gd name="T18" fmla="*/ 252 w 440"/>
                    <a:gd name="T19" fmla="*/ 70 h 342"/>
                    <a:gd name="T20" fmla="*/ 301 w 440"/>
                    <a:gd name="T21" fmla="*/ 67 h 342"/>
                    <a:gd name="T22" fmla="*/ 354 w 440"/>
                    <a:gd name="T23" fmla="*/ 72 h 342"/>
                    <a:gd name="T24" fmla="*/ 416 w 440"/>
                    <a:gd name="T25" fmla="*/ 79 h 342"/>
                    <a:gd name="T26" fmla="*/ 417 w 440"/>
                    <a:gd name="T27" fmla="*/ 80 h 342"/>
                    <a:gd name="T28" fmla="*/ 357 w 440"/>
                    <a:gd name="T29" fmla="*/ 83 h 342"/>
                    <a:gd name="T30" fmla="*/ 302 w 440"/>
                    <a:gd name="T31" fmla="*/ 84 h 342"/>
                    <a:gd name="T32" fmla="*/ 254 w 440"/>
                    <a:gd name="T33" fmla="*/ 90 h 342"/>
                    <a:gd name="T34" fmla="*/ 200 w 440"/>
                    <a:gd name="T35" fmla="*/ 103 h 342"/>
                    <a:gd name="T36" fmla="*/ 222 w 440"/>
                    <a:gd name="T37" fmla="*/ 123 h 342"/>
                    <a:gd name="T38" fmla="*/ 238 w 440"/>
                    <a:gd name="T39" fmla="*/ 142 h 342"/>
                    <a:gd name="T40" fmla="*/ 184 w 440"/>
                    <a:gd name="T41" fmla="*/ 125 h 342"/>
                    <a:gd name="T42" fmla="*/ 173 w 440"/>
                    <a:gd name="T43" fmla="*/ 136 h 342"/>
                    <a:gd name="T44" fmla="*/ 232 w 440"/>
                    <a:gd name="T45" fmla="*/ 145 h 342"/>
                    <a:gd name="T46" fmla="*/ 282 w 440"/>
                    <a:gd name="T47" fmla="*/ 157 h 342"/>
                    <a:gd name="T48" fmla="*/ 321 w 440"/>
                    <a:gd name="T49" fmla="*/ 190 h 342"/>
                    <a:gd name="T50" fmla="*/ 351 w 440"/>
                    <a:gd name="T51" fmla="*/ 234 h 342"/>
                    <a:gd name="T52" fmla="*/ 344 w 440"/>
                    <a:gd name="T53" fmla="*/ 242 h 342"/>
                    <a:gd name="T54" fmla="*/ 304 w 440"/>
                    <a:gd name="T55" fmla="*/ 214 h 342"/>
                    <a:gd name="T56" fmla="*/ 259 w 440"/>
                    <a:gd name="T57" fmla="*/ 183 h 342"/>
                    <a:gd name="T58" fmla="*/ 211 w 440"/>
                    <a:gd name="T59" fmla="*/ 162 h 342"/>
                    <a:gd name="T60" fmla="*/ 180 w 440"/>
                    <a:gd name="T61" fmla="*/ 155 h 342"/>
                    <a:gd name="T62" fmla="*/ 206 w 440"/>
                    <a:gd name="T63" fmla="*/ 189 h 342"/>
                    <a:gd name="T64" fmla="*/ 238 w 440"/>
                    <a:gd name="T65" fmla="*/ 234 h 342"/>
                    <a:gd name="T66" fmla="*/ 256 w 440"/>
                    <a:gd name="T67" fmla="*/ 275 h 342"/>
                    <a:gd name="T68" fmla="*/ 255 w 440"/>
                    <a:gd name="T69" fmla="*/ 313 h 342"/>
                    <a:gd name="T70" fmla="*/ 232 w 440"/>
                    <a:gd name="T71" fmla="*/ 271 h 342"/>
                    <a:gd name="T72" fmla="*/ 208 w 440"/>
                    <a:gd name="T73" fmla="*/ 226 h 342"/>
                    <a:gd name="T74" fmla="*/ 181 w 440"/>
                    <a:gd name="T75" fmla="*/ 185 h 342"/>
                    <a:gd name="T76" fmla="*/ 157 w 440"/>
                    <a:gd name="T77" fmla="*/ 149 h 342"/>
                    <a:gd name="T78" fmla="*/ 115 w 440"/>
                    <a:gd name="T79" fmla="*/ 170 h 342"/>
                    <a:gd name="T80" fmla="*/ 80 w 440"/>
                    <a:gd name="T81" fmla="*/ 221 h 342"/>
                    <a:gd name="T82" fmla="*/ 51 w 440"/>
                    <a:gd name="T83" fmla="*/ 273 h 342"/>
                    <a:gd name="T84" fmla="*/ 18 w 440"/>
                    <a:gd name="T85" fmla="*/ 321 h 342"/>
                    <a:gd name="T86" fmla="*/ 8 w 440"/>
                    <a:gd name="T87" fmla="*/ 315 h 342"/>
                    <a:gd name="T88" fmla="*/ 47 w 440"/>
                    <a:gd name="T89" fmla="*/ 255 h 342"/>
                    <a:gd name="T90" fmla="*/ 82 w 440"/>
                    <a:gd name="T91" fmla="*/ 208 h 342"/>
                    <a:gd name="T92" fmla="*/ 112 w 440"/>
                    <a:gd name="T93" fmla="*/ 162 h 342"/>
                    <a:gd name="T94" fmla="*/ 139 w 440"/>
                    <a:gd name="T95" fmla="*/ 126 h 342"/>
                    <a:gd name="T96" fmla="*/ 99 w 440"/>
                    <a:gd name="T97" fmla="*/ 83 h 342"/>
                    <a:gd name="T98" fmla="*/ 43 w 440"/>
                    <a:gd name="T99" fmla="*/ 60 h 342"/>
                    <a:gd name="T100" fmla="*/ 20 w 440"/>
                    <a:gd name="T101" fmla="*/ 47 h 342"/>
                    <a:gd name="T102" fmla="*/ 63 w 440"/>
                    <a:gd name="T103" fmla="*/ 61 h 342"/>
                    <a:gd name="T104" fmla="*/ 122 w 440"/>
                    <a:gd name="T105" fmla="*/ 90 h 3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40" h="342">
                      <a:moveTo>
                        <a:pt x="138" y="87"/>
                      </a:moveTo>
                      <a:lnTo>
                        <a:pt x="141" y="78"/>
                      </a:lnTo>
                      <a:lnTo>
                        <a:pt x="146" y="69"/>
                      </a:lnTo>
                      <a:lnTo>
                        <a:pt x="153" y="59"/>
                      </a:lnTo>
                      <a:lnTo>
                        <a:pt x="160" y="51"/>
                      </a:lnTo>
                      <a:lnTo>
                        <a:pt x="167" y="42"/>
                      </a:lnTo>
                      <a:lnTo>
                        <a:pt x="172" y="36"/>
                      </a:lnTo>
                      <a:lnTo>
                        <a:pt x="178" y="31"/>
                      </a:lnTo>
                      <a:lnTo>
                        <a:pt x="184" y="26"/>
                      </a:lnTo>
                      <a:lnTo>
                        <a:pt x="190" y="21"/>
                      </a:lnTo>
                      <a:lnTo>
                        <a:pt x="196" y="17"/>
                      </a:lnTo>
                      <a:lnTo>
                        <a:pt x="202" y="14"/>
                      </a:lnTo>
                      <a:lnTo>
                        <a:pt x="208" y="11"/>
                      </a:lnTo>
                      <a:lnTo>
                        <a:pt x="215" y="8"/>
                      </a:lnTo>
                      <a:lnTo>
                        <a:pt x="222" y="7"/>
                      </a:lnTo>
                      <a:lnTo>
                        <a:pt x="230" y="5"/>
                      </a:lnTo>
                      <a:lnTo>
                        <a:pt x="237" y="3"/>
                      </a:lnTo>
                      <a:lnTo>
                        <a:pt x="245" y="3"/>
                      </a:lnTo>
                      <a:lnTo>
                        <a:pt x="252" y="2"/>
                      </a:lnTo>
                      <a:lnTo>
                        <a:pt x="260" y="2"/>
                      </a:lnTo>
                      <a:lnTo>
                        <a:pt x="270" y="1"/>
                      </a:lnTo>
                      <a:lnTo>
                        <a:pt x="278" y="2"/>
                      </a:lnTo>
                      <a:lnTo>
                        <a:pt x="285" y="2"/>
                      </a:lnTo>
                      <a:lnTo>
                        <a:pt x="292" y="2"/>
                      </a:lnTo>
                      <a:lnTo>
                        <a:pt x="299" y="2"/>
                      </a:lnTo>
                      <a:lnTo>
                        <a:pt x="307" y="1"/>
                      </a:lnTo>
                      <a:lnTo>
                        <a:pt x="314" y="0"/>
                      </a:lnTo>
                      <a:lnTo>
                        <a:pt x="310" y="2"/>
                      </a:lnTo>
                      <a:lnTo>
                        <a:pt x="307" y="4"/>
                      </a:lnTo>
                      <a:lnTo>
                        <a:pt x="304" y="7"/>
                      </a:lnTo>
                      <a:lnTo>
                        <a:pt x="301" y="10"/>
                      </a:lnTo>
                      <a:lnTo>
                        <a:pt x="295" y="10"/>
                      </a:lnTo>
                      <a:lnTo>
                        <a:pt x="288" y="11"/>
                      </a:lnTo>
                      <a:lnTo>
                        <a:pt x="284" y="12"/>
                      </a:lnTo>
                      <a:lnTo>
                        <a:pt x="278" y="13"/>
                      </a:lnTo>
                      <a:lnTo>
                        <a:pt x="272" y="15"/>
                      </a:lnTo>
                      <a:lnTo>
                        <a:pt x="266" y="16"/>
                      </a:lnTo>
                      <a:lnTo>
                        <a:pt x="260" y="17"/>
                      </a:lnTo>
                      <a:lnTo>
                        <a:pt x="254" y="19"/>
                      </a:lnTo>
                      <a:lnTo>
                        <a:pt x="248" y="21"/>
                      </a:lnTo>
                      <a:lnTo>
                        <a:pt x="241" y="23"/>
                      </a:lnTo>
                      <a:lnTo>
                        <a:pt x="236" y="26"/>
                      </a:lnTo>
                      <a:lnTo>
                        <a:pt x="229" y="29"/>
                      </a:lnTo>
                      <a:lnTo>
                        <a:pt x="222" y="32"/>
                      </a:lnTo>
                      <a:lnTo>
                        <a:pt x="215" y="36"/>
                      </a:lnTo>
                      <a:lnTo>
                        <a:pt x="208" y="41"/>
                      </a:lnTo>
                      <a:lnTo>
                        <a:pt x="201" y="47"/>
                      </a:lnTo>
                      <a:lnTo>
                        <a:pt x="195" y="55"/>
                      </a:lnTo>
                      <a:lnTo>
                        <a:pt x="189" y="64"/>
                      </a:lnTo>
                      <a:lnTo>
                        <a:pt x="181" y="77"/>
                      </a:lnTo>
                      <a:lnTo>
                        <a:pt x="175" y="90"/>
                      </a:lnTo>
                      <a:lnTo>
                        <a:pt x="167" y="106"/>
                      </a:lnTo>
                      <a:lnTo>
                        <a:pt x="180" y="99"/>
                      </a:lnTo>
                      <a:lnTo>
                        <a:pt x="191" y="94"/>
                      </a:lnTo>
                      <a:lnTo>
                        <a:pt x="206" y="86"/>
                      </a:lnTo>
                      <a:lnTo>
                        <a:pt x="222" y="78"/>
                      </a:lnTo>
                      <a:lnTo>
                        <a:pt x="229" y="77"/>
                      </a:lnTo>
                      <a:lnTo>
                        <a:pt x="236" y="74"/>
                      </a:lnTo>
                      <a:lnTo>
                        <a:pt x="243" y="72"/>
                      </a:lnTo>
                      <a:lnTo>
                        <a:pt x="252" y="70"/>
                      </a:lnTo>
                      <a:lnTo>
                        <a:pt x="261" y="68"/>
                      </a:lnTo>
                      <a:lnTo>
                        <a:pt x="269" y="68"/>
                      </a:lnTo>
                      <a:lnTo>
                        <a:pt x="275" y="67"/>
                      </a:lnTo>
                      <a:lnTo>
                        <a:pt x="285" y="66"/>
                      </a:lnTo>
                      <a:lnTo>
                        <a:pt x="294" y="66"/>
                      </a:lnTo>
                      <a:lnTo>
                        <a:pt x="301" y="67"/>
                      </a:lnTo>
                      <a:lnTo>
                        <a:pt x="311" y="68"/>
                      </a:lnTo>
                      <a:lnTo>
                        <a:pt x="319" y="69"/>
                      </a:lnTo>
                      <a:lnTo>
                        <a:pt x="328" y="69"/>
                      </a:lnTo>
                      <a:lnTo>
                        <a:pt x="336" y="70"/>
                      </a:lnTo>
                      <a:lnTo>
                        <a:pt x="345" y="71"/>
                      </a:lnTo>
                      <a:lnTo>
                        <a:pt x="354" y="72"/>
                      </a:lnTo>
                      <a:lnTo>
                        <a:pt x="363" y="73"/>
                      </a:lnTo>
                      <a:lnTo>
                        <a:pt x="371" y="74"/>
                      </a:lnTo>
                      <a:lnTo>
                        <a:pt x="381" y="75"/>
                      </a:lnTo>
                      <a:lnTo>
                        <a:pt x="392" y="76"/>
                      </a:lnTo>
                      <a:lnTo>
                        <a:pt x="401" y="77"/>
                      </a:lnTo>
                      <a:lnTo>
                        <a:pt x="416" y="79"/>
                      </a:lnTo>
                      <a:lnTo>
                        <a:pt x="421" y="79"/>
                      </a:lnTo>
                      <a:lnTo>
                        <a:pt x="425" y="79"/>
                      </a:lnTo>
                      <a:lnTo>
                        <a:pt x="430" y="81"/>
                      </a:lnTo>
                      <a:lnTo>
                        <a:pt x="439" y="84"/>
                      </a:lnTo>
                      <a:lnTo>
                        <a:pt x="424" y="81"/>
                      </a:lnTo>
                      <a:lnTo>
                        <a:pt x="417" y="80"/>
                      </a:lnTo>
                      <a:lnTo>
                        <a:pt x="411" y="80"/>
                      </a:lnTo>
                      <a:lnTo>
                        <a:pt x="397" y="81"/>
                      </a:lnTo>
                      <a:lnTo>
                        <a:pt x="388" y="82"/>
                      </a:lnTo>
                      <a:lnTo>
                        <a:pt x="377" y="82"/>
                      </a:lnTo>
                      <a:lnTo>
                        <a:pt x="367" y="82"/>
                      </a:lnTo>
                      <a:lnTo>
                        <a:pt x="357" y="83"/>
                      </a:lnTo>
                      <a:lnTo>
                        <a:pt x="348" y="83"/>
                      </a:lnTo>
                      <a:lnTo>
                        <a:pt x="340" y="82"/>
                      </a:lnTo>
                      <a:lnTo>
                        <a:pt x="330" y="82"/>
                      </a:lnTo>
                      <a:lnTo>
                        <a:pt x="319" y="82"/>
                      </a:lnTo>
                      <a:lnTo>
                        <a:pt x="310" y="83"/>
                      </a:lnTo>
                      <a:lnTo>
                        <a:pt x="302" y="84"/>
                      </a:lnTo>
                      <a:lnTo>
                        <a:pt x="292" y="84"/>
                      </a:lnTo>
                      <a:lnTo>
                        <a:pt x="285" y="84"/>
                      </a:lnTo>
                      <a:lnTo>
                        <a:pt x="276" y="85"/>
                      </a:lnTo>
                      <a:lnTo>
                        <a:pt x="269" y="87"/>
                      </a:lnTo>
                      <a:lnTo>
                        <a:pt x="261" y="88"/>
                      </a:lnTo>
                      <a:lnTo>
                        <a:pt x="254" y="90"/>
                      </a:lnTo>
                      <a:lnTo>
                        <a:pt x="246" y="92"/>
                      </a:lnTo>
                      <a:lnTo>
                        <a:pt x="238" y="94"/>
                      </a:lnTo>
                      <a:lnTo>
                        <a:pt x="229" y="96"/>
                      </a:lnTo>
                      <a:lnTo>
                        <a:pt x="222" y="98"/>
                      </a:lnTo>
                      <a:lnTo>
                        <a:pt x="208" y="102"/>
                      </a:lnTo>
                      <a:lnTo>
                        <a:pt x="200" y="103"/>
                      </a:lnTo>
                      <a:lnTo>
                        <a:pt x="189" y="108"/>
                      </a:lnTo>
                      <a:lnTo>
                        <a:pt x="172" y="115"/>
                      </a:lnTo>
                      <a:lnTo>
                        <a:pt x="189" y="117"/>
                      </a:lnTo>
                      <a:lnTo>
                        <a:pt x="209" y="118"/>
                      </a:lnTo>
                      <a:lnTo>
                        <a:pt x="213" y="118"/>
                      </a:lnTo>
                      <a:lnTo>
                        <a:pt x="222" y="123"/>
                      </a:lnTo>
                      <a:lnTo>
                        <a:pt x="228" y="126"/>
                      </a:lnTo>
                      <a:lnTo>
                        <a:pt x="234" y="129"/>
                      </a:lnTo>
                      <a:lnTo>
                        <a:pt x="235" y="131"/>
                      </a:lnTo>
                      <a:lnTo>
                        <a:pt x="238" y="137"/>
                      </a:lnTo>
                      <a:lnTo>
                        <a:pt x="245" y="146"/>
                      </a:lnTo>
                      <a:lnTo>
                        <a:pt x="238" y="142"/>
                      </a:lnTo>
                      <a:lnTo>
                        <a:pt x="229" y="137"/>
                      </a:lnTo>
                      <a:lnTo>
                        <a:pt x="222" y="135"/>
                      </a:lnTo>
                      <a:lnTo>
                        <a:pt x="209" y="132"/>
                      </a:lnTo>
                      <a:lnTo>
                        <a:pt x="199" y="129"/>
                      </a:lnTo>
                      <a:lnTo>
                        <a:pt x="189" y="126"/>
                      </a:lnTo>
                      <a:lnTo>
                        <a:pt x="184" y="125"/>
                      </a:lnTo>
                      <a:lnTo>
                        <a:pt x="172" y="126"/>
                      </a:lnTo>
                      <a:lnTo>
                        <a:pt x="165" y="127"/>
                      </a:lnTo>
                      <a:lnTo>
                        <a:pt x="155" y="129"/>
                      </a:lnTo>
                      <a:lnTo>
                        <a:pt x="160" y="131"/>
                      </a:lnTo>
                      <a:lnTo>
                        <a:pt x="166" y="132"/>
                      </a:lnTo>
                      <a:lnTo>
                        <a:pt x="173" y="136"/>
                      </a:lnTo>
                      <a:lnTo>
                        <a:pt x="181" y="135"/>
                      </a:lnTo>
                      <a:lnTo>
                        <a:pt x="195" y="136"/>
                      </a:lnTo>
                      <a:lnTo>
                        <a:pt x="203" y="137"/>
                      </a:lnTo>
                      <a:lnTo>
                        <a:pt x="215" y="140"/>
                      </a:lnTo>
                      <a:lnTo>
                        <a:pt x="222" y="143"/>
                      </a:lnTo>
                      <a:lnTo>
                        <a:pt x="232" y="145"/>
                      </a:lnTo>
                      <a:lnTo>
                        <a:pt x="242" y="148"/>
                      </a:lnTo>
                      <a:lnTo>
                        <a:pt x="251" y="151"/>
                      </a:lnTo>
                      <a:lnTo>
                        <a:pt x="259" y="152"/>
                      </a:lnTo>
                      <a:lnTo>
                        <a:pt x="266" y="153"/>
                      </a:lnTo>
                      <a:lnTo>
                        <a:pt x="273" y="155"/>
                      </a:lnTo>
                      <a:lnTo>
                        <a:pt x="282" y="157"/>
                      </a:lnTo>
                      <a:lnTo>
                        <a:pt x="291" y="161"/>
                      </a:lnTo>
                      <a:lnTo>
                        <a:pt x="299" y="165"/>
                      </a:lnTo>
                      <a:lnTo>
                        <a:pt x="303" y="169"/>
                      </a:lnTo>
                      <a:lnTo>
                        <a:pt x="309" y="175"/>
                      </a:lnTo>
                      <a:lnTo>
                        <a:pt x="316" y="183"/>
                      </a:lnTo>
                      <a:lnTo>
                        <a:pt x="321" y="190"/>
                      </a:lnTo>
                      <a:lnTo>
                        <a:pt x="326" y="197"/>
                      </a:lnTo>
                      <a:lnTo>
                        <a:pt x="331" y="204"/>
                      </a:lnTo>
                      <a:lnTo>
                        <a:pt x="335" y="212"/>
                      </a:lnTo>
                      <a:lnTo>
                        <a:pt x="340" y="218"/>
                      </a:lnTo>
                      <a:lnTo>
                        <a:pt x="345" y="226"/>
                      </a:lnTo>
                      <a:lnTo>
                        <a:pt x="351" y="234"/>
                      </a:lnTo>
                      <a:lnTo>
                        <a:pt x="356" y="243"/>
                      </a:lnTo>
                      <a:lnTo>
                        <a:pt x="361" y="250"/>
                      </a:lnTo>
                      <a:lnTo>
                        <a:pt x="368" y="258"/>
                      </a:lnTo>
                      <a:lnTo>
                        <a:pt x="359" y="251"/>
                      </a:lnTo>
                      <a:lnTo>
                        <a:pt x="353" y="247"/>
                      </a:lnTo>
                      <a:lnTo>
                        <a:pt x="344" y="242"/>
                      </a:lnTo>
                      <a:lnTo>
                        <a:pt x="336" y="236"/>
                      </a:lnTo>
                      <a:lnTo>
                        <a:pt x="330" y="231"/>
                      </a:lnTo>
                      <a:lnTo>
                        <a:pt x="323" y="226"/>
                      </a:lnTo>
                      <a:lnTo>
                        <a:pt x="317" y="222"/>
                      </a:lnTo>
                      <a:lnTo>
                        <a:pt x="311" y="218"/>
                      </a:lnTo>
                      <a:lnTo>
                        <a:pt x="304" y="214"/>
                      </a:lnTo>
                      <a:lnTo>
                        <a:pt x="297" y="210"/>
                      </a:lnTo>
                      <a:lnTo>
                        <a:pt x="291" y="205"/>
                      </a:lnTo>
                      <a:lnTo>
                        <a:pt x="284" y="200"/>
                      </a:lnTo>
                      <a:lnTo>
                        <a:pt x="275" y="195"/>
                      </a:lnTo>
                      <a:lnTo>
                        <a:pt x="267" y="189"/>
                      </a:lnTo>
                      <a:lnTo>
                        <a:pt x="259" y="183"/>
                      </a:lnTo>
                      <a:lnTo>
                        <a:pt x="252" y="179"/>
                      </a:lnTo>
                      <a:lnTo>
                        <a:pt x="245" y="174"/>
                      </a:lnTo>
                      <a:lnTo>
                        <a:pt x="237" y="170"/>
                      </a:lnTo>
                      <a:lnTo>
                        <a:pt x="229" y="167"/>
                      </a:lnTo>
                      <a:lnTo>
                        <a:pt x="222" y="165"/>
                      </a:lnTo>
                      <a:lnTo>
                        <a:pt x="211" y="162"/>
                      </a:lnTo>
                      <a:lnTo>
                        <a:pt x="201" y="159"/>
                      </a:lnTo>
                      <a:lnTo>
                        <a:pt x="194" y="157"/>
                      </a:lnTo>
                      <a:lnTo>
                        <a:pt x="186" y="155"/>
                      </a:lnTo>
                      <a:lnTo>
                        <a:pt x="175" y="149"/>
                      </a:lnTo>
                      <a:lnTo>
                        <a:pt x="163" y="144"/>
                      </a:lnTo>
                      <a:lnTo>
                        <a:pt x="180" y="155"/>
                      </a:lnTo>
                      <a:lnTo>
                        <a:pt x="182" y="157"/>
                      </a:lnTo>
                      <a:lnTo>
                        <a:pt x="186" y="162"/>
                      </a:lnTo>
                      <a:lnTo>
                        <a:pt x="190" y="168"/>
                      </a:lnTo>
                      <a:lnTo>
                        <a:pt x="195" y="175"/>
                      </a:lnTo>
                      <a:lnTo>
                        <a:pt x="201" y="182"/>
                      </a:lnTo>
                      <a:lnTo>
                        <a:pt x="206" y="189"/>
                      </a:lnTo>
                      <a:lnTo>
                        <a:pt x="212" y="197"/>
                      </a:lnTo>
                      <a:lnTo>
                        <a:pt x="217" y="204"/>
                      </a:lnTo>
                      <a:lnTo>
                        <a:pt x="222" y="210"/>
                      </a:lnTo>
                      <a:lnTo>
                        <a:pt x="227" y="217"/>
                      </a:lnTo>
                      <a:lnTo>
                        <a:pt x="233" y="227"/>
                      </a:lnTo>
                      <a:lnTo>
                        <a:pt x="238" y="234"/>
                      </a:lnTo>
                      <a:lnTo>
                        <a:pt x="242" y="241"/>
                      </a:lnTo>
                      <a:lnTo>
                        <a:pt x="246" y="248"/>
                      </a:lnTo>
                      <a:lnTo>
                        <a:pt x="250" y="255"/>
                      </a:lnTo>
                      <a:lnTo>
                        <a:pt x="252" y="262"/>
                      </a:lnTo>
                      <a:lnTo>
                        <a:pt x="254" y="267"/>
                      </a:lnTo>
                      <a:lnTo>
                        <a:pt x="256" y="275"/>
                      </a:lnTo>
                      <a:lnTo>
                        <a:pt x="257" y="285"/>
                      </a:lnTo>
                      <a:lnTo>
                        <a:pt x="258" y="294"/>
                      </a:lnTo>
                      <a:lnTo>
                        <a:pt x="259" y="304"/>
                      </a:lnTo>
                      <a:lnTo>
                        <a:pt x="261" y="313"/>
                      </a:lnTo>
                      <a:lnTo>
                        <a:pt x="262" y="323"/>
                      </a:lnTo>
                      <a:lnTo>
                        <a:pt x="255" y="313"/>
                      </a:lnTo>
                      <a:lnTo>
                        <a:pt x="249" y="307"/>
                      </a:lnTo>
                      <a:lnTo>
                        <a:pt x="245" y="300"/>
                      </a:lnTo>
                      <a:lnTo>
                        <a:pt x="241" y="295"/>
                      </a:lnTo>
                      <a:lnTo>
                        <a:pt x="238" y="288"/>
                      </a:lnTo>
                      <a:lnTo>
                        <a:pt x="236" y="280"/>
                      </a:lnTo>
                      <a:lnTo>
                        <a:pt x="232" y="271"/>
                      </a:lnTo>
                      <a:lnTo>
                        <a:pt x="228" y="263"/>
                      </a:lnTo>
                      <a:lnTo>
                        <a:pt x="224" y="254"/>
                      </a:lnTo>
                      <a:lnTo>
                        <a:pt x="221" y="246"/>
                      </a:lnTo>
                      <a:lnTo>
                        <a:pt x="217" y="238"/>
                      </a:lnTo>
                      <a:lnTo>
                        <a:pt x="212" y="232"/>
                      </a:lnTo>
                      <a:lnTo>
                        <a:pt x="208" y="226"/>
                      </a:lnTo>
                      <a:lnTo>
                        <a:pt x="202" y="218"/>
                      </a:lnTo>
                      <a:lnTo>
                        <a:pt x="196" y="211"/>
                      </a:lnTo>
                      <a:lnTo>
                        <a:pt x="191" y="205"/>
                      </a:lnTo>
                      <a:lnTo>
                        <a:pt x="186" y="199"/>
                      </a:lnTo>
                      <a:lnTo>
                        <a:pt x="185" y="194"/>
                      </a:lnTo>
                      <a:lnTo>
                        <a:pt x="181" y="185"/>
                      </a:lnTo>
                      <a:lnTo>
                        <a:pt x="177" y="179"/>
                      </a:lnTo>
                      <a:lnTo>
                        <a:pt x="174" y="171"/>
                      </a:lnTo>
                      <a:lnTo>
                        <a:pt x="172" y="169"/>
                      </a:lnTo>
                      <a:lnTo>
                        <a:pt x="165" y="162"/>
                      </a:lnTo>
                      <a:lnTo>
                        <a:pt x="161" y="155"/>
                      </a:lnTo>
                      <a:lnTo>
                        <a:pt x="157" y="149"/>
                      </a:lnTo>
                      <a:lnTo>
                        <a:pt x="153" y="143"/>
                      </a:lnTo>
                      <a:lnTo>
                        <a:pt x="145" y="146"/>
                      </a:lnTo>
                      <a:lnTo>
                        <a:pt x="137" y="151"/>
                      </a:lnTo>
                      <a:lnTo>
                        <a:pt x="129" y="158"/>
                      </a:lnTo>
                      <a:lnTo>
                        <a:pt x="121" y="164"/>
                      </a:lnTo>
                      <a:lnTo>
                        <a:pt x="115" y="170"/>
                      </a:lnTo>
                      <a:lnTo>
                        <a:pt x="110" y="176"/>
                      </a:lnTo>
                      <a:lnTo>
                        <a:pt x="104" y="185"/>
                      </a:lnTo>
                      <a:lnTo>
                        <a:pt x="97" y="195"/>
                      </a:lnTo>
                      <a:lnTo>
                        <a:pt x="92" y="203"/>
                      </a:lnTo>
                      <a:lnTo>
                        <a:pt x="85" y="212"/>
                      </a:lnTo>
                      <a:lnTo>
                        <a:pt x="80" y="221"/>
                      </a:lnTo>
                      <a:lnTo>
                        <a:pt x="76" y="229"/>
                      </a:lnTo>
                      <a:lnTo>
                        <a:pt x="71" y="237"/>
                      </a:lnTo>
                      <a:lnTo>
                        <a:pt x="67" y="245"/>
                      </a:lnTo>
                      <a:lnTo>
                        <a:pt x="62" y="254"/>
                      </a:lnTo>
                      <a:lnTo>
                        <a:pt x="58" y="263"/>
                      </a:lnTo>
                      <a:lnTo>
                        <a:pt x="51" y="273"/>
                      </a:lnTo>
                      <a:lnTo>
                        <a:pt x="45" y="283"/>
                      </a:lnTo>
                      <a:lnTo>
                        <a:pt x="38" y="294"/>
                      </a:lnTo>
                      <a:lnTo>
                        <a:pt x="33" y="303"/>
                      </a:lnTo>
                      <a:lnTo>
                        <a:pt x="28" y="309"/>
                      </a:lnTo>
                      <a:lnTo>
                        <a:pt x="24" y="315"/>
                      </a:lnTo>
                      <a:lnTo>
                        <a:pt x="18" y="321"/>
                      </a:lnTo>
                      <a:lnTo>
                        <a:pt x="13" y="327"/>
                      </a:lnTo>
                      <a:lnTo>
                        <a:pt x="7" y="333"/>
                      </a:lnTo>
                      <a:lnTo>
                        <a:pt x="0" y="341"/>
                      </a:lnTo>
                      <a:lnTo>
                        <a:pt x="2" y="331"/>
                      </a:lnTo>
                      <a:lnTo>
                        <a:pt x="5" y="324"/>
                      </a:lnTo>
                      <a:lnTo>
                        <a:pt x="8" y="315"/>
                      </a:lnTo>
                      <a:lnTo>
                        <a:pt x="13" y="309"/>
                      </a:lnTo>
                      <a:lnTo>
                        <a:pt x="20" y="298"/>
                      </a:lnTo>
                      <a:lnTo>
                        <a:pt x="27" y="287"/>
                      </a:lnTo>
                      <a:lnTo>
                        <a:pt x="35" y="275"/>
                      </a:lnTo>
                      <a:lnTo>
                        <a:pt x="41" y="265"/>
                      </a:lnTo>
                      <a:lnTo>
                        <a:pt x="47" y="255"/>
                      </a:lnTo>
                      <a:lnTo>
                        <a:pt x="54" y="246"/>
                      </a:lnTo>
                      <a:lnTo>
                        <a:pt x="59" y="238"/>
                      </a:lnTo>
                      <a:lnTo>
                        <a:pt x="64" y="231"/>
                      </a:lnTo>
                      <a:lnTo>
                        <a:pt x="69" y="224"/>
                      </a:lnTo>
                      <a:lnTo>
                        <a:pt x="76" y="216"/>
                      </a:lnTo>
                      <a:lnTo>
                        <a:pt x="82" y="208"/>
                      </a:lnTo>
                      <a:lnTo>
                        <a:pt x="88" y="199"/>
                      </a:lnTo>
                      <a:lnTo>
                        <a:pt x="95" y="190"/>
                      </a:lnTo>
                      <a:lnTo>
                        <a:pt x="100" y="183"/>
                      </a:lnTo>
                      <a:lnTo>
                        <a:pt x="105" y="175"/>
                      </a:lnTo>
                      <a:lnTo>
                        <a:pt x="110" y="167"/>
                      </a:lnTo>
                      <a:lnTo>
                        <a:pt x="112" y="162"/>
                      </a:lnTo>
                      <a:lnTo>
                        <a:pt x="114" y="156"/>
                      </a:lnTo>
                      <a:lnTo>
                        <a:pt x="118" y="151"/>
                      </a:lnTo>
                      <a:lnTo>
                        <a:pt x="122" y="145"/>
                      </a:lnTo>
                      <a:lnTo>
                        <a:pt x="129" y="138"/>
                      </a:lnTo>
                      <a:lnTo>
                        <a:pt x="134" y="131"/>
                      </a:lnTo>
                      <a:lnTo>
                        <a:pt x="139" y="126"/>
                      </a:lnTo>
                      <a:lnTo>
                        <a:pt x="143" y="119"/>
                      </a:lnTo>
                      <a:lnTo>
                        <a:pt x="141" y="114"/>
                      </a:lnTo>
                      <a:lnTo>
                        <a:pt x="139" y="106"/>
                      </a:lnTo>
                      <a:lnTo>
                        <a:pt x="127" y="102"/>
                      </a:lnTo>
                      <a:lnTo>
                        <a:pt x="113" y="92"/>
                      </a:lnTo>
                      <a:lnTo>
                        <a:pt x="99" y="83"/>
                      </a:lnTo>
                      <a:lnTo>
                        <a:pt x="92" y="78"/>
                      </a:lnTo>
                      <a:lnTo>
                        <a:pt x="86" y="74"/>
                      </a:lnTo>
                      <a:lnTo>
                        <a:pt x="75" y="70"/>
                      </a:lnTo>
                      <a:lnTo>
                        <a:pt x="64" y="66"/>
                      </a:lnTo>
                      <a:lnTo>
                        <a:pt x="52" y="63"/>
                      </a:lnTo>
                      <a:lnTo>
                        <a:pt x="43" y="60"/>
                      </a:lnTo>
                      <a:lnTo>
                        <a:pt x="33" y="56"/>
                      </a:lnTo>
                      <a:lnTo>
                        <a:pt x="24" y="53"/>
                      </a:lnTo>
                      <a:lnTo>
                        <a:pt x="15" y="51"/>
                      </a:lnTo>
                      <a:lnTo>
                        <a:pt x="8" y="49"/>
                      </a:lnTo>
                      <a:lnTo>
                        <a:pt x="15" y="49"/>
                      </a:lnTo>
                      <a:lnTo>
                        <a:pt x="20" y="47"/>
                      </a:lnTo>
                      <a:lnTo>
                        <a:pt x="25" y="47"/>
                      </a:lnTo>
                      <a:lnTo>
                        <a:pt x="29" y="46"/>
                      </a:lnTo>
                      <a:lnTo>
                        <a:pt x="34" y="47"/>
                      </a:lnTo>
                      <a:lnTo>
                        <a:pt x="45" y="51"/>
                      </a:lnTo>
                      <a:lnTo>
                        <a:pt x="53" y="56"/>
                      </a:lnTo>
                      <a:lnTo>
                        <a:pt x="63" y="61"/>
                      </a:lnTo>
                      <a:lnTo>
                        <a:pt x="72" y="66"/>
                      </a:lnTo>
                      <a:lnTo>
                        <a:pt x="84" y="71"/>
                      </a:lnTo>
                      <a:lnTo>
                        <a:pt x="93" y="77"/>
                      </a:lnTo>
                      <a:lnTo>
                        <a:pt x="101" y="81"/>
                      </a:lnTo>
                      <a:lnTo>
                        <a:pt x="115" y="88"/>
                      </a:lnTo>
                      <a:lnTo>
                        <a:pt x="122" y="90"/>
                      </a:lnTo>
                      <a:lnTo>
                        <a:pt x="128" y="89"/>
                      </a:lnTo>
                      <a:lnTo>
                        <a:pt x="133" y="88"/>
                      </a:lnTo>
                      <a:lnTo>
                        <a:pt x="138" y="87"/>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5" name="Freeform 17"/>
                <p:cNvSpPr>
                  <a:spLocks/>
                </p:cNvSpPr>
                <p:nvPr/>
              </p:nvSpPr>
              <p:spPr bwMode="ltGray">
                <a:xfrm>
                  <a:off x="1900" y="1641"/>
                  <a:ext cx="39" cy="193"/>
                </a:xfrm>
                <a:custGeom>
                  <a:avLst/>
                  <a:gdLst>
                    <a:gd name="T0" fmla="*/ 20 w 39"/>
                    <a:gd name="T1" fmla="*/ 0 h 193"/>
                    <a:gd name="T2" fmla="*/ 25 w 39"/>
                    <a:gd name="T3" fmla="*/ 9 h 193"/>
                    <a:gd name="T4" fmla="*/ 28 w 39"/>
                    <a:gd name="T5" fmla="*/ 15 h 193"/>
                    <a:gd name="T6" fmla="*/ 34 w 39"/>
                    <a:gd name="T7" fmla="*/ 24 h 193"/>
                    <a:gd name="T8" fmla="*/ 36 w 39"/>
                    <a:gd name="T9" fmla="*/ 33 h 193"/>
                    <a:gd name="T10" fmla="*/ 37 w 39"/>
                    <a:gd name="T11" fmla="*/ 43 h 193"/>
                    <a:gd name="T12" fmla="*/ 37 w 39"/>
                    <a:gd name="T13" fmla="*/ 56 h 193"/>
                    <a:gd name="T14" fmla="*/ 38 w 39"/>
                    <a:gd name="T15" fmla="*/ 64 h 193"/>
                    <a:gd name="T16" fmla="*/ 37 w 39"/>
                    <a:gd name="T17" fmla="*/ 75 h 193"/>
                    <a:gd name="T18" fmla="*/ 36 w 39"/>
                    <a:gd name="T19" fmla="*/ 86 h 193"/>
                    <a:gd name="T20" fmla="*/ 34 w 39"/>
                    <a:gd name="T21" fmla="*/ 97 h 193"/>
                    <a:gd name="T22" fmla="*/ 31 w 39"/>
                    <a:gd name="T23" fmla="*/ 113 h 193"/>
                    <a:gd name="T24" fmla="*/ 29 w 39"/>
                    <a:gd name="T25" fmla="*/ 122 h 193"/>
                    <a:gd name="T26" fmla="*/ 24 w 39"/>
                    <a:gd name="T27" fmla="*/ 132 h 193"/>
                    <a:gd name="T28" fmla="*/ 18 w 39"/>
                    <a:gd name="T29" fmla="*/ 144 h 193"/>
                    <a:gd name="T30" fmla="*/ 12 w 39"/>
                    <a:gd name="T31" fmla="*/ 155 h 193"/>
                    <a:gd name="T32" fmla="*/ 7 w 39"/>
                    <a:gd name="T33" fmla="*/ 165 h 193"/>
                    <a:gd name="T34" fmla="*/ 3 w 39"/>
                    <a:gd name="T35" fmla="*/ 174 h 193"/>
                    <a:gd name="T36" fmla="*/ 0 w 39"/>
                    <a:gd name="T37" fmla="*/ 192 h 193"/>
                    <a:gd name="T38" fmla="*/ 1 w 39"/>
                    <a:gd name="T39" fmla="*/ 174 h 193"/>
                    <a:gd name="T40" fmla="*/ 3 w 39"/>
                    <a:gd name="T41" fmla="*/ 162 h 193"/>
                    <a:gd name="T42" fmla="*/ 4 w 39"/>
                    <a:gd name="T43" fmla="*/ 151 h 193"/>
                    <a:gd name="T44" fmla="*/ 5 w 39"/>
                    <a:gd name="T45" fmla="*/ 139 h 193"/>
                    <a:gd name="T46" fmla="*/ 7 w 39"/>
                    <a:gd name="T47" fmla="*/ 124 h 193"/>
                    <a:gd name="T48" fmla="*/ 10 w 39"/>
                    <a:gd name="T49" fmla="*/ 113 h 193"/>
                    <a:gd name="T50" fmla="*/ 12 w 39"/>
                    <a:gd name="T51" fmla="*/ 102 h 193"/>
                    <a:gd name="T52" fmla="*/ 15 w 39"/>
                    <a:gd name="T53" fmla="*/ 93 h 193"/>
                    <a:gd name="T54" fmla="*/ 18 w 39"/>
                    <a:gd name="T55" fmla="*/ 82 h 193"/>
                    <a:gd name="T56" fmla="*/ 20 w 39"/>
                    <a:gd name="T57" fmla="*/ 72 h 193"/>
                    <a:gd name="T58" fmla="*/ 22 w 39"/>
                    <a:gd name="T59" fmla="*/ 61 h 193"/>
                    <a:gd name="T60" fmla="*/ 23 w 39"/>
                    <a:gd name="T61" fmla="*/ 52 h 193"/>
                    <a:gd name="T62" fmla="*/ 24 w 39"/>
                    <a:gd name="T63" fmla="*/ 41 h 193"/>
                    <a:gd name="T64" fmla="*/ 24 w 39"/>
                    <a:gd name="T65" fmla="*/ 30 h 193"/>
                    <a:gd name="T66" fmla="*/ 24 w 39"/>
                    <a:gd name="T67" fmla="*/ 15 h 193"/>
                    <a:gd name="T68" fmla="*/ 22 w 39"/>
                    <a:gd name="T69" fmla="*/ 8 h 193"/>
                    <a:gd name="T70" fmla="*/ 20 w 39"/>
                    <a:gd name="T71" fmla="*/ 0 h 19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9" h="193">
                      <a:moveTo>
                        <a:pt x="20" y="0"/>
                      </a:moveTo>
                      <a:lnTo>
                        <a:pt x="25" y="9"/>
                      </a:lnTo>
                      <a:lnTo>
                        <a:pt x="28" y="15"/>
                      </a:lnTo>
                      <a:lnTo>
                        <a:pt x="34" y="24"/>
                      </a:lnTo>
                      <a:lnTo>
                        <a:pt x="36" y="33"/>
                      </a:lnTo>
                      <a:lnTo>
                        <a:pt x="37" y="43"/>
                      </a:lnTo>
                      <a:lnTo>
                        <a:pt x="37" y="56"/>
                      </a:lnTo>
                      <a:lnTo>
                        <a:pt x="38" y="64"/>
                      </a:lnTo>
                      <a:lnTo>
                        <a:pt x="37" y="75"/>
                      </a:lnTo>
                      <a:lnTo>
                        <a:pt x="36" y="86"/>
                      </a:lnTo>
                      <a:lnTo>
                        <a:pt x="34" y="97"/>
                      </a:lnTo>
                      <a:lnTo>
                        <a:pt x="31" y="113"/>
                      </a:lnTo>
                      <a:lnTo>
                        <a:pt x="29" y="122"/>
                      </a:lnTo>
                      <a:lnTo>
                        <a:pt x="24" y="132"/>
                      </a:lnTo>
                      <a:lnTo>
                        <a:pt x="18" y="144"/>
                      </a:lnTo>
                      <a:lnTo>
                        <a:pt x="12" y="155"/>
                      </a:lnTo>
                      <a:lnTo>
                        <a:pt x="7" y="165"/>
                      </a:lnTo>
                      <a:lnTo>
                        <a:pt x="3" y="174"/>
                      </a:lnTo>
                      <a:lnTo>
                        <a:pt x="0" y="192"/>
                      </a:lnTo>
                      <a:lnTo>
                        <a:pt x="1" y="174"/>
                      </a:lnTo>
                      <a:lnTo>
                        <a:pt x="3" y="162"/>
                      </a:lnTo>
                      <a:lnTo>
                        <a:pt x="4" y="151"/>
                      </a:lnTo>
                      <a:lnTo>
                        <a:pt x="5" y="139"/>
                      </a:lnTo>
                      <a:lnTo>
                        <a:pt x="7" y="124"/>
                      </a:lnTo>
                      <a:lnTo>
                        <a:pt x="10" y="113"/>
                      </a:lnTo>
                      <a:lnTo>
                        <a:pt x="12" y="102"/>
                      </a:lnTo>
                      <a:lnTo>
                        <a:pt x="15" y="93"/>
                      </a:lnTo>
                      <a:lnTo>
                        <a:pt x="18" y="82"/>
                      </a:lnTo>
                      <a:lnTo>
                        <a:pt x="20" y="72"/>
                      </a:lnTo>
                      <a:lnTo>
                        <a:pt x="22" y="61"/>
                      </a:lnTo>
                      <a:lnTo>
                        <a:pt x="23" y="52"/>
                      </a:lnTo>
                      <a:lnTo>
                        <a:pt x="24" y="41"/>
                      </a:lnTo>
                      <a:lnTo>
                        <a:pt x="24" y="30"/>
                      </a:lnTo>
                      <a:lnTo>
                        <a:pt x="24" y="15"/>
                      </a:lnTo>
                      <a:lnTo>
                        <a:pt x="22" y="8"/>
                      </a:lnTo>
                      <a:lnTo>
                        <a:pt x="20" y="0"/>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6" name="Freeform 18"/>
                <p:cNvSpPr>
                  <a:spLocks/>
                </p:cNvSpPr>
                <p:nvPr/>
              </p:nvSpPr>
              <p:spPr bwMode="ltGray">
                <a:xfrm>
                  <a:off x="1716" y="1535"/>
                  <a:ext cx="171" cy="50"/>
                </a:xfrm>
                <a:custGeom>
                  <a:avLst/>
                  <a:gdLst>
                    <a:gd name="T0" fmla="*/ 170 w 171"/>
                    <a:gd name="T1" fmla="*/ 49 h 50"/>
                    <a:gd name="T2" fmla="*/ 167 w 171"/>
                    <a:gd name="T3" fmla="*/ 40 h 50"/>
                    <a:gd name="T4" fmla="*/ 163 w 171"/>
                    <a:gd name="T5" fmla="*/ 33 h 50"/>
                    <a:gd name="T6" fmla="*/ 160 w 171"/>
                    <a:gd name="T7" fmla="*/ 31 h 50"/>
                    <a:gd name="T8" fmla="*/ 153 w 171"/>
                    <a:gd name="T9" fmla="*/ 29 h 50"/>
                    <a:gd name="T10" fmla="*/ 147 w 171"/>
                    <a:gd name="T11" fmla="*/ 27 h 50"/>
                    <a:gd name="T12" fmla="*/ 140 w 171"/>
                    <a:gd name="T13" fmla="*/ 29 h 50"/>
                    <a:gd name="T14" fmla="*/ 132 w 171"/>
                    <a:gd name="T15" fmla="*/ 30 h 50"/>
                    <a:gd name="T16" fmla="*/ 123 w 171"/>
                    <a:gd name="T17" fmla="*/ 27 h 50"/>
                    <a:gd name="T18" fmla="*/ 111 w 171"/>
                    <a:gd name="T19" fmla="*/ 22 h 50"/>
                    <a:gd name="T20" fmla="*/ 100 w 171"/>
                    <a:gd name="T21" fmla="*/ 18 h 50"/>
                    <a:gd name="T22" fmla="*/ 92 w 171"/>
                    <a:gd name="T23" fmla="*/ 16 h 50"/>
                    <a:gd name="T24" fmla="*/ 80 w 171"/>
                    <a:gd name="T25" fmla="*/ 12 h 50"/>
                    <a:gd name="T26" fmla="*/ 67 w 171"/>
                    <a:gd name="T27" fmla="*/ 8 h 50"/>
                    <a:gd name="T28" fmla="*/ 55 w 171"/>
                    <a:gd name="T29" fmla="*/ 5 h 50"/>
                    <a:gd name="T30" fmla="*/ 42 w 171"/>
                    <a:gd name="T31" fmla="*/ 1 h 50"/>
                    <a:gd name="T32" fmla="*/ 28 w 171"/>
                    <a:gd name="T33" fmla="*/ 1 h 50"/>
                    <a:gd name="T34" fmla="*/ 15 w 171"/>
                    <a:gd name="T35" fmla="*/ 0 h 50"/>
                    <a:gd name="T36" fmla="*/ 12 w 171"/>
                    <a:gd name="T37" fmla="*/ 1 h 50"/>
                    <a:gd name="T38" fmla="*/ 7 w 171"/>
                    <a:gd name="T39" fmla="*/ 4 h 50"/>
                    <a:gd name="T40" fmla="*/ 3 w 171"/>
                    <a:gd name="T41" fmla="*/ 7 h 50"/>
                    <a:gd name="T42" fmla="*/ 0 w 171"/>
                    <a:gd name="T43" fmla="*/ 11 h 50"/>
                    <a:gd name="T44" fmla="*/ 5 w 171"/>
                    <a:gd name="T45" fmla="*/ 11 h 50"/>
                    <a:gd name="T46" fmla="*/ 12 w 171"/>
                    <a:gd name="T47" fmla="*/ 12 h 50"/>
                    <a:gd name="T48" fmla="*/ 19 w 171"/>
                    <a:gd name="T49" fmla="*/ 12 h 50"/>
                    <a:gd name="T50" fmla="*/ 23 w 171"/>
                    <a:gd name="T51" fmla="*/ 11 h 50"/>
                    <a:gd name="T52" fmla="*/ 30 w 171"/>
                    <a:gd name="T53" fmla="*/ 11 h 50"/>
                    <a:gd name="T54" fmla="*/ 39 w 171"/>
                    <a:gd name="T55" fmla="*/ 11 h 50"/>
                    <a:gd name="T56" fmla="*/ 51 w 171"/>
                    <a:gd name="T57" fmla="*/ 11 h 50"/>
                    <a:gd name="T58" fmla="*/ 61 w 171"/>
                    <a:gd name="T59" fmla="*/ 12 h 50"/>
                    <a:gd name="T60" fmla="*/ 71 w 171"/>
                    <a:gd name="T61" fmla="*/ 14 h 50"/>
                    <a:gd name="T62" fmla="*/ 81 w 171"/>
                    <a:gd name="T63" fmla="*/ 15 h 50"/>
                    <a:gd name="T64" fmla="*/ 91 w 171"/>
                    <a:gd name="T65" fmla="*/ 16 h 50"/>
                    <a:gd name="T66" fmla="*/ 99 w 171"/>
                    <a:gd name="T67" fmla="*/ 19 h 50"/>
                    <a:gd name="T68" fmla="*/ 108 w 171"/>
                    <a:gd name="T69" fmla="*/ 23 h 50"/>
                    <a:gd name="T70" fmla="*/ 116 w 171"/>
                    <a:gd name="T71" fmla="*/ 27 h 50"/>
                    <a:gd name="T72" fmla="*/ 125 w 171"/>
                    <a:gd name="T73" fmla="*/ 31 h 50"/>
                    <a:gd name="T74" fmla="*/ 129 w 171"/>
                    <a:gd name="T75" fmla="*/ 32 h 50"/>
                    <a:gd name="T76" fmla="*/ 134 w 171"/>
                    <a:gd name="T77" fmla="*/ 31 h 50"/>
                    <a:gd name="T78" fmla="*/ 140 w 171"/>
                    <a:gd name="T79" fmla="*/ 34 h 50"/>
                    <a:gd name="T80" fmla="*/ 146 w 171"/>
                    <a:gd name="T81" fmla="*/ 37 h 50"/>
                    <a:gd name="T82" fmla="*/ 152 w 171"/>
                    <a:gd name="T83" fmla="*/ 40 h 50"/>
                    <a:gd name="T84" fmla="*/ 161 w 171"/>
                    <a:gd name="T85" fmla="*/ 44 h 50"/>
                    <a:gd name="T86" fmla="*/ 167 w 171"/>
                    <a:gd name="T87" fmla="*/ 46 h 50"/>
                    <a:gd name="T88" fmla="*/ 170 w 171"/>
                    <a:gd name="T89" fmla="*/ 49 h 5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71" h="50">
                      <a:moveTo>
                        <a:pt x="170" y="49"/>
                      </a:moveTo>
                      <a:lnTo>
                        <a:pt x="167" y="40"/>
                      </a:lnTo>
                      <a:lnTo>
                        <a:pt x="163" y="33"/>
                      </a:lnTo>
                      <a:lnTo>
                        <a:pt x="160" y="31"/>
                      </a:lnTo>
                      <a:lnTo>
                        <a:pt x="153" y="29"/>
                      </a:lnTo>
                      <a:lnTo>
                        <a:pt x="147" y="27"/>
                      </a:lnTo>
                      <a:lnTo>
                        <a:pt x="140" y="29"/>
                      </a:lnTo>
                      <a:lnTo>
                        <a:pt x="132" y="30"/>
                      </a:lnTo>
                      <a:lnTo>
                        <a:pt x="123" y="27"/>
                      </a:lnTo>
                      <a:lnTo>
                        <a:pt x="111" y="22"/>
                      </a:lnTo>
                      <a:lnTo>
                        <a:pt x="100" y="18"/>
                      </a:lnTo>
                      <a:lnTo>
                        <a:pt x="92" y="16"/>
                      </a:lnTo>
                      <a:lnTo>
                        <a:pt x="80" y="12"/>
                      </a:lnTo>
                      <a:lnTo>
                        <a:pt x="67" y="8"/>
                      </a:lnTo>
                      <a:lnTo>
                        <a:pt x="55" y="5"/>
                      </a:lnTo>
                      <a:lnTo>
                        <a:pt x="42" y="1"/>
                      </a:lnTo>
                      <a:lnTo>
                        <a:pt x="28" y="1"/>
                      </a:lnTo>
                      <a:lnTo>
                        <a:pt x="15" y="0"/>
                      </a:lnTo>
                      <a:lnTo>
                        <a:pt x="12" y="1"/>
                      </a:lnTo>
                      <a:lnTo>
                        <a:pt x="7" y="4"/>
                      </a:lnTo>
                      <a:lnTo>
                        <a:pt x="3" y="7"/>
                      </a:lnTo>
                      <a:lnTo>
                        <a:pt x="0" y="11"/>
                      </a:lnTo>
                      <a:lnTo>
                        <a:pt x="5" y="11"/>
                      </a:lnTo>
                      <a:lnTo>
                        <a:pt x="12" y="12"/>
                      </a:lnTo>
                      <a:lnTo>
                        <a:pt x="19" y="12"/>
                      </a:lnTo>
                      <a:lnTo>
                        <a:pt x="23" y="11"/>
                      </a:lnTo>
                      <a:lnTo>
                        <a:pt x="30" y="11"/>
                      </a:lnTo>
                      <a:lnTo>
                        <a:pt x="39" y="11"/>
                      </a:lnTo>
                      <a:lnTo>
                        <a:pt x="51" y="11"/>
                      </a:lnTo>
                      <a:lnTo>
                        <a:pt x="61" y="12"/>
                      </a:lnTo>
                      <a:lnTo>
                        <a:pt x="71" y="14"/>
                      </a:lnTo>
                      <a:lnTo>
                        <a:pt x="81" y="15"/>
                      </a:lnTo>
                      <a:lnTo>
                        <a:pt x="91" y="16"/>
                      </a:lnTo>
                      <a:lnTo>
                        <a:pt x="99" y="19"/>
                      </a:lnTo>
                      <a:lnTo>
                        <a:pt x="108" y="23"/>
                      </a:lnTo>
                      <a:lnTo>
                        <a:pt x="116" y="27"/>
                      </a:lnTo>
                      <a:lnTo>
                        <a:pt x="125" y="31"/>
                      </a:lnTo>
                      <a:lnTo>
                        <a:pt x="129" y="32"/>
                      </a:lnTo>
                      <a:lnTo>
                        <a:pt x="134" y="31"/>
                      </a:lnTo>
                      <a:lnTo>
                        <a:pt x="140" y="34"/>
                      </a:lnTo>
                      <a:lnTo>
                        <a:pt x="146" y="37"/>
                      </a:lnTo>
                      <a:lnTo>
                        <a:pt x="152" y="40"/>
                      </a:lnTo>
                      <a:lnTo>
                        <a:pt x="161" y="44"/>
                      </a:lnTo>
                      <a:lnTo>
                        <a:pt x="167" y="46"/>
                      </a:lnTo>
                      <a:lnTo>
                        <a:pt x="170" y="49"/>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67" name="Freeform 19"/>
                <p:cNvSpPr>
                  <a:spLocks/>
                </p:cNvSpPr>
                <p:nvPr/>
              </p:nvSpPr>
              <p:spPr bwMode="ltGray">
                <a:xfrm>
                  <a:off x="1707" y="1563"/>
                  <a:ext cx="177" cy="21"/>
                </a:xfrm>
                <a:custGeom>
                  <a:avLst/>
                  <a:gdLst>
                    <a:gd name="T0" fmla="*/ 176 w 177"/>
                    <a:gd name="T1" fmla="*/ 20 h 21"/>
                    <a:gd name="T2" fmla="*/ 171 w 177"/>
                    <a:gd name="T3" fmla="*/ 18 h 21"/>
                    <a:gd name="T4" fmla="*/ 166 w 177"/>
                    <a:gd name="T5" fmla="*/ 16 h 21"/>
                    <a:gd name="T6" fmla="*/ 161 w 177"/>
                    <a:gd name="T7" fmla="*/ 13 h 21"/>
                    <a:gd name="T8" fmla="*/ 155 w 177"/>
                    <a:gd name="T9" fmla="*/ 12 h 21"/>
                    <a:gd name="T10" fmla="*/ 149 w 177"/>
                    <a:gd name="T11" fmla="*/ 10 h 21"/>
                    <a:gd name="T12" fmla="*/ 141 w 177"/>
                    <a:gd name="T13" fmla="*/ 6 h 21"/>
                    <a:gd name="T14" fmla="*/ 134 w 177"/>
                    <a:gd name="T15" fmla="*/ 3 h 21"/>
                    <a:gd name="T16" fmla="*/ 128 w 177"/>
                    <a:gd name="T17" fmla="*/ 2 h 21"/>
                    <a:gd name="T18" fmla="*/ 120 w 177"/>
                    <a:gd name="T19" fmla="*/ 3 h 21"/>
                    <a:gd name="T20" fmla="*/ 110 w 177"/>
                    <a:gd name="T21" fmla="*/ 5 h 21"/>
                    <a:gd name="T22" fmla="*/ 106 w 177"/>
                    <a:gd name="T23" fmla="*/ 5 h 21"/>
                    <a:gd name="T24" fmla="*/ 93 w 177"/>
                    <a:gd name="T25" fmla="*/ 3 h 21"/>
                    <a:gd name="T26" fmla="*/ 78 w 177"/>
                    <a:gd name="T27" fmla="*/ 1 h 21"/>
                    <a:gd name="T28" fmla="*/ 69 w 177"/>
                    <a:gd name="T29" fmla="*/ 0 h 21"/>
                    <a:gd name="T30" fmla="*/ 57 w 177"/>
                    <a:gd name="T31" fmla="*/ 0 h 21"/>
                    <a:gd name="T32" fmla="*/ 44 w 177"/>
                    <a:gd name="T33" fmla="*/ 0 h 21"/>
                    <a:gd name="T34" fmla="*/ 36 w 177"/>
                    <a:gd name="T35" fmla="*/ 1 h 21"/>
                    <a:gd name="T36" fmla="*/ 27 w 177"/>
                    <a:gd name="T37" fmla="*/ 2 h 21"/>
                    <a:gd name="T38" fmla="*/ 18 w 177"/>
                    <a:gd name="T39" fmla="*/ 3 h 21"/>
                    <a:gd name="T40" fmla="*/ 9 w 177"/>
                    <a:gd name="T41" fmla="*/ 4 h 21"/>
                    <a:gd name="T42" fmla="*/ 8 w 177"/>
                    <a:gd name="T43" fmla="*/ 8 h 21"/>
                    <a:gd name="T44" fmla="*/ 7 w 177"/>
                    <a:gd name="T45" fmla="*/ 11 h 21"/>
                    <a:gd name="T46" fmla="*/ 4 w 177"/>
                    <a:gd name="T47" fmla="*/ 15 h 21"/>
                    <a:gd name="T48" fmla="*/ 0 w 177"/>
                    <a:gd name="T49" fmla="*/ 17 h 21"/>
                    <a:gd name="T50" fmla="*/ 7 w 177"/>
                    <a:gd name="T51" fmla="*/ 16 h 21"/>
                    <a:gd name="T52" fmla="*/ 15 w 177"/>
                    <a:gd name="T53" fmla="*/ 14 h 21"/>
                    <a:gd name="T54" fmla="*/ 22 w 177"/>
                    <a:gd name="T55" fmla="*/ 12 h 21"/>
                    <a:gd name="T56" fmla="*/ 29 w 177"/>
                    <a:gd name="T57" fmla="*/ 11 h 21"/>
                    <a:gd name="T58" fmla="*/ 37 w 177"/>
                    <a:gd name="T59" fmla="*/ 10 h 21"/>
                    <a:gd name="T60" fmla="*/ 50 w 177"/>
                    <a:gd name="T61" fmla="*/ 10 h 21"/>
                    <a:gd name="T62" fmla="*/ 63 w 177"/>
                    <a:gd name="T63" fmla="*/ 8 h 21"/>
                    <a:gd name="T64" fmla="*/ 79 w 177"/>
                    <a:gd name="T65" fmla="*/ 8 h 21"/>
                    <a:gd name="T66" fmla="*/ 94 w 177"/>
                    <a:gd name="T67" fmla="*/ 7 h 21"/>
                    <a:gd name="T68" fmla="*/ 108 w 177"/>
                    <a:gd name="T69" fmla="*/ 6 h 21"/>
                    <a:gd name="T70" fmla="*/ 120 w 177"/>
                    <a:gd name="T71" fmla="*/ 7 h 21"/>
                    <a:gd name="T72" fmla="*/ 129 w 177"/>
                    <a:gd name="T73" fmla="*/ 10 h 21"/>
                    <a:gd name="T74" fmla="*/ 138 w 177"/>
                    <a:gd name="T75" fmla="*/ 12 h 21"/>
                    <a:gd name="T76" fmla="*/ 148 w 177"/>
                    <a:gd name="T77" fmla="*/ 14 h 21"/>
                    <a:gd name="T78" fmla="*/ 159 w 177"/>
                    <a:gd name="T79" fmla="*/ 17 h 21"/>
                    <a:gd name="T80" fmla="*/ 167 w 177"/>
                    <a:gd name="T81" fmla="*/ 18 h 21"/>
                    <a:gd name="T82" fmla="*/ 176 w 177"/>
                    <a:gd name="T83" fmla="*/ 20 h 2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77" h="21">
                      <a:moveTo>
                        <a:pt x="176" y="20"/>
                      </a:moveTo>
                      <a:lnTo>
                        <a:pt x="171" y="18"/>
                      </a:lnTo>
                      <a:lnTo>
                        <a:pt x="166" y="16"/>
                      </a:lnTo>
                      <a:lnTo>
                        <a:pt x="161" y="13"/>
                      </a:lnTo>
                      <a:lnTo>
                        <a:pt x="155" y="12"/>
                      </a:lnTo>
                      <a:lnTo>
                        <a:pt x="149" y="10"/>
                      </a:lnTo>
                      <a:lnTo>
                        <a:pt x="141" y="6"/>
                      </a:lnTo>
                      <a:lnTo>
                        <a:pt x="134" y="3"/>
                      </a:lnTo>
                      <a:lnTo>
                        <a:pt x="128" y="2"/>
                      </a:lnTo>
                      <a:lnTo>
                        <a:pt x="120" y="3"/>
                      </a:lnTo>
                      <a:lnTo>
                        <a:pt x="110" y="5"/>
                      </a:lnTo>
                      <a:lnTo>
                        <a:pt x="106" y="5"/>
                      </a:lnTo>
                      <a:lnTo>
                        <a:pt x="93" y="3"/>
                      </a:lnTo>
                      <a:lnTo>
                        <a:pt x="78" y="1"/>
                      </a:lnTo>
                      <a:lnTo>
                        <a:pt x="69" y="0"/>
                      </a:lnTo>
                      <a:lnTo>
                        <a:pt x="57" y="0"/>
                      </a:lnTo>
                      <a:lnTo>
                        <a:pt x="44" y="0"/>
                      </a:lnTo>
                      <a:lnTo>
                        <a:pt x="36" y="1"/>
                      </a:lnTo>
                      <a:lnTo>
                        <a:pt x="27" y="2"/>
                      </a:lnTo>
                      <a:lnTo>
                        <a:pt x="18" y="3"/>
                      </a:lnTo>
                      <a:lnTo>
                        <a:pt x="9" y="4"/>
                      </a:lnTo>
                      <a:lnTo>
                        <a:pt x="8" y="8"/>
                      </a:lnTo>
                      <a:lnTo>
                        <a:pt x="7" y="11"/>
                      </a:lnTo>
                      <a:lnTo>
                        <a:pt x="4" y="15"/>
                      </a:lnTo>
                      <a:lnTo>
                        <a:pt x="0" y="17"/>
                      </a:lnTo>
                      <a:lnTo>
                        <a:pt x="7" y="16"/>
                      </a:lnTo>
                      <a:lnTo>
                        <a:pt x="15" y="14"/>
                      </a:lnTo>
                      <a:lnTo>
                        <a:pt x="22" y="12"/>
                      </a:lnTo>
                      <a:lnTo>
                        <a:pt x="29" y="11"/>
                      </a:lnTo>
                      <a:lnTo>
                        <a:pt x="37" y="10"/>
                      </a:lnTo>
                      <a:lnTo>
                        <a:pt x="50" y="10"/>
                      </a:lnTo>
                      <a:lnTo>
                        <a:pt x="63" y="8"/>
                      </a:lnTo>
                      <a:lnTo>
                        <a:pt x="79" y="8"/>
                      </a:lnTo>
                      <a:lnTo>
                        <a:pt x="94" y="7"/>
                      </a:lnTo>
                      <a:lnTo>
                        <a:pt x="108" y="6"/>
                      </a:lnTo>
                      <a:lnTo>
                        <a:pt x="120" y="7"/>
                      </a:lnTo>
                      <a:lnTo>
                        <a:pt x="129" y="10"/>
                      </a:lnTo>
                      <a:lnTo>
                        <a:pt x="138" y="12"/>
                      </a:lnTo>
                      <a:lnTo>
                        <a:pt x="148" y="14"/>
                      </a:lnTo>
                      <a:lnTo>
                        <a:pt x="159" y="17"/>
                      </a:lnTo>
                      <a:lnTo>
                        <a:pt x="167" y="18"/>
                      </a:lnTo>
                      <a:lnTo>
                        <a:pt x="176" y="20"/>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sp>
            <p:nvSpPr>
              <p:cNvPr id="1063" name="Freeform 20"/>
              <p:cNvSpPr>
                <a:spLocks/>
              </p:cNvSpPr>
              <p:nvPr/>
            </p:nvSpPr>
            <p:spPr bwMode="ltGray">
              <a:xfrm>
                <a:off x="1691" y="1023"/>
                <a:ext cx="261" cy="374"/>
              </a:xfrm>
              <a:custGeom>
                <a:avLst/>
                <a:gdLst>
                  <a:gd name="T0" fmla="*/ 82 w 261"/>
                  <a:gd name="T1" fmla="*/ 162 h 374"/>
                  <a:gd name="T2" fmla="*/ 90 w 261"/>
                  <a:gd name="T3" fmla="*/ 154 h 374"/>
                  <a:gd name="T4" fmla="*/ 76 w 261"/>
                  <a:gd name="T5" fmla="*/ 104 h 374"/>
                  <a:gd name="T6" fmla="*/ 54 w 261"/>
                  <a:gd name="T7" fmla="*/ 56 h 374"/>
                  <a:gd name="T8" fmla="*/ 31 w 261"/>
                  <a:gd name="T9" fmla="*/ 33 h 374"/>
                  <a:gd name="T10" fmla="*/ 51 w 261"/>
                  <a:gd name="T11" fmla="*/ 45 h 374"/>
                  <a:gd name="T12" fmla="*/ 72 w 261"/>
                  <a:gd name="T13" fmla="*/ 84 h 374"/>
                  <a:gd name="T14" fmla="*/ 92 w 261"/>
                  <a:gd name="T15" fmla="*/ 126 h 374"/>
                  <a:gd name="T16" fmla="*/ 106 w 261"/>
                  <a:gd name="T17" fmla="*/ 168 h 374"/>
                  <a:gd name="T18" fmla="*/ 118 w 261"/>
                  <a:gd name="T19" fmla="*/ 150 h 374"/>
                  <a:gd name="T20" fmla="*/ 121 w 261"/>
                  <a:gd name="T21" fmla="*/ 114 h 374"/>
                  <a:gd name="T22" fmla="*/ 125 w 261"/>
                  <a:gd name="T23" fmla="*/ 65 h 374"/>
                  <a:gd name="T24" fmla="*/ 136 w 261"/>
                  <a:gd name="T25" fmla="*/ 26 h 374"/>
                  <a:gd name="T26" fmla="*/ 143 w 261"/>
                  <a:gd name="T27" fmla="*/ 12 h 374"/>
                  <a:gd name="T28" fmla="*/ 136 w 261"/>
                  <a:gd name="T29" fmla="*/ 53 h 374"/>
                  <a:gd name="T30" fmla="*/ 132 w 261"/>
                  <a:gd name="T31" fmla="*/ 106 h 374"/>
                  <a:gd name="T32" fmla="*/ 130 w 261"/>
                  <a:gd name="T33" fmla="*/ 155 h 374"/>
                  <a:gd name="T34" fmla="*/ 136 w 261"/>
                  <a:gd name="T35" fmla="*/ 183 h 374"/>
                  <a:gd name="T36" fmla="*/ 166 w 261"/>
                  <a:gd name="T37" fmla="*/ 177 h 374"/>
                  <a:gd name="T38" fmla="*/ 205 w 261"/>
                  <a:gd name="T39" fmla="*/ 178 h 374"/>
                  <a:gd name="T40" fmla="*/ 236 w 261"/>
                  <a:gd name="T41" fmla="*/ 193 h 374"/>
                  <a:gd name="T42" fmla="*/ 260 w 261"/>
                  <a:gd name="T43" fmla="*/ 227 h 374"/>
                  <a:gd name="T44" fmla="*/ 231 w 261"/>
                  <a:gd name="T45" fmla="*/ 222 h 374"/>
                  <a:gd name="T46" fmla="*/ 200 w 261"/>
                  <a:gd name="T47" fmla="*/ 211 h 374"/>
                  <a:gd name="T48" fmla="*/ 159 w 261"/>
                  <a:gd name="T49" fmla="*/ 204 h 374"/>
                  <a:gd name="T50" fmla="*/ 132 w 261"/>
                  <a:gd name="T51" fmla="*/ 208 h 374"/>
                  <a:gd name="T52" fmla="*/ 147 w 261"/>
                  <a:gd name="T53" fmla="*/ 224 h 374"/>
                  <a:gd name="T54" fmla="*/ 182 w 261"/>
                  <a:gd name="T55" fmla="*/ 233 h 374"/>
                  <a:gd name="T56" fmla="*/ 217 w 261"/>
                  <a:gd name="T57" fmla="*/ 240 h 374"/>
                  <a:gd name="T58" fmla="*/ 243 w 261"/>
                  <a:gd name="T59" fmla="*/ 264 h 374"/>
                  <a:gd name="T60" fmla="*/ 256 w 261"/>
                  <a:gd name="T61" fmla="*/ 297 h 374"/>
                  <a:gd name="T62" fmla="*/ 224 w 261"/>
                  <a:gd name="T63" fmla="*/ 277 h 374"/>
                  <a:gd name="T64" fmla="*/ 191 w 261"/>
                  <a:gd name="T65" fmla="*/ 256 h 374"/>
                  <a:gd name="T66" fmla="*/ 160 w 261"/>
                  <a:gd name="T67" fmla="*/ 238 h 374"/>
                  <a:gd name="T68" fmla="*/ 136 w 261"/>
                  <a:gd name="T69" fmla="*/ 230 h 374"/>
                  <a:gd name="T70" fmla="*/ 121 w 261"/>
                  <a:gd name="T71" fmla="*/ 246 h 374"/>
                  <a:gd name="T72" fmla="*/ 135 w 261"/>
                  <a:gd name="T73" fmla="*/ 290 h 374"/>
                  <a:gd name="T74" fmla="*/ 145 w 261"/>
                  <a:gd name="T75" fmla="*/ 342 h 374"/>
                  <a:gd name="T76" fmla="*/ 127 w 261"/>
                  <a:gd name="T77" fmla="*/ 346 h 374"/>
                  <a:gd name="T78" fmla="*/ 116 w 261"/>
                  <a:gd name="T79" fmla="*/ 290 h 374"/>
                  <a:gd name="T80" fmla="*/ 101 w 261"/>
                  <a:gd name="T81" fmla="*/ 256 h 374"/>
                  <a:gd name="T82" fmla="*/ 83 w 261"/>
                  <a:gd name="T83" fmla="*/ 274 h 374"/>
                  <a:gd name="T84" fmla="*/ 64 w 261"/>
                  <a:gd name="T85" fmla="*/ 309 h 374"/>
                  <a:gd name="T86" fmla="*/ 44 w 261"/>
                  <a:gd name="T87" fmla="*/ 360 h 374"/>
                  <a:gd name="T88" fmla="*/ 51 w 261"/>
                  <a:gd name="T89" fmla="*/ 314 h 374"/>
                  <a:gd name="T90" fmla="*/ 69 w 261"/>
                  <a:gd name="T91" fmla="*/ 272 h 374"/>
                  <a:gd name="T92" fmla="*/ 91 w 261"/>
                  <a:gd name="T93" fmla="*/ 238 h 374"/>
                  <a:gd name="T94" fmla="*/ 99 w 261"/>
                  <a:gd name="T95" fmla="*/ 212 h 374"/>
                  <a:gd name="T96" fmla="*/ 77 w 261"/>
                  <a:gd name="T97" fmla="*/ 226 h 374"/>
                  <a:gd name="T98" fmla="*/ 52 w 261"/>
                  <a:gd name="T99" fmla="*/ 261 h 374"/>
                  <a:gd name="T100" fmla="*/ 28 w 261"/>
                  <a:gd name="T101" fmla="*/ 301 h 374"/>
                  <a:gd name="T102" fmla="*/ 24 w 261"/>
                  <a:gd name="T103" fmla="*/ 288 h 374"/>
                  <a:gd name="T104" fmla="*/ 42 w 261"/>
                  <a:gd name="T105" fmla="*/ 262 h 374"/>
                  <a:gd name="T106" fmla="*/ 71 w 261"/>
                  <a:gd name="T107" fmla="*/ 229 h 374"/>
                  <a:gd name="T108" fmla="*/ 101 w 261"/>
                  <a:gd name="T109" fmla="*/ 206 h 374"/>
                  <a:gd name="T110" fmla="*/ 73 w 261"/>
                  <a:gd name="T111" fmla="*/ 180 h 374"/>
                  <a:gd name="T112" fmla="*/ 46 w 261"/>
                  <a:gd name="T113" fmla="*/ 148 h 374"/>
                  <a:gd name="T114" fmla="*/ 17 w 261"/>
                  <a:gd name="T115" fmla="*/ 118 h 374"/>
                  <a:gd name="T116" fmla="*/ 3 w 261"/>
                  <a:gd name="T117" fmla="*/ 98 h 374"/>
                  <a:gd name="T118" fmla="*/ 32 w 261"/>
                  <a:gd name="T119" fmla="*/ 115 h 374"/>
                  <a:gd name="T120" fmla="*/ 64 w 261"/>
                  <a:gd name="T121" fmla="*/ 145 h 37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61" h="374">
                    <a:moveTo>
                      <a:pt x="64" y="145"/>
                    </a:moveTo>
                    <a:lnTo>
                      <a:pt x="68" y="150"/>
                    </a:lnTo>
                    <a:lnTo>
                      <a:pt x="72" y="154"/>
                    </a:lnTo>
                    <a:lnTo>
                      <a:pt x="77" y="157"/>
                    </a:lnTo>
                    <a:lnTo>
                      <a:pt x="82" y="162"/>
                    </a:lnTo>
                    <a:lnTo>
                      <a:pt x="86" y="165"/>
                    </a:lnTo>
                    <a:lnTo>
                      <a:pt x="91" y="168"/>
                    </a:lnTo>
                    <a:lnTo>
                      <a:pt x="94" y="170"/>
                    </a:lnTo>
                    <a:lnTo>
                      <a:pt x="92" y="162"/>
                    </a:lnTo>
                    <a:lnTo>
                      <a:pt x="90" y="154"/>
                    </a:lnTo>
                    <a:lnTo>
                      <a:pt x="87" y="143"/>
                    </a:lnTo>
                    <a:lnTo>
                      <a:pt x="85" y="134"/>
                    </a:lnTo>
                    <a:lnTo>
                      <a:pt x="82" y="124"/>
                    </a:lnTo>
                    <a:lnTo>
                      <a:pt x="80" y="114"/>
                    </a:lnTo>
                    <a:lnTo>
                      <a:pt x="76" y="104"/>
                    </a:lnTo>
                    <a:lnTo>
                      <a:pt x="72" y="93"/>
                    </a:lnTo>
                    <a:lnTo>
                      <a:pt x="68" y="84"/>
                    </a:lnTo>
                    <a:lnTo>
                      <a:pt x="63" y="71"/>
                    </a:lnTo>
                    <a:lnTo>
                      <a:pt x="59" y="63"/>
                    </a:lnTo>
                    <a:lnTo>
                      <a:pt x="54" y="56"/>
                    </a:lnTo>
                    <a:lnTo>
                      <a:pt x="50" y="48"/>
                    </a:lnTo>
                    <a:lnTo>
                      <a:pt x="44" y="42"/>
                    </a:lnTo>
                    <a:lnTo>
                      <a:pt x="39" y="38"/>
                    </a:lnTo>
                    <a:lnTo>
                      <a:pt x="34" y="35"/>
                    </a:lnTo>
                    <a:lnTo>
                      <a:pt x="31" y="33"/>
                    </a:lnTo>
                    <a:lnTo>
                      <a:pt x="35" y="32"/>
                    </a:lnTo>
                    <a:lnTo>
                      <a:pt x="37" y="33"/>
                    </a:lnTo>
                    <a:lnTo>
                      <a:pt x="41" y="34"/>
                    </a:lnTo>
                    <a:lnTo>
                      <a:pt x="45" y="39"/>
                    </a:lnTo>
                    <a:lnTo>
                      <a:pt x="51" y="45"/>
                    </a:lnTo>
                    <a:lnTo>
                      <a:pt x="55" y="50"/>
                    </a:lnTo>
                    <a:lnTo>
                      <a:pt x="58" y="56"/>
                    </a:lnTo>
                    <a:lnTo>
                      <a:pt x="63" y="64"/>
                    </a:lnTo>
                    <a:lnTo>
                      <a:pt x="68" y="75"/>
                    </a:lnTo>
                    <a:lnTo>
                      <a:pt x="72" y="84"/>
                    </a:lnTo>
                    <a:lnTo>
                      <a:pt x="77" y="94"/>
                    </a:lnTo>
                    <a:lnTo>
                      <a:pt x="81" y="101"/>
                    </a:lnTo>
                    <a:lnTo>
                      <a:pt x="86" y="109"/>
                    </a:lnTo>
                    <a:lnTo>
                      <a:pt x="89" y="117"/>
                    </a:lnTo>
                    <a:lnTo>
                      <a:pt x="92" y="126"/>
                    </a:lnTo>
                    <a:lnTo>
                      <a:pt x="95" y="135"/>
                    </a:lnTo>
                    <a:lnTo>
                      <a:pt x="99" y="143"/>
                    </a:lnTo>
                    <a:lnTo>
                      <a:pt x="101" y="151"/>
                    </a:lnTo>
                    <a:lnTo>
                      <a:pt x="104" y="161"/>
                    </a:lnTo>
                    <a:lnTo>
                      <a:pt x="106" y="168"/>
                    </a:lnTo>
                    <a:lnTo>
                      <a:pt x="107" y="171"/>
                    </a:lnTo>
                    <a:lnTo>
                      <a:pt x="110" y="168"/>
                    </a:lnTo>
                    <a:lnTo>
                      <a:pt x="113" y="164"/>
                    </a:lnTo>
                    <a:lnTo>
                      <a:pt x="117" y="159"/>
                    </a:lnTo>
                    <a:lnTo>
                      <a:pt x="118" y="150"/>
                    </a:lnTo>
                    <a:lnTo>
                      <a:pt x="119" y="143"/>
                    </a:lnTo>
                    <a:lnTo>
                      <a:pt x="120" y="133"/>
                    </a:lnTo>
                    <a:lnTo>
                      <a:pt x="121" y="124"/>
                    </a:lnTo>
                    <a:lnTo>
                      <a:pt x="120" y="124"/>
                    </a:lnTo>
                    <a:lnTo>
                      <a:pt x="121" y="114"/>
                    </a:lnTo>
                    <a:lnTo>
                      <a:pt x="121" y="103"/>
                    </a:lnTo>
                    <a:lnTo>
                      <a:pt x="122" y="92"/>
                    </a:lnTo>
                    <a:lnTo>
                      <a:pt x="122" y="82"/>
                    </a:lnTo>
                    <a:lnTo>
                      <a:pt x="123" y="75"/>
                    </a:lnTo>
                    <a:lnTo>
                      <a:pt x="125" y="65"/>
                    </a:lnTo>
                    <a:lnTo>
                      <a:pt x="127" y="58"/>
                    </a:lnTo>
                    <a:lnTo>
                      <a:pt x="128" y="50"/>
                    </a:lnTo>
                    <a:lnTo>
                      <a:pt x="131" y="44"/>
                    </a:lnTo>
                    <a:lnTo>
                      <a:pt x="133" y="36"/>
                    </a:lnTo>
                    <a:lnTo>
                      <a:pt x="136" y="26"/>
                    </a:lnTo>
                    <a:lnTo>
                      <a:pt x="139" y="16"/>
                    </a:lnTo>
                    <a:lnTo>
                      <a:pt x="140" y="7"/>
                    </a:lnTo>
                    <a:lnTo>
                      <a:pt x="143" y="0"/>
                    </a:lnTo>
                    <a:lnTo>
                      <a:pt x="144" y="6"/>
                    </a:lnTo>
                    <a:lnTo>
                      <a:pt x="143" y="12"/>
                    </a:lnTo>
                    <a:lnTo>
                      <a:pt x="142" y="21"/>
                    </a:lnTo>
                    <a:lnTo>
                      <a:pt x="140" y="28"/>
                    </a:lnTo>
                    <a:lnTo>
                      <a:pt x="138" y="40"/>
                    </a:lnTo>
                    <a:lnTo>
                      <a:pt x="137" y="47"/>
                    </a:lnTo>
                    <a:lnTo>
                      <a:pt x="136" y="53"/>
                    </a:lnTo>
                    <a:lnTo>
                      <a:pt x="135" y="62"/>
                    </a:lnTo>
                    <a:lnTo>
                      <a:pt x="134" y="72"/>
                    </a:lnTo>
                    <a:lnTo>
                      <a:pt x="134" y="83"/>
                    </a:lnTo>
                    <a:lnTo>
                      <a:pt x="133" y="94"/>
                    </a:lnTo>
                    <a:lnTo>
                      <a:pt x="132" y="106"/>
                    </a:lnTo>
                    <a:lnTo>
                      <a:pt x="132" y="116"/>
                    </a:lnTo>
                    <a:lnTo>
                      <a:pt x="132" y="126"/>
                    </a:lnTo>
                    <a:lnTo>
                      <a:pt x="131" y="134"/>
                    </a:lnTo>
                    <a:lnTo>
                      <a:pt x="131" y="145"/>
                    </a:lnTo>
                    <a:lnTo>
                      <a:pt x="130" y="155"/>
                    </a:lnTo>
                    <a:lnTo>
                      <a:pt x="128" y="168"/>
                    </a:lnTo>
                    <a:lnTo>
                      <a:pt x="127" y="178"/>
                    </a:lnTo>
                    <a:lnTo>
                      <a:pt x="125" y="190"/>
                    </a:lnTo>
                    <a:lnTo>
                      <a:pt x="130" y="187"/>
                    </a:lnTo>
                    <a:lnTo>
                      <a:pt x="136" y="183"/>
                    </a:lnTo>
                    <a:lnTo>
                      <a:pt x="143" y="178"/>
                    </a:lnTo>
                    <a:lnTo>
                      <a:pt x="149" y="176"/>
                    </a:lnTo>
                    <a:lnTo>
                      <a:pt x="156" y="176"/>
                    </a:lnTo>
                    <a:lnTo>
                      <a:pt x="160" y="176"/>
                    </a:lnTo>
                    <a:lnTo>
                      <a:pt x="166" y="177"/>
                    </a:lnTo>
                    <a:lnTo>
                      <a:pt x="173" y="178"/>
                    </a:lnTo>
                    <a:lnTo>
                      <a:pt x="182" y="179"/>
                    </a:lnTo>
                    <a:lnTo>
                      <a:pt x="190" y="178"/>
                    </a:lnTo>
                    <a:lnTo>
                      <a:pt x="198" y="178"/>
                    </a:lnTo>
                    <a:lnTo>
                      <a:pt x="205" y="178"/>
                    </a:lnTo>
                    <a:lnTo>
                      <a:pt x="211" y="179"/>
                    </a:lnTo>
                    <a:lnTo>
                      <a:pt x="217" y="182"/>
                    </a:lnTo>
                    <a:lnTo>
                      <a:pt x="225" y="185"/>
                    </a:lnTo>
                    <a:lnTo>
                      <a:pt x="231" y="189"/>
                    </a:lnTo>
                    <a:lnTo>
                      <a:pt x="236" y="193"/>
                    </a:lnTo>
                    <a:lnTo>
                      <a:pt x="242" y="199"/>
                    </a:lnTo>
                    <a:lnTo>
                      <a:pt x="245" y="202"/>
                    </a:lnTo>
                    <a:lnTo>
                      <a:pt x="251" y="210"/>
                    </a:lnTo>
                    <a:lnTo>
                      <a:pt x="255" y="218"/>
                    </a:lnTo>
                    <a:lnTo>
                      <a:pt x="260" y="227"/>
                    </a:lnTo>
                    <a:lnTo>
                      <a:pt x="254" y="227"/>
                    </a:lnTo>
                    <a:lnTo>
                      <a:pt x="248" y="226"/>
                    </a:lnTo>
                    <a:lnTo>
                      <a:pt x="241" y="224"/>
                    </a:lnTo>
                    <a:lnTo>
                      <a:pt x="235" y="224"/>
                    </a:lnTo>
                    <a:lnTo>
                      <a:pt x="231" y="222"/>
                    </a:lnTo>
                    <a:lnTo>
                      <a:pt x="224" y="218"/>
                    </a:lnTo>
                    <a:lnTo>
                      <a:pt x="218" y="216"/>
                    </a:lnTo>
                    <a:lnTo>
                      <a:pt x="213" y="213"/>
                    </a:lnTo>
                    <a:lnTo>
                      <a:pt x="209" y="212"/>
                    </a:lnTo>
                    <a:lnTo>
                      <a:pt x="200" y="211"/>
                    </a:lnTo>
                    <a:lnTo>
                      <a:pt x="190" y="210"/>
                    </a:lnTo>
                    <a:lnTo>
                      <a:pt x="182" y="208"/>
                    </a:lnTo>
                    <a:lnTo>
                      <a:pt x="173" y="206"/>
                    </a:lnTo>
                    <a:lnTo>
                      <a:pt x="165" y="205"/>
                    </a:lnTo>
                    <a:lnTo>
                      <a:pt x="159" y="204"/>
                    </a:lnTo>
                    <a:lnTo>
                      <a:pt x="154" y="204"/>
                    </a:lnTo>
                    <a:lnTo>
                      <a:pt x="148" y="203"/>
                    </a:lnTo>
                    <a:lnTo>
                      <a:pt x="142" y="204"/>
                    </a:lnTo>
                    <a:lnTo>
                      <a:pt x="137" y="205"/>
                    </a:lnTo>
                    <a:lnTo>
                      <a:pt x="132" y="208"/>
                    </a:lnTo>
                    <a:lnTo>
                      <a:pt x="125" y="210"/>
                    </a:lnTo>
                    <a:lnTo>
                      <a:pt x="130" y="213"/>
                    </a:lnTo>
                    <a:lnTo>
                      <a:pt x="136" y="217"/>
                    </a:lnTo>
                    <a:lnTo>
                      <a:pt x="141" y="222"/>
                    </a:lnTo>
                    <a:lnTo>
                      <a:pt x="147" y="224"/>
                    </a:lnTo>
                    <a:lnTo>
                      <a:pt x="154" y="227"/>
                    </a:lnTo>
                    <a:lnTo>
                      <a:pt x="160" y="229"/>
                    </a:lnTo>
                    <a:lnTo>
                      <a:pt x="166" y="229"/>
                    </a:lnTo>
                    <a:lnTo>
                      <a:pt x="173" y="231"/>
                    </a:lnTo>
                    <a:lnTo>
                      <a:pt x="182" y="233"/>
                    </a:lnTo>
                    <a:lnTo>
                      <a:pt x="189" y="235"/>
                    </a:lnTo>
                    <a:lnTo>
                      <a:pt x="197" y="235"/>
                    </a:lnTo>
                    <a:lnTo>
                      <a:pt x="203" y="237"/>
                    </a:lnTo>
                    <a:lnTo>
                      <a:pt x="210" y="239"/>
                    </a:lnTo>
                    <a:lnTo>
                      <a:pt x="217" y="240"/>
                    </a:lnTo>
                    <a:lnTo>
                      <a:pt x="222" y="243"/>
                    </a:lnTo>
                    <a:lnTo>
                      <a:pt x="227" y="247"/>
                    </a:lnTo>
                    <a:lnTo>
                      <a:pt x="232" y="252"/>
                    </a:lnTo>
                    <a:lnTo>
                      <a:pt x="238" y="257"/>
                    </a:lnTo>
                    <a:lnTo>
                      <a:pt x="243" y="264"/>
                    </a:lnTo>
                    <a:lnTo>
                      <a:pt x="245" y="268"/>
                    </a:lnTo>
                    <a:lnTo>
                      <a:pt x="248" y="275"/>
                    </a:lnTo>
                    <a:lnTo>
                      <a:pt x="250" y="283"/>
                    </a:lnTo>
                    <a:lnTo>
                      <a:pt x="253" y="291"/>
                    </a:lnTo>
                    <a:lnTo>
                      <a:pt x="256" y="297"/>
                    </a:lnTo>
                    <a:lnTo>
                      <a:pt x="250" y="293"/>
                    </a:lnTo>
                    <a:lnTo>
                      <a:pt x="243" y="289"/>
                    </a:lnTo>
                    <a:lnTo>
                      <a:pt x="238" y="286"/>
                    </a:lnTo>
                    <a:lnTo>
                      <a:pt x="231" y="281"/>
                    </a:lnTo>
                    <a:lnTo>
                      <a:pt x="224" y="277"/>
                    </a:lnTo>
                    <a:lnTo>
                      <a:pt x="218" y="273"/>
                    </a:lnTo>
                    <a:lnTo>
                      <a:pt x="211" y="269"/>
                    </a:lnTo>
                    <a:lnTo>
                      <a:pt x="204" y="264"/>
                    </a:lnTo>
                    <a:lnTo>
                      <a:pt x="198" y="260"/>
                    </a:lnTo>
                    <a:lnTo>
                      <a:pt x="191" y="256"/>
                    </a:lnTo>
                    <a:lnTo>
                      <a:pt x="186" y="252"/>
                    </a:lnTo>
                    <a:lnTo>
                      <a:pt x="179" y="248"/>
                    </a:lnTo>
                    <a:lnTo>
                      <a:pt x="173" y="245"/>
                    </a:lnTo>
                    <a:lnTo>
                      <a:pt x="166" y="241"/>
                    </a:lnTo>
                    <a:lnTo>
                      <a:pt x="160" y="238"/>
                    </a:lnTo>
                    <a:lnTo>
                      <a:pt x="155" y="237"/>
                    </a:lnTo>
                    <a:lnTo>
                      <a:pt x="150" y="234"/>
                    </a:lnTo>
                    <a:lnTo>
                      <a:pt x="144" y="231"/>
                    </a:lnTo>
                    <a:lnTo>
                      <a:pt x="140" y="229"/>
                    </a:lnTo>
                    <a:lnTo>
                      <a:pt x="136" y="230"/>
                    </a:lnTo>
                    <a:lnTo>
                      <a:pt x="131" y="231"/>
                    </a:lnTo>
                    <a:lnTo>
                      <a:pt x="128" y="231"/>
                    </a:lnTo>
                    <a:lnTo>
                      <a:pt x="123" y="229"/>
                    </a:lnTo>
                    <a:lnTo>
                      <a:pt x="123" y="237"/>
                    </a:lnTo>
                    <a:lnTo>
                      <a:pt x="121" y="246"/>
                    </a:lnTo>
                    <a:lnTo>
                      <a:pt x="124" y="254"/>
                    </a:lnTo>
                    <a:lnTo>
                      <a:pt x="127" y="263"/>
                    </a:lnTo>
                    <a:lnTo>
                      <a:pt x="130" y="271"/>
                    </a:lnTo>
                    <a:lnTo>
                      <a:pt x="132" y="280"/>
                    </a:lnTo>
                    <a:lnTo>
                      <a:pt x="135" y="290"/>
                    </a:lnTo>
                    <a:lnTo>
                      <a:pt x="138" y="302"/>
                    </a:lnTo>
                    <a:lnTo>
                      <a:pt x="139" y="311"/>
                    </a:lnTo>
                    <a:lnTo>
                      <a:pt x="142" y="321"/>
                    </a:lnTo>
                    <a:lnTo>
                      <a:pt x="143" y="330"/>
                    </a:lnTo>
                    <a:lnTo>
                      <a:pt x="145" y="342"/>
                    </a:lnTo>
                    <a:lnTo>
                      <a:pt x="148" y="355"/>
                    </a:lnTo>
                    <a:lnTo>
                      <a:pt x="150" y="373"/>
                    </a:lnTo>
                    <a:lnTo>
                      <a:pt x="130" y="373"/>
                    </a:lnTo>
                    <a:lnTo>
                      <a:pt x="128" y="357"/>
                    </a:lnTo>
                    <a:lnTo>
                      <a:pt x="127" y="346"/>
                    </a:lnTo>
                    <a:lnTo>
                      <a:pt x="124" y="332"/>
                    </a:lnTo>
                    <a:lnTo>
                      <a:pt x="122" y="319"/>
                    </a:lnTo>
                    <a:lnTo>
                      <a:pt x="120" y="308"/>
                    </a:lnTo>
                    <a:lnTo>
                      <a:pt x="118" y="298"/>
                    </a:lnTo>
                    <a:lnTo>
                      <a:pt x="116" y="290"/>
                    </a:lnTo>
                    <a:lnTo>
                      <a:pt x="113" y="279"/>
                    </a:lnTo>
                    <a:lnTo>
                      <a:pt x="109" y="269"/>
                    </a:lnTo>
                    <a:lnTo>
                      <a:pt x="107" y="260"/>
                    </a:lnTo>
                    <a:lnTo>
                      <a:pt x="104" y="258"/>
                    </a:lnTo>
                    <a:lnTo>
                      <a:pt x="101" y="256"/>
                    </a:lnTo>
                    <a:lnTo>
                      <a:pt x="98" y="254"/>
                    </a:lnTo>
                    <a:lnTo>
                      <a:pt x="96" y="255"/>
                    </a:lnTo>
                    <a:lnTo>
                      <a:pt x="93" y="260"/>
                    </a:lnTo>
                    <a:lnTo>
                      <a:pt x="87" y="268"/>
                    </a:lnTo>
                    <a:lnTo>
                      <a:pt x="83" y="274"/>
                    </a:lnTo>
                    <a:lnTo>
                      <a:pt x="79" y="280"/>
                    </a:lnTo>
                    <a:lnTo>
                      <a:pt x="76" y="288"/>
                    </a:lnTo>
                    <a:lnTo>
                      <a:pt x="72" y="293"/>
                    </a:lnTo>
                    <a:lnTo>
                      <a:pt x="68" y="301"/>
                    </a:lnTo>
                    <a:lnTo>
                      <a:pt x="64" y="309"/>
                    </a:lnTo>
                    <a:lnTo>
                      <a:pt x="61" y="318"/>
                    </a:lnTo>
                    <a:lnTo>
                      <a:pt x="57" y="327"/>
                    </a:lnTo>
                    <a:lnTo>
                      <a:pt x="53" y="337"/>
                    </a:lnTo>
                    <a:lnTo>
                      <a:pt x="49" y="348"/>
                    </a:lnTo>
                    <a:lnTo>
                      <a:pt x="44" y="360"/>
                    </a:lnTo>
                    <a:lnTo>
                      <a:pt x="46" y="346"/>
                    </a:lnTo>
                    <a:lnTo>
                      <a:pt x="47" y="336"/>
                    </a:lnTo>
                    <a:lnTo>
                      <a:pt x="48" y="325"/>
                    </a:lnTo>
                    <a:lnTo>
                      <a:pt x="50" y="319"/>
                    </a:lnTo>
                    <a:lnTo>
                      <a:pt x="51" y="314"/>
                    </a:lnTo>
                    <a:lnTo>
                      <a:pt x="54" y="305"/>
                    </a:lnTo>
                    <a:lnTo>
                      <a:pt x="57" y="295"/>
                    </a:lnTo>
                    <a:lnTo>
                      <a:pt x="59" y="288"/>
                    </a:lnTo>
                    <a:lnTo>
                      <a:pt x="64" y="280"/>
                    </a:lnTo>
                    <a:lnTo>
                      <a:pt x="69" y="272"/>
                    </a:lnTo>
                    <a:lnTo>
                      <a:pt x="73" y="263"/>
                    </a:lnTo>
                    <a:lnTo>
                      <a:pt x="78" y="254"/>
                    </a:lnTo>
                    <a:lnTo>
                      <a:pt x="81" y="249"/>
                    </a:lnTo>
                    <a:lnTo>
                      <a:pt x="86" y="244"/>
                    </a:lnTo>
                    <a:lnTo>
                      <a:pt x="91" y="238"/>
                    </a:lnTo>
                    <a:lnTo>
                      <a:pt x="95" y="232"/>
                    </a:lnTo>
                    <a:lnTo>
                      <a:pt x="100" y="226"/>
                    </a:lnTo>
                    <a:lnTo>
                      <a:pt x="105" y="218"/>
                    </a:lnTo>
                    <a:lnTo>
                      <a:pt x="103" y="216"/>
                    </a:lnTo>
                    <a:lnTo>
                      <a:pt x="99" y="212"/>
                    </a:lnTo>
                    <a:lnTo>
                      <a:pt x="96" y="210"/>
                    </a:lnTo>
                    <a:lnTo>
                      <a:pt x="93" y="211"/>
                    </a:lnTo>
                    <a:lnTo>
                      <a:pt x="87" y="216"/>
                    </a:lnTo>
                    <a:lnTo>
                      <a:pt x="82" y="221"/>
                    </a:lnTo>
                    <a:lnTo>
                      <a:pt x="77" y="226"/>
                    </a:lnTo>
                    <a:lnTo>
                      <a:pt x="72" y="232"/>
                    </a:lnTo>
                    <a:lnTo>
                      <a:pt x="67" y="241"/>
                    </a:lnTo>
                    <a:lnTo>
                      <a:pt x="61" y="249"/>
                    </a:lnTo>
                    <a:lnTo>
                      <a:pt x="56" y="255"/>
                    </a:lnTo>
                    <a:lnTo>
                      <a:pt x="52" y="261"/>
                    </a:lnTo>
                    <a:lnTo>
                      <a:pt x="47" y="268"/>
                    </a:lnTo>
                    <a:lnTo>
                      <a:pt x="42" y="276"/>
                    </a:lnTo>
                    <a:lnTo>
                      <a:pt x="38" y="284"/>
                    </a:lnTo>
                    <a:lnTo>
                      <a:pt x="33" y="293"/>
                    </a:lnTo>
                    <a:lnTo>
                      <a:pt x="28" y="301"/>
                    </a:lnTo>
                    <a:lnTo>
                      <a:pt x="24" y="310"/>
                    </a:lnTo>
                    <a:lnTo>
                      <a:pt x="18" y="321"/>
                    </a:lnTo>
                    <a:lnTo>
                      <a:pt x="21" y="307"/>
                    </a:lnTo>
                    <a:lnTo>
                      <a:pt x="22" y="297"/>
                    </a:lnTo>
                    <a:lnTo>
                      <a:pt x="24" y="288"/>
                    </a:lnTo>
                    <a:lnTo>
                      <a:pt x="25" y="286"/>
                    </a:lnTo>
                    <a:lnTo>
                      <a:pt x="28" y="281"/>
                    </a:lnTo>
                    <a:lnTo>
                      <a:pt x="32" y="275"/>
                    </a:lnTo>
                    <a:lnTo>
                      <a:pt x="37" y="269"/>
                    </a:lnTo>
                    <a:lnTo>
                      <a:pt x="42" y="262"/>
                    </a:lnTo>
                    <a:lnTo>
                      <a:pt x="47" y="256"/>
                    </a:lnTo>
                    <a:lnTo>
                      <a:pt x="54" y="248"/>
                    </a:lnTo>
                    <a:lnTo>
                      <a:pt x="58" y="243"/>
                    </a:lnTo>
                    <a:lnTo>
                      <a:pt x="64" y="236"/>
                    </a:lnTo>
                    <a:lnTo>
                      <a:pt x="71" y="229"/>
                    </a:lnTo>
                    <a:lnTo>
                      <a:pt x="77" y="224"/>
                    </a:lnTo>
                    <a:lnTo>
                      <a:pt x="83" y="218"/>
                    </a:lnTo>
                    <a:lnTo>
                      <a:pt x="93" y="210"/>
                    </a:lnTo>
                    <a:lnTo>
                      <a:pt x="98" y="208"/>
                    </a:lnTo>
                    <a:lnTo>
                      <a:pt x="101" y="206"/>
                    </a:lnTo>
                    <a:lnTo>
                      <a:pt x="95" y="202"/>
                    </a:lnTo>
                    <a:lnTo>
                      <a:pt x="90" y="196"/>
                    </a:lnTo>
                    <a:lnTo>
                      <a:pt x="84" y="190"/>
                    </a:lnTo>
                    <a:lnTo>
                      <a:pt x="79" y="185"/>
                    </a:lnTo>
                    <a:lnTo>
                      <a:pt x="73" y="180"/>
                    </a:lnTo>
                    <a:lnTo>
                      <a:pt x="69" y="176"/>
                    </a:lnTo>
                    <a:lnTo>
                      <a:pt x="65" y="170"/>
                    </a:lnTo>
                    <a:lnTo>
                      <a:pt x="58" y="163"/>
                    </a:lnTo>
                    <a:lnTo>
                      <a:pt x="52" y="156"/>
                    </a:lnTo>
                    <a:lnTo>
                      <a:pt x="46" y="148"/>
                    </a:lnTo>
                    <a:lnTo>
                      <a:pt x="39" y="141"/>
                    </a:lnTo>
                    <a:lnTo>
                      <a:pt x="33" y="136"/>
                    </a:lnTo>
                    <a:lnTo>
                      <a:pt x="26" y="129"/>
                    </a:lnTo>
                    <a:lnTo>
                      <a:pt x="22" y="125"/>
                    </a:lnTo>
                    <a:lnTo>
                      <a:pt x="17" y="118"/>
                    </a:lnTo>
                    <a:lnTo>
                      <a:pt x="14" y="112"/>
                    </a:lnTo>
                    <a:lnTo>
                      <a:pt x="10" y="108"/>
                    </a:lnTo>
                    <a:lnTo>
                      <a:pt x="4" y="102"/>
                    </a:lnTo>
                    <a:lnTo>
                      <a:pt x="0" y="98"/>
                    </a:lnTo>
                    <a:lnTo>
                      <a:pt x="3" y="98"/>
                    </a:lnTo>
                    <a:lnTo>
                      <a:pt x="9" y="100"/>
                    </a:lnTo>
                    <a:lnTo>
                      <a:pt x="14" y="101"/>
                    </a:lnTo>
                    <a:lnTo>
                      <a:pt x="20" y="104"/>
                    </a:lnTo>
                    <a:lnTo>
                      <a:pt x="25" y="109"/>
                    </a:lnTo>
                    <a:lnTo>
                      <a:pt x="32" y="115"/>
                    </a:lnTo>
                    <a:lnTo>
                      <a:pt x="38" y="120"/>
                    </a:lnTo>
                    <a:lnTo>
                      <a:pt x="45" y="125"/>
                    </a:lnTo>
                    <a:lnTo>
                      <a:pt x="51" y="132"/>
                    </a:lnTo>
                    <a:lnTo>
                      <a:pt x="58" y="139"/>
                    </a:lnTo>
                    <a:lnTo>
                      <a:pt x="64" y="145"/>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nvGrpSpPr>
            <p:cNvPr id="1047" name="Group 21"/>
            <p:cNvGrpSpPr>
              <a:grpSpLocks/>
            </p:cNvGrpSpPr>
            <p:nvPr/>
          </p:nvGrpSpPr>
          <p:grpSpPr bwMode="auto">
            <a:xfrm>
              <a:off x="300" y="3360"/>
              <a:ext cx="508" cy="820"/>
              <a:chOff x="1985" y="1201"/>
              <a:chExt cx="508" cy="820"/>
            </a:xfrm>
          </p:grpSpPr>
          <p:grpSp>
            <p:nvGrpSpPr>
              <p:cNvPr id="1048" name="Group 22"/>
              <p:cNvGrpSpPr>
                <a:grpSpLocks/>
              </p:cNvGrpSpPr>
              <p:nvPr/>
            </p:nvGrpSpPr>
            <p:grpSpPr bwMode="auto">
              <a:xfrm>
                <a:off x="2247" y="1201"/>
                <a:ext cx="246" cy="810"/>
                <a:chOff x="2247" y="1201"/>
                <a:chExt cx="246" cy="810"/>
              </a:xfrm>
            </p:grpSpPr>
            <p:sp>
              <p:nvSpPr>
                <p:cNvPr id="1057" name="Freeform 23"/>
                <p:cNvSpPr>
                  <a:spLocks/>
                </p:cNvSpPr>
                <p:nvPr/>
              </p:nvSpPr>
              <p:spPr bwMode="ltGray">
                <a:xfrm>
                  <a:off x="2392" y="1373"/>
                  <a:ext cx="92" cy="638"/>
                </a:xfrm>
                <a:custGeom>
                  <a:avLst/>
                  <a:gdLst>
                    <a:gd name="T0" fmla="*/ 91 w 92"/>
                    <a:gd name="T1" fmla="*/ 296 h 638"/>
                    <a:gd name="T2" fmla="*/ 83 w 92"/>
                    <a:gd name="T3" fmla="*/ 425 h 638"/>
                    <a:gd name="T4" fmla="*/ 75 w 92"/>
                    <a:gd name="T5" fmla="*/ 529 h 638"/>
                    <a:gd name="T6" fmla="*/ 70 w 92"/>
                    <a:gd name="T7" fmla="*/ 606 h 638"/>
                    <a:gd name="T8" fmla="*/ 71 w 92"/>
                    <a:gd name="T9" fmla="*/ 637 h 638"/>
                    <a:gd name="T10" fmla="*/ 60 w 92"/>
                    <a:gd name="T11" fmla="*/ 637 h 638"/>
                    <a:gd name="T12" fmla="*/ 57 w 92"/>
                    <a:gd name="T13" fmla="*/ 592 h 638"/>
                    <a:gd name="T14" fmla="*/ 55 w 92"/>
                    <a:gd name="T15" fmla="*/ 524 h 638"/>
                    <a:gd name="T16" fmla="*/ 51 w 92"/>
                    <a:gd name="T17" fmla="*/ 461 h 638"/>
                    <a:gd name="T18" fmla="*/ 49 w 92"/>
                    <a:gd name="T19" fmla="*/ 414 h 638"/>
                    <a:gd name="T20" fmla="*/ 45 w 92"/>
                    <a:gd name="T21" fmla="*/ 345 h 638"/>
                    <a:gd name="T22" fmla="*/ 40 w 92"/>
                    <a:gd name="T23" fmla="*/ 285 h 638"/>
                    <a:gd name="T24" fmla="*/ 35 w 92"/>
                    <a:gd name="T25" fmla="*/ 233 h 638"/>
                    <a:gd name="T26" fmla="*/ 31 w 92"/>
                    <a:gd name="T27" fmla="*/ 177 h 638"/>
                    <a:gd name="T28" fmla="*/ 24 w 92"/>
                    <a:gd name="T29" fmla="*/ 121 h 638"/>
                    <a:gd name="T30" fmla="*/ 17 w 92"/>
                    <a:gd name="T31" fmla="*/ 74 h 638"/>
                    <a:gd name="T32" fmla="*/ 4 w 92"/>
                    <a:gd name="T33" fmla="*/ 28 h 638"/>
                    <a:gd name="T34" fmla="*/ 0 w 92"/>
                    <a:gd name="T35" fmla="*/ 10 h 638"/>
                    <a:gd name="T36" fmla="*/ 5 w 92"/>
                    <a:gd name="T37" fmla="*/ 0 h 638"/>
                    <a:gd name="T38" fmla="*/ 13 w 92"/>
                    <a:gd name="T39" fmla="*/ 18 h 638"/>
                    <a:gd name="T40" fmla="*/ 24 w 92"/>
                    <a:gd name="T41" fmla="*/ 61 h 638"/>
                    <a:gd name="T42" fmla="*/ 33 w 92"/>
                    <a:gd name="T43" fmla="*/ 104 h 638"/>
                    <a:gd name="T44" fmla="*/ 40 w 92"/>
                    <a:gd name="T45" fmla="*/ 150 h 638"/>
                    <a:gd name="T46" fmla="*/ 44 w 92"/>
                    <a:gd name="T47" fmla="*/ 208 h 638"/>
                    <a:gd name="T48" fmla="*/ 48 w 92"/>
                    <a:gd name="T49" fmla="*/ 263 h 638"/>
                    <a:gd name="T50" fmla="*/ 55 w 92"/>
                    <a:gd name="T51" fmla="*/ 337 h 638"/>
                    <a:gd name="T52" fmla="*/ 59 w 92"/>
                    <a:gd name="T53" fmla="*/ 398 h 638"/>
                    <a:gd name="T54" fmla="*/ 61 w 92"/>
                    <a:gd name="T55" fmla="*/ 447 h 638"/>
                    <a:gd name="T56" fmla="*/ 63 w 92"/>
                    <a:gd name="T57" fmla="*/ 498 h 638"/>
                    <a:gd name="T58" fmla="*/ 68 w 92"/>
                    <a:gd name="T59" fmla="*/ 550 h 638"/>
                    <a:gd name="T60" fmla="*/ 73 w 92"/>
                    <a:gd name="T61" fmla="*/ 460 h 638"/>
                    <a:gd name="T62" fmla="*/ 80 w 92"/>
                    <a:gd name="T63" fmla="*/ 376 h 638"/>
                    <a:gd name="T64" fmla="*/ 91 w 92"/>
                    <a:gd name="T65" fmla="*/ 296 h 6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92" h="638">
                      <a:moveTo>
                        <a:pt x="91" y="296"/>
                      </a:moveTo>
                      <a:lnTo>
                        <a:pt x="83" y="425"/>
                      </a:lnTo>
                      <a:lnTo>
                        <a:pt x="75" y="529"/>
                      </a:lnTo>
                      <a:lnTo>
                        <a:pt x="70" y="606"/>
                      </a:lnTo>
                      <a:lnTo>
                        <a:pt x="71" y="637"/>
                      </a:lnTo>
                      <a:lnTo>
                        <a:pt x="60" y="637"/>
                      </a:lnTo>
                      <a:lnTo>
                        <a:pt x="57" y="592"/>
                      </a:lnTo>
                      <a:lnTo>
                        <a:pt x="55" y="524"/>
                      </a:lnTo>
                      <a:lnTo>
                        <a:pt x="51" y="461"/>
                      </a:lnTo>
                      <a:lnTo>
                        <a:pt x="49" y="414"/>
                      </a:lnTo>
                      <a:lnTo>
                        <a:pt x="45" y="345"/>
                      </a:lnTo>
                      <a:lnTo>
                        <a:pt x="40" y="285"/>
                      </a:lnTo>
                      <a:lnTo>
                        <a:pt x="35" y="233"/>
                      </a:lnTo>
                      <a:lnTo>
                        <a:pt x="31" y="177"/>
                      </a:lnTo>
                      <a:lnTo>
                        <a:pt x="24" y="121"/>
                      </a:lnTo>
                      <a:lnTo>
                        <a:pt x="17" y="74"/>
                      </a:lnTo>
                      <a:lnTo>
                        <a:pt x="4" y="28"/>
                      </a:lnTo>
                      <a:lnTo>
                        <a:pt x="0" y="10"/>
                      </a:lnTo>
                      <a:lnTo>
                        <a:pt x="5" y="0"/>
                      </a:lnTo>
                      <a:lnTo>
                        <a:pt x="13" y="18"/>
                      </a:lnTo>
                      <a:lnTo>
                        <a:pt x="24" y="61"/>
                      </a:lnTo>
                      <a:lnTo>
                        <a:pt x="33" y="104"/>
                      </a:lnTo>
                      <a:lnTo>
                        <a:pt x="40" y="150"/>
                      </a:lnTo>
                      <a:lnTo>
                        <a:pt x="44" y="208"/>
                      </a:lnTo>
                      <a:lnTo>
                        <a:pt x="48" y="263"/>
                      </a:lnTo>
                      <a:lnTo>
                        <a:pt x="55" y="337"/>
                      </a:lnTo>
                      <a:lnTo>
                        <a:pt x="59" y="398"/>
                      </a:lnTo>
                      <a:lnTo>
                        <a:pt x="61" y="447"/>
                      </a:lnTo>
                      <a:lnTo>
                        <a:pt x="63" y="498"/>
                      </a:lnTo>
                      <a:lnTo>
                        <a:pt x="68" y="550"/>
                      </a:lnTo>
                      <a:lnTo>
                        <a:pt x="73" y="460"/>
                      </a:lnTo>
                      <a:lnTo>
                        <a:pt x="80" y="376"/>
                      </a:lnTo>
                      <a:lnTo>
                        <a:pt x="91" y="296"/>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8" name="Freeform 24"/>
                <p:cNvSpPr>
                  <a:spLocks/>
                </p:cNvSpPr>
                <p:nvPr/>
              </p:nvSpPr>
              <p:spPr bwMode="ltGray">
                <a:xfrm>
                  <a:off x="2247" y="1201"/>
                  <a:ext cx="246" cy="466"/>
                </a:xfrm>
                <a:custGeom>
                  <a:avLst/>
                  <a:gdLst>
                    <a:gd name="T0" fmla="*/ 136 w 246"/>
                    <a:gd name="T1" fmla="*/ 67 h 466"/>
                    <a:gd name="T2" fmla="*/ 105 w 246"/>
                    <a:gd name="T3" fmla="*/ 12 h 466"/>
                    <a:gd name="T4" fmla="*/ 55 w 246"/>
                    <a:gd name="T5" fmla="*/ 1 h 466"/>
                    <a:gd name="T6" fmla="*/ 58 w 246"/>
                    <a:gd name="T7" fmla="*/ 12 h 466"/>
                    <a:gd name="T8" fmla="*/ 96 w 246"/>
                    <a:gd name="T9" fmla="*/ 39 h 466"/>
                    <a:gd name="T10" fmla="*/ 130 w 246"/>
                    <a:gd name="T11" fmla="*/ 134 h 466"/>
                    <a:gd name="T12" fmla="*/ 73 w 246"/>
                    <a:gd name="T13" fmla="*/ 85 h 466"/>
                    <a:gd name="T14" fmla="*/ 32 w 246"/>
                    <a:gd name="T15" fmla="*/ 75 h 466"/>
                    <a:gd name="T16" fmla="*/ 7 w 246"/>
                    <a:gd name="T17" fmla="*/ 103 h 466"/>
                    <a:gd name="T18" fmla="*/ 38 w 246"/>
                    <a:gd name="T19" fmla="*/ 103 h 466"/>
                    <a:gd name="T20" fmla="*/ 108 w 246"/>
                    <a:gd name="T21" fmla="*/ 129 h 466"/>
                    <a:gd name="T22" fmla="*/ 104 w 246"/>
                    <a:gd name="T23" fmla="*/ 146 h 466"/>
                    <a:gd name="T24" fmla="*/ 92 w 246"/>
                    <a:gd name="T25" fmla="*/ 171 h 466"/>
                    <a:gd name="T26" fmla="*/ 126 w 246"/>
                    <a:gd name="T27" fmla="*/ 170 h 466"/>
                    <a:gd name="T28" fmla="*/ 69 w 246"/>
                    <a:gd name="T29" fmla="*/ 193 h 466"/>
                    <a:gd name="T30" fmla="*/ 37 w 246"/>
                    <a:gd name="T31" fmla="*/ 233 h 466"/>
                    <a:gd name="T32" fmla="*/ 6 w 246"/>
                    <a:gd name="T33" fmla="*/ 325 h 466"/>
                    <a:gd name="T34" fmla="*/ 72 w 246"/>
                    <a:gd name="T35" fmla="*/ 231 h 466"/>
                    <a:gd name="T36" fmla="*/ 118 w 246"/>
                    <a:gd name="T37" fmla="*/ 194 h 466"/>
                    <a:gd name="T38" fmla="*/ 94 w 246"/>
                    <a:gd name="T39" fmla="*/ 269 h 466"/>
                    <a:gd name="T40" fmla="*/ 76 w 246"/>
                    <a:gd name="T41" fmla="*/ 338 h 466"/>
                    <a:gd name="T42" fmla="*/ 71 w 246"/>
                    <a:gd name="T43" fmla="*/ 408 h 466"/>
                    <a:gd name="T44" fmla="*/ 98 w 246"/>
                    <a:gd name="T45" fmla="*/ 303 h 466"/>
                    <a:gd name="T46" fmla="*/ 124 w 246"/>
                    <a:gd name="T47" fmla="*/ 236 h 466"/>
                    <a:gd name="T48" fmla="*/ 125 w 246"/>
                    <a:gd name="T49" fmla="*/ 214 h 466"/>
                    <a:gd name="T50" fmla="*/ 118 w 246"/>
                    <a:gd name="T51" fmla="*/ 323 h 466"/>
                    <a:gd name="T52" fmla="*/ 138 w 246"/>
                    <a:gd name="T53" fmla="*/ 439 h 466"/>
                    <a:gd name="T54" fmla="*/ 128 w 246"/>
                    <a:gd name="T55" fmla="*/ 313 h 466"/>
                    <a:gd name="T56" fmla="*/ 127 w 246"/>
                    <a:gd name="T57" fmla="*/ 223 h 466"/>
                    <a:gd name="T58" fmla="*/ 147 w 246"/>
                    <a:gd name="T59" fmla="*/ 189 h 466"/>
                    <a:gd name="T60" fmla="*/ 188 w 246"/>
                    <a:gd name="T61" fmla="*/ 298 h 466"/>
                    <a:gd name="T62" fmla="*/ 223 w 246"/>
                    <a:gd name="T63" fmla="*/ 411 h 466"/>
                    <a:gd name="T64" fmla="*/ 193 w 246"/>
                    <a:gd name="T65" fmla="*/ 292 h 466"/>
                    <a:gd name="T66" fmla="*/ 160 w 246"/>
                    <a:gd name="T67" fmla="*/ 190 h 466"/>
                    <a:gd name="T68" fmla="*/ 164 w 246"/>
                    <a:gd name="T69" fmla="*/ 121 h 466"/>
                    <a:gd name="T70" fmla="*/ 194 w 246"/>
                    <a:gd name="T71" fmla="*/ 130 h 466"/>
                    <a:gd name="T72" fmla="*/ 240 w 246"/>
                    <a:gd name="T73" fmla="*/ 125 h 466"/>
                    <a:gd name="T74" fmla="*/ 216 w 246"/>
                    <a:gd name="T75" fmla="*/ 122 h 466"/>
                    <a:gd name="T76" fmla="*/ 163 w 246"/>
                    <a:gd name="T77" fmla="*/ 144 h 466"/>
                    <a:gd name="T78" fmla="*/ 194 w 246"/>
                    <a:gd name="T79" fmla="*/ 109 h 466"/>
                    <a:gd name="T80" fmla="*/ 244 w 246"/>
                    <a:gd name="T81" fmla="*/ 101 h 466"/>
                    <a:gd name="T82" fmla="*/ 229 w 246"/>
                    <a:gd name="T83" fmla="*/ 88 h 466"/>
                    <a:gd name="T84" fmla="*/ 163 w 246"/>
                    <a:gd name="T85" fmla="*/ 138 h 466"/>
                    <a:gd name="T86" fmla="*/ 172 w 246"/>
                    <a:gd name="T87" fmla="*/ 99 h 466"/>
                    <a:gd name="T88" fmla="*/ 226 w 246"/>
                    <a:gd name="T89" fmla="*/ 61 h 466"/>
                    <a:gd name="T90" fmla="*/ 188 w 246"/>
                    <a:gd name="T91" fmla="*/ 82 h 466"/>
                    <a:gd name="T92" fmla="*/ 147 w 246"/>
                    <a:gd name="T93" fmla="*/ 109 h 46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46" h="466">
                      <a:moveTo>
                        <a:pt x="147" y="109"/>
                      </a:moveTo>
                      <a:lnTo>
                        <a:pt x="143" y="88"/>
                      </a:lnTo>
                      <a:lnTo>
                        <a:pt x="136" y="67"/>
                      </a:lnTo>
                      <a:lnTo>
                        <a:pt x="127" y="44"/>
                      </a:lnTo>
                      <a:lnTo>
                        <a:pt x="117" y="27"/>
                      </a:lnTo>
                      <a:lnTo>
                        <a:pt x="105" y="12"/>
                      </a:lnTo>
                      <a:lnTo>
                        <a:pt x="89" y="5"/>
                      </a:lnTo>
                      <a:lnTo>
                        <a:pt x="69" y="0"/>
                      </a:lnTo>
                      <a:lnTo>
                        <a:pt x="55" y="1"/>
                      </a:lnTo>
                      <a:lnTo>
                        <a:pt x="39" y="0"/>
                      </a:lnTo>
                      <a:lnTo>
                        <a:pt x="49" y="11"/>
                      </a:lnTo>
                      <a:lnTo>
                        <a:pt x="58" y="12"/>
                      </a:lnTo>
                      <a:lnTo>
                        <a:pt x="69" y="19"/>
                      </a:lnTo>
                      <a:lnTo>
                        <a:pt x="80" y="25"/>
                      </a:lnTo>
                      <a:lnTo>
                        <a:pt x="96" y="39"/>
                      </a:lnTo>
                      <a:lnTo>
                        <a:pt x="109" y="58"/>
                      </a:lnTo>
                      <a:lnTo>
                        <a:pt x="118" y="82"/>
                      </a:lnTo>
                      <a:lnTo>
                        <a:pt x="130" y="134"/>
                      </a:lnTo>
                      <a:lnTo>
                        <a:pt x="96" y="99"/>
                      </a:lnTo>
                      <a:lnTo>
                        <a:pt x="85" y="91"/>
                      </a:lnTo>
                      <a:lnTo>
                        <a:pt x="73" y="85"/>
                      </a:lnTo>
                      <a:lnTo>
                        <a:pt x="61" y="83"/>
                      </a:lnTo>
                      <a:lnTo>
                        <a:pt x="54" y="80"/>
                      </a:lnTo>
                      <a:lnTo>
                        <a:pt x="32" y="75"/>
                      </a:lnTo>
                      <a:lnTo>
                        <a:pt x="0" y="72"/>
                      </a:lnTo>
                      <a:lnTo>
                        <a:pt x="0" y="103"/>
                      </a:lnTo>
                      <a:lnTo>
                        <a:pt x="7" y="103"/>
                      </a:lnTo>
                      <a:lnTo>
                        <a:pt x="17" y="104"/>
                      </a:lnTo>
                      <a:lnTo>
                        <a:pt x="29" y="103"/>
                      </a:lnTo>
                      <a:lnTo>
                        <a:pt x="38" y="103"/>
                      </a:lnTo>
                      <a:lnTo>
                        <a:pt x="62" y="107"/>
                      </a:lnTo>
                      <a:lnTo>
                        <a:pt x="72" y="111"/>
                      </a:lnTo>
                      <a:lnTo>
                        <a:pt x="108" y="129"/>
                      </a:lnTo>
                      <a:lnTo>
                        <a:pt x="127" y="144"/>
                      </a:lnTo>
                      <a:lnTo>
                        <a:pt x="113" y="146"/>
                      </a:lnTo>
                      <a:lnTo>
                        <a:pt x="104" y="146"/>
                      </a:lnTo>
                      <a:lnTo>
                        <a:pt x="89" y="161"/>
                      </a:lnTo>
                      <a:lnTo>
                        <a:pt x="82" y="183"/>
                      </a:lnTo>
                      <a:lnTo>
                        <a:pt x="92" y="171"/>
                      </a:lnTo>
                      <a:lnTo>
                        <a:pt x="120" y="155"/>
                      </a:lnTo>
                      <a:lnTo>
                        <a:pt x="137" y="162"/>
                      </a:lnTo>
                      <a:lnTo>
                        <a:pt x="126" y="170"/>
                      </a:lnTo>
                      <a:lnTo>
                        <a:pt x="113" y="171"/>
                      </a:lnTo>
                      <a:lnTo>
                        <a:pt x="79" y="189"/>
                      </a:lnTo>
                      <a:lnTo>
                        <a:pt x="69" y="193"/>
                      </a:lnTo>
                      <a:lnTo>
                        <a:pt x="57" y="199"/>
                      </a:lnTo>
                      <a:lnTo>
                        <a:pt x="48" y="209"/>
                      </a:lnTo>
                      <a:lnTo>
                        <a:pt x="37" y="233"/>
                      </a:lnTo>
                      <a:lnTo>
                        <a:pt x="31" y="251"/>
                      </a:lnTo>
                      <a:lnTo>
                        <a:pt x="13" y="310"/>
                      </a:lnTo>
                      <a:lnTo>
                        <a:pt x="6" y="325"/>
                      </a:lnTo>
                      <a:lnTo>
                        <a:pt x="36" y="281"/>
                      </a:lnTo>
                      <a:lnTo>
                        <a:pt x="50" y="265"/>
                      </a:lnTo>
                      <a:lnTo>
                        <a:pt x="72" y="231"/>
                      </a:lnTo>
                      <a:lnTo>
                        <a:pt x="83" y="218"/>
                      </a:lnTo>
                      <a:lnTo>
                        <a:pt x="92" y="209"/>
                      </a:lnTo>
                      <a:lnTo>
                        <a:pt x="118" y="194"/>
                      </a:lnTo>
                      <a:lnTo>
                        <a:pt x="132" y="181"/>
                      </a:lnTo>
                      <a:lnTo>
                        <a:pt x="121" y="195"/>
                      </a:lnTo>
                      <a:lnTo>
                        <a:pt x="94" y="269"/>
                      </a:lnTo>
                      <a:lnTo>
                        <a:pt x="84" y="302"/>
                      </a:lnTo>
                      <a:lnTo>
                        <a:pt x="79" y="320"/>
                      </a:lnTo>
                      <a:lnTo>
                        <a:pt x="76" y="338"/>
                      </a:lnTo>
                      <a:lnTo>
                        <a:pt x="75" y="359"/>
                      </a:lnTo>
                      <a:lnTo>
                        <a:pt x="74" y="375"/>
                      </a:lnTo>
                      <a:lnTo>
                        <a:pt x="71" y="408"/>
                      </a:lnTo>
                      <a:lnTo>
                        <a:pt x="84" y="375"/>
                      </a:lnTo>
                      <a:lnTo>
                        <a:pt x="92" y="330"/>
                      </a:lnTo>
                      <a:lnTo>
                        <a:pt x="98" y="303"/>
                      </a:lnTo>
                      <a:lnTo>
                        <a:pt x="104" y="286"/>
                      </a:lnTo>
                      <a:lnTo>
                        <a:pt x="118" y="252"/>
                      </a:lnTo>
                      <a:lnTo>
                        <a:pt x="124" y="236"/>
                      </a:lnTo>
                      <a:lnTo>
                        <a:pt x="128" y="216"/>
                      </a:lnTo>
                      <a:lnTo>
                        <a:pt x="137" y="188"/>
                      </a:lnTo>
                      <a:lnTo>
                        <a:pt x="125" y="214"/>
                      </a:lnTo>
                      <a:lnTo>
                        <a:pt x="119" y="243"/>
                      </a:lnTo>
                      <a:lnTo>
                        <a:pt x="117" y="302"/>
                      </a:lnTo>
                      <a:lnTo>
                        <a:pt x="118" y="323"/>
                      </a:lnTo>
                      <a:lnTo>
                        <a:pt x="120" y="362"/>
                      </a:lnTo>
                      <a:lnTo>
                        <a:pt x="123" y="377"/>
                      </a:lnTo>
                      <a:lnTo>
                        <a:pt x="138" y="439"/>
                      </a:lnTo>
                      <a:lnTo>
                        <a:pt x="141" y="465"/>
                      </a:lnTo>
                      <a:lnTo>
                        <a:pt x="137" y="379"/>
                      </a:lnTo>
                      <a:lnTo>
                        <a:pt x="128" y="313"/>
                      </a:lnTo>
                      <a:lnTo>
                        <a:pt x="126" y="291"/>
                      </a:lnTo>
                      <a:lnTo>
                        <a:pt x="125" y="238"/>
                      </a:lnTo>
                      <a:lnTo>
                        <a:pt x="127" y="223"/>
                      </a:lnTo>
                      <a:lnTo>
                        <a:pt x="133" y="196"/>
                      </a:lnTo>
                      <a:lnTo>
                        <a:pt x="138" y="179"/>
                      </a:lnTo>
                      <a:lnTo>
                        <a:pt x="147" y="189"/>
                      </a:lnTo>
                      <a:lnTo>
                        <a:pt x="161" y="212"/>
                      </a:lnTo>
                      <a:lnTo>
                        <a:pt x="177" y="259"/>
                      </a:lnTo>
                      <a:lnTo>
                        <a:pt x="188" y="298"/>
                      </a:lnTo>
                      <a:lnTo>
                        <a:pt x="197" y="333"/>
                      </a:lnTo>
                      <a:lnTo>
                        <a:pt x="213" y="384"/>
                      </a:lnTo>
                      <a:lnTo>
                        <a:pt x="223" y="411"/>
                      </a:lnTo>
                      <a:lnTo>
                        <a:pt x="232" y="429"/>
                      </a:lnTo>
                      <a:lnTo>
                        <a:pt x="228" y="403"/>
                      </a:lnTo>
                      <a:lnTo>
                        <a:pt x="193" y="292"/>
                      </a:lnTo>
                      <a:lnTo>
                        <a:pt x="171" y="232"/>
                      </a:lnTo>
                      <a:lnTo>
                        <a:pt x="165" y="210"/>
                      </a:lnTo>
                      <a:lnTo>
                        <a:pt x="160" y="190"/>
                      </a:lnTo>
                      <a:lnTo>
                        <a:pt x="144" y="150"/>
                      </a:lnTo>
                      <a:lnTo>
                        <a:pt x="147" y="132"/>
                      </a:lnTo>
                      <a:lnTo>
                        <a:pt x="164" y="121"/>
                      </a:lnTo>
                      <a:lnTo>
                        <a:pt x="172" y="125"/>
                      </a:lnTo>
                      <a:lnTo>
                        <a:pt x="183" y="126"/>
                      </a:lnTo>
                      <a:lnTo>
                        <a:pt x="194" y="130"/>
                      </a:lnTo>
                      <a:lnTo>
                        <a:pt x="239" y="136"/>
                      </a:lnTo>
                      <a:lnTo>
                        <a:pt x="236" y="136"/>
                      </a:lnTo>
                      <a:lnTo>
                        <a:pt x="240" y="125"/>
                      </a:lnTo>
                      <a:lnTo>
                        <a:pt x="242" y="125"/>
                      </a:lnTo>
                      <a:lnTo>
                        <a:pt x="230" y="122"/>
                      </a:lnTo>
                      <a:lnTo>
                        <a:pt x="216" y="122"/>
                      </a:lnTo>
                      <a:lnTo>
                        <a:pt x="199" y="127"/>
                      </a:lnTo>
                      <a:lnTo>
                        <a:pt x="180" y="135"/>
                      </a:lnTo>
                      <a:lnTo>
                        <a:pt x="163" y="144"/>
                      </a:lnTo>
                      <a:lnTo>
                        <a:pt x="150" y="149"/>
                      </a:lnTo>
                      <a:lnTo>
                        <a:pt x="168" y="129"/>
                      </a:lnTo>
                      <a:lnTo>
                        <a:pt x="194" y="109"/>
                      </a:lnTo>
                      <a:lnTo>
                        <a:pt x="220" y="100"/>
                      </a:lnTo>
                      <a:lnTo>
                        <a:pt x="232" y="100"/>
                      </a:lnTo>
                      <a:lnTo>
                        <a:pt x="244" y="101"/>
                      </a:lnTo>
                      <a:lnTo>
                        <a:pt x="239" y="101"/>
                      </a:lnTo>
                      <a:lnTo>
                        <a:pt x="245" y="85"/>
                      </a:lnTo>
                      <a:lnTo>
                        <a:pt x="229" y="88"/>
                      </a:lnTo>
                      <a:lnTo>
                        <a:pt x="212" y="97"/>
                      </a:lnTo>
                      <a:lnTo>
                        <a:pt x="193" y="111"/>
                      </a:lnTo>
                      <a:lnTo>
                        <a:pt x="163" y="138"/>
                      </a:lnTo>
                      <a:lnTo>
                        <a:pt x="150" y="149"/>
                      </a:lnTo>
                      <a:lnTo>
                        <a:pt x="157" y="114"/>
                      </a:lnTo>
                      <a:lnTo>
                        <a:pt x="172" y="99"/>
                      </a:lnTo>
                      <a:lnTo>
                        <a:pt x="190" y="85"/>
                      </a:lnTo>
                      <a:lnTo>
                        <a:pt x="214" y="67"/>
                      </a:lnTo>
                      <a:lnTo>
                        <a:pt x="226" y="61"/>
                      </a:lnTo>
                      <a:lnTo>
                        <a:pt x="212" y="57"/>
                      </a:lnTo>
                      <a:lnTo>
                        <a:pt x="200" y="67"/>
                      </a:lnTo>
                      <a:lnTo>
                        <a:pt x="188" y="82"/>
                      </a:lnTo>
                      <a:lnTo>
                        <a:pt x="178" y="93"/>
                      </a:lnTo>
                      <a:lnTo>
                        <a:pt x="163" y="115"/>
                      </a:lnTo>
                      <a:lnTo>
                        <a:pt x="147" y="109"/>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nvGrpSpPr>
              <p:cNvPr id="1049" name="Group 25"/>
              <p:cNvGrpSpPr>
                <a:grpSpLocks/>
              </p:cNvGrpSpPr>
              <p:nvPr/>
            </p:nvGrpSpPr>
            <p:grpSpPr bwMode="auto">
              <a:xfrm>
                <a:off x="1985" y="1419"/>
                <a:ext cx="465" cy="602"/>
                <a:chOff x="1985" y="1419"/>
                <a:chExt cx="465" cy="602"/>
              </a:xfrm>
            </p:grpSpPr>
            <p:sp>
              <p:nvSpPr>
                <p:cNvPr id="1050" name="Freeform 26"/>
                <p:cNvSpPr>
                  <a:spLocks/>
                </p:cNvSpPr>
                <p:nvPr/>
              </p:nvSpPr>
              <p:spPr bwMode="ltGray">
                <a:xfrm>
                  <a:off x="2164" y="1525"/>
                  <a:ext cx="130" cy="496"/>
                </a:xfrm>
                <a:custGeom>
                  <a:avLst/>
                  <a:gdLst>
                    <a:gd name="T0" fmla="*/ 129 w 130"/>
                    <a:gd name="T1" fmla="*/ 230 h 496"/>
                    <a:gd name="T2" fmla="*/ 118 w 130"/>
                    <a:gd name="T3" fmla="*/ 330 h 496"/>
                    <a:gd name="T4" fmla="*/ 107 w 130"/>
                    <a:gd name="T5" fmla="*/ 411 h 496"/>
                    <a:gd name="T6" fmla="*/ 100 w 130"/>
                    <a:gd name="T7" fmla="*/ 471 h 496"/>
                    <a:gd name="T8" fmla="*/ 101 w 130"/>
                    <a:gd name="T9" fmla="*/ 495 h 496"/>
                    <a:gd name="T10" fmla="*/ 86 w 130"/>
                    <a:gd name="T11" fmla="*/ 495 h 496"/>
                    <a:gd name="T12" fmla="*/ 81 w 130"/>
                    <a:gd name="T13" fmla="*/ 460 h 496"/>
                    <a:gd name="T14" fmla="*/ 79 w 130"/>
                    <a:gd name="T15" fmla="*/ 408 h 496"/>
                    <a:gd name="T16" fmla="*/ 73 w 130"/>
                    <a:gd name="T17" fmla="*/ 358 h 496"/>
                    <a:gd name="T18" fmla="*/ 70 w 130"/>
                    <a:gd name="T19" fmla="*/ 321 h 496"/>
                    <a:gd name="T20" fmla="*/ 64 w 130"/>
                    <a:gd name="T21" fmla="*/ 268 h 496"/>
                    <a:gd name="T22" fmla="*/ 56 w 130"/>
                    <a:gd name="T23" fmla="*/ 222 h 496"/>
                    <a:gd name="T24" fmla="*/ 51 w 130"/>
                    <a:gd name="T25" fmla="*/ 181 h 496"/>
                    <a:gd name="T26" fmla="*/ 45 w 130"/>
                    <a:gd name="T27" fmla="*/ 137 h 496"/>
                    <a:gd name="T28" fmla="*/ 35 w 130"/>
                    <a:gd name="T29" fmla="*/ 94 h 496"/>
                    <a:gd name="T30" fmla="*/ 24 w 130"/>
                    <a:gd name="T31" fmla="*/ 57 h 496"/>
                    <a:gd name="T32" fmla="*/ 6 w 130"/>
                    <a:gd name="T33" fmla="*/ 21 h 496"/>
                    <a:gd name="T34" fmla="*/ 0 w 130"/>
                    <a:gd name="T35" fmla="*/ 8 h 496"/>
                    <a:gd name="T36" fmla="*/ 7 w 130"/>
                    <a:gd name="T37" fmla="*/ 0 h 496"/>
                    <a:gd name="T38" fmla="*/ 19 w 130"/>
                    <a:gd name="T39" fmla="*/ 14 h 496"/>
                    <a:gd name="T40" fmla="*/ 35 w 130"/>
                    <a:gd name="T41" fmla="*/ 47 h 496"/>
                    <a:gd name="T42" fmla="*/ 47 w 130"/>
                    <a:gd name="T43" fmla="*/ 81 h 496"/>
                    <a:gd name="T44" fmla="*/ 56 w 130"/>
                    <a:gd name="T45" fmla="*/ 116 h 496"/>
                    <a:gd name="T46" fmla="*/ 63 w 130"/>
                    <a:gd name="T47" fmla="*/ 161 h 496"/>
                    <a:gd name="T48" fmla="*/ 69 w 130"/>
                    <a:gd name="T49" fmla="*/ 204 h 496"/>
                    <a:gd name="T50" fmla="*/ 77 w 130"/>
                    <a:gd name="T51" fmla="*/ 262 h 496"/>
                    <a:gd name="T52" fmla="*/ 84 w 130"/>
                    <a:gd name="T53" fmla="*/ 309 h 496"/>
                    <a:gd name="T54" fmla="*/ 87 w 130"/>
                    <a:gd name="T55" fmla="*/ 347 h 496"/>
                    <a:gd name="T56" fmla="*/ 90 w 130"/>
                    <a:gd name="T57" fmla="*/ 386 h 496"/>
                    <a:gd name="T58" fmla="*/ 96 w 130"/>
                    <a:gd name="T59" fmla="*/ 427 h 496"/>
                    <a:gd name="T60" fmla="*/ 104 w 130"/>
                    <a:gd name="T61" fmla="*/ 357 h 496"/>
                    <a:gd name="T62" fmla="*/ 114 w 130"/>
                    <a:gd name="T63" fmla="*/ 292 h 496"/>
                    <a:gd name="T64" fmla="*/ 129 w 130"/>
                    <a:gd name="T65" fmla="*/ 230 h 49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0" h="496">
                      <a:moveTo>
                        <a:pt x="129" y="230"/>
                      </a:moveTo>
                      <a:lnTo>
                        <a:pt x="118" y="330"/>
                      </a:lnTo>
                      <a:lnTo>
                        <a:pt x="107" y="411"/>
                      </a:lnTo>
                      <a:lnTo>
                        <a:pt x="100" y="471"/>
                      </a:lnTo>
                      <a:lnTo>
                        <a:pt x="101" y="495"/>
                      </a:lnTo>
                      <a:lnTo>
                        <a:pt x="86" y="495"/>
                      </a:lnTo>
                      <a:lnTo>
                        <a:pt x="81" y="460"/>
                      </a:lnTo>
                      <a:lnTo>
                        <a:pt x="79" y="408"/>
                      </a:lnTo>
                      <a:lnTo>
                        <a:pt x="73" y="358"/>
                      </a:lnTo>
                      <a:lnTo>
                        <a:pt x="70" y="321"/>
                      </a:lnTo>
                      <a:lnTo>
                        <a:pt x="64" y="268"/>
                      </a:lnTo>
                      <a:lnTo>
                        <a:pt x="56" y="222"/>
                      </a:lnTo>
                      <a:lnTo>
                        <a:pt x="51" y="181"/>
                      </a:lnTo>
                      <a:lnTo>
                        <a:pt x="45" y="137"/>
                      </a:lnTo>
                      <a:lnTo>
                        <a:pt x="35" y="94"/>
                      </a:lnTo>
                      <a:lnTo>
                        <a:pt x="24" y="57"/>
                      </a:lnTo>
                      <a:lnTo>
                        <a:pt x="6" y="21"/>
                      </a:lnTo>
                      <a:lnTo>
                        <a:pt x="0" y="8"/>
                      </a:lnTo>
                      <a:lnTo>
                        <a:pt x="7" y="0"/>
                      </a:lnTo>
                      <a:lnTo>
                        <a:pt x="19" y="14"/>
                      </a:lnTo>
                      <a:lnTo>
                        <a:pt x="35" y="47"/>
                      </a:lnTo>
                      <a:lnTo>
                        <a:pt x="47" y="81"/>
                      </a:lnTo>
                      <a:lnTo>
                        <a:pt x="56" y="116"/>
                      </a:lnTo>
                      <a:lnTo>
                        <a:pt x="63" y="161"/>
                      </a:lnTo>
                      <a:lnTo>
                        <a:pt x="69" y="204"/>
                      </a:lnTo>
                      <a:lnTo>
                        <a:pt x="77" y="262"/>
                      </a:lnTo>
                      <a:lnTo>
                        <a:pt x="84" y="309"/>
                      </a:lnTo>
                      <a:lnTo>
                        <a:pt x="87" y="347"/>
                      </a:lnTo>
                      <a:lnTo>
                        <a:pt x="90" y="386"/>
                      </a:lnTo>
                      <a:lnTo>
                        <a:pt x="96" y="427"/>
                      </a:lnTo>
                      <a:lnTo>
                        <a:pt x="104" y="357"/>
                      </a:lnTo>
                      <a:lnTo>
                        <a:pt x="114" y="292"/>
                      </a:lnTo>
                      <a:lnTo>
                        <a:pt x="129" y="230"/>
                      </a:lnTo>
                    </a:path>
                  </a:pathLst>
                </a:custGeom>
                <a:solidFill>
                  <a:srgbClr val="3C002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1" name="Freeform 27"/>
                <p:cNvSpPr>
                  <a:spLocks/>
                </p:cNvSpPr>
                <p:nvPr/>
              </p:nvSpPr>
              <p:spPr bwMode="ltGray">
                <a:xfrm>
                  <a:off x="2204" y="1606"/>
                  <a:ext cx="229" cy="358"/>
                </a:xfrm>
                <a:custGeom>
                  <a:avLst/>
                  <a:gdLst>
                    <a:gd name="T0" fmla="*/ 60 w 229"/>
                    <a:gd name="T1" fmla="*/ 58 h 358"/>
                    <a:gd name="T2" fmla="*/ 67 w 229"/>
                    <a:gd name="T3" fmla="*/ 44 h 358"/>
                    <a:gd name="T4" fmla="*/ 64 w 229"/>
                    <a:gd name="T5" fmla="*/ 5 h 358"/>
                    <a:gd name="T6" fmla="*/ 64 w 229"/>
                    <a:gd name="T7" fmla="*/ 5 h 358"/>
                    <a:gd name="T8" fmla="*/ 64 w 229"/>
                    <a:gd name="T9" fmla="*/ 5 h 358"/>
                    <a:gd name="T10" fmla="*/ 64 w 229"/>
                    <a:gd name="T11" fmla="*/ 5 h 358"/>
                    <a:gd name="T12" fmla="*/ 64 w 229"/>
                    <a:gd name="T13" fmla="*/ 5 h 358"/>
                    <a:gd name="T14" fmla="*/ 70 w 229"/>
                    <a:gd name="T15" fmla="*/ 2 h 358"/>
                    <a:gd name="T16" fmla="*/ 82 w 229"/>
                    <a:gd name="T17" fmla="*/ 66 h 358"/>
                    <a:gd name="T18" fmla="*/ 94 w 229"/>
                    <a:gd name="T19" fmla="*/ 39 h 358"/>
                    <a:gd name="T20" fmla="*/ 101 w 229"/>
                    <a:gd name="T21" fmla="*/ 5 h 358"/>
                    <a:gd name="T22" fmla="*/ 104 w 229"/>
                    <a:gd name="T23" fmla="*/ 5 h 358"/>
                    <a:gd name="T24" fmla="*/ 103 w 229"/>
                    <a:gd name="T25" fmla="*/ 5 h 358"/>
                    <a:gd name="T26" fmla="*/ 104 w 229"/>
                    <a:gd name="T27" fmla="*/ 5 h 358"/>
                    <a:gd name="T28" fmla="*/ 102 w 229"/>
                    <a:gd name="T29" fmla="*/ 5 h 358"/>
                    <a:gd name="T30" fmla="*/ 103 w 229"/>
                    <a:gd name="T31" fmla="*/ 5 h 358"/>
                    <a:gd name="T32" fmla="*/ 105 w 229"/>
                    <a:gd name="T33" fmla="*/ 47 h 358"/>
                    <a:gd name="T34" fmla="*/ 111 w 229"/>
                    <a:gd name="T35" fmla="*/ 88 h 358"/>
                    <a:gd name="T36" fmla="*/ 139 w 229"/>
                    <a:gd name="T37" fmla="*/ 79 h 358"/>
                    <a:gd name="T38" fmla="*/ 176 w 229"/>
                    <a:gd name="T39" fmla="*/ 81 h 358"/>
                    <a:gd name="T40" fmla="*/ 205 w 229"/>
                    <a:gd name="T41" fmla="*/ 104 h 358"/>
                    <a:gd name="T42" fmla="*/ 228 w 229"/>
                    <a:gd name="T43" fmla="*/ 155 h 358"/>
                    <a:gd name="T44" fmla="*/ 200 w 229"/>
                    <a:gd name="T45" fmla="*/ 147 h 358"/>
                    <a:gd name="T46" fmla="*/ 171 w 229"/>
                    <a:gd name="T47" fmla="*/ 131 h 358"/>
                    <a:gd name="T48" fmla="*/ 132 w 229"/>
                    <a:gd name="T49" fmla="*/ 121 h 358"/>
                    <a:gd name="T50" fmla="*/ 107 w 229"/>
                    <a:gd name="T51" fmla="*/ 125 h 358"/>
                    <a:gd name="T52" fmla="*/ 122 w 229"/>
                    <a:gd name="T53" fmla="*/ 150 h 358"/>
                    <a:gd name="T54" fmla="*/ 154 w 229"/>
                    <a:gd name="T55" fmla="*/ 165 h 358"/>
                    <a:gd name="T56" fmla="*/ 187 w 229"/>
                    <a:gd name="T57" fmla="*/ 175 h 358"/>
                    <a:gd name="T58" fmla="*/ 212 w 229"/>
                    <a:gd name="T59" fmla="*/ 212 h 358"/>
                    <a:gd name="T60" fmla="*/ 224 w 229"/>
                    <a:gd name="T61" fmla="*/ 262 h 358"/>
                    <a:gd name="T62" fmla="*/ 194 w 229"/>
                    <a:gd name="T63" fmla="*/ 231 h 358"/>
                    <a:gd name="T64" fmla="*/ 163 w 229"/>
                    <a:gd name="T65" fmla="*/ 199 h 358"/>
                    <a:gd name="T66" fmla="*/ 133 w 229"/>
                    <a:gd name="T67" fmla="*/ 172 h 358"/>
                    <a:gd name="T68" fmla="*/ 111 w 229"/>
                    <a:gd name="T69" fmla="*/ 159 h 358"/>
                    <a:gd name="T70" fmla="*/ 97 w 229"/>
                    <a:gd name="T71" fmla="*/ 185 h 358"/>
                    <a:gd name="T72" fmla="*/ 115 w 229"/>
                    <a:gd name="T73" fmla="*/ 245 h 358"/>
                    <a:gd name="T74" fmla="*/ 132 w 229"/>
                    <a:gd name="T75" fmla="*/ 312 h 358"/>
                    <a:gd name="T76" fmla="*/ 114 w 229"/>
                    <a:gd name="T77" fmla="*/ 328 h 358"/>
                    <a:gd name="T78" fmla="*/ 95 w 229"/>
                    <a:gd name="T79" fmla="*/ 236 h 358"/>
                    <a:gd name="T80" fmla="*/ 78 w 229"/>
                    <a:gd name="T81" fmla="*/ 179 h 358"/>
                    <a:gd name="T82" fmla="*/ 73 w 229"/>
                    <a:gd name="T83" fmla="*/ 197 h 358"/>
                    <a:gd name="T84" fmla="*/ 74 w 229"/>
                    <a:gd name="T85" fmla="*/ 186 h 358"/>
                    <a:gd name="T86" fmla="*/ 70 w 229"/>
                    <a:gd name="T87" fmla="*/ 206 h 358"/>
                    <a:gd name="T88" fmla="*/ 51 w 229"/>
                    <a:gd name="T89" fmla="*/ 257 h 358"/>
                    <a:gd name="T90" fmla="*/ 32 w 229"/>
                    <a:gd name="T91" fmla="*/ 322 h 358"/>
                    <a:gd name="T92" fmla="*/ 28 w 229"/>
                    <a:gd name="T93" fmla="*/ 304 h 358"/>
                    <a:gd name="T94" fmla="*/ 38 w 229"/>
                    <a:gd name="T95" fmla="*/ 249 h 358"/>
                    <a:gd name="T96" fmla="*/ 59 w 229"/>
                    <a:gd name="T97" fmla="*/ 189 h 358"/>
                    <a:gd name="T98" fmla="*/ 82 w 229"/>
                    <a:gd name="T99" fmla="*/ 143 h 358"/>
                    <a:gd name="T100" fmla="*/ 65 w 229"/>
                    <a:gd name="T101" fmla="*/ 139 h 358"/>
                    <a:gd name="T102" fmla="*/ 40 w 229"/>
                    <a:gd name="T103" fmla="*/ 189 h 358"/>
                    <a:gd name="T104" fmla="*/ 18 w 229"/>
                    <a:gd name="T105" fmla="*/ 243 h 358"/>
                    <a:gd name="T106" fmla="*/ 2 w 229"/>
                    <a:gd name="T107" fmla="*/ 278 h 358"/>
                    <a:gd name="T108" fmla="*/ 13 w 229"/>
                    <a:gd name="T109" fmla="*/ 229 h 358"/>
                    <a:gd name="T110" fmla="*/ 37 w 229"/>
                    <a:gd name="T111" fmla="*/ 179 h 358"/>
                    <a:gd name="T112" fmla="*/ 70 w 229"/>
                    <a:gd name="T113" fmla="*/ 130 h 358"/>
                    <a:gd name="T114" fmla="*/ 62 w 229"/>
                    <a:gd name="T115" fmla="*/ 99 h 358"/>
                    <a:gd name="T116" fmla="*/ 37 w 229"/>
                    <a:gd name="T117" fmla="*/ 59 h 358"/>
                    <a:gd name="T118" fmla="*/ 11 w 229"/>
                    <a:gd name="T119" fmla="*/ 12 h 358"/>
                    <a:gd name="T120" fmla="*/ 14 w 229"/>
                    <a:gd name="T121" fmla="*/ 5 h 358"/>
                    <a:gd name="T122" fmla="*/ 27 w 229"/>
                    <a:gd name="T123" fmla="*/ 5 h 358"/>
                    <a:gd name="T124" fmla="*/ 31 w 229"/>
                    <a:gd name="T125" fmla="*/ 10 h 35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9" h="358">
                      <a:moveTo>
                        <a:pt x="43" y="31"/>
                      </a:moveTo>
                      <a:lnTo>
                        <a:pt x="47" y="39"/>
                      </a:lnTo>
                      <a:lnTo>
                        <a:pt x="51" y="44"/>
                      </a:lnTo>
                      <a:lnTo>
                        <a:pt x="55" y="51"/>
                      </a:lnTo>
                      <a:lnTo>
                        <a:pt x="60" y="58"/>
                      </a:lnTo>
                      <a:lnTo>
                        <a:pt x="64" y="63"/>
                      </a:lnTo>
                      <a:lnTo>
                        <a:pt x="68" y="66"/>
                      </a:lnTo>
                      <a:lnTo>
                        <a:pt x="72" y="69"/>
                      </a:lnTo>
                      <a:lnTo>
                        <a:pt x="70" y="58"/>
                      </a:lnTo>
                      <a:lnTo>
                        <a:pt x="67" y="44"/>
                      </a:lnTo>
                      <a:lnTo>
                        <a:pt x="65" y="30"/>
                      </a:lnTo>
                      <a:lnTo>
                        <a:pt x="63" y="15"/>
                      </a:lnTo>
                      <a:lnTo>
                        <a:pt x="64" y="5"/>
                      </a:lnTo>
                      <a:lnTo>
                        <a:pt x="69" y="5"/>
                      </a:lnTo>
                      <a:lnTo>
                        <a:pt x="70" y="5"/>
                      </a:lnTo>
                      <a:lnTo>
                        <a:pt x="70" y="2"/>
                      </a:lnTo>
                      <a:lnTo>
                        <a:pt x="73" y="16"/>
                      </a:lnTo>
                      <a:lnTo>
                        <a:pt x="76" y="30"/>
                      </a:lnTo>
                      <a:lnTo>
                        <a:pt x="78" y="41"/>
                      </a:lnTo>
                      <a:lnTo>
                        <a:pt x="81" y="56"/>
                      </a:lnTo>
                      <a:lnTo>
                        <a:pt x="82" y="66"/>
                      </a:lnTo>
                      <a:lnTo>
                        <a:pt x="84" y="71"/>
                      </a:lnTo>
                      <a:lnTo>
                        <a:pt x="87" y="66"/>
                      </a:lnTo>
                      <a:lnTo>
                        <a:pt x="89" y="59"/>
                      </a:lnTo>
                      <a:lnTo>
                        <a:pt x="93" y="52"/>
                      </a:lnTo>
                      <a:lnTo>
                        <a:pt x="94" y="39"/>
                      </a:lnTo>
                      <a:lnTo>
                        <a:pt x="95" y="30"/>
                      </a:lnTo>
                      <a:lnTo>
                        <a:pt x="96" y="14"/>
                      </a:lnTo>
                      <a:lnTo>
                        <a:pt x="96" y="0"/>
                      </a:lnTo>
                      <a:lnTo>
                        <a:pt x="101" y="5"/>
                      </a:lnTo>
                      <a:lnTo>
                        <a:pt x="102" y="5"/>
                      </a:lnTo>
                      <a:lnTo>
                        <a:pt x="103" y="5"/>
                      </a:lnTo>
                      <a:lnTo>
                        <a:pt x="104" y="5"/>
                      </a:lnTo>
                      <a:lnTo>
                        <a:pt x="105" y="5"/>
                      </a:lnTo>
                      <a:lnTo>
                        <a:pt x="104" y="5"/>
                      </a:lnTo>
                      <a:lnTo>
                        <a:pt x="102" y="5"/>
                      </a:lnTo>
                      <a:lnTo>
                        <a:pt x="103" y="5"/>
                      </a:lnTo>
                      <a:lnTo>
                        <a:pt x="105" y="5"/>
                      </a:lnTo>
                      <a:lnTo>
                        <a:pt x="103" y="5"/>
                      </a:lnTo>
                      <a:lnTo>
                        <a:pt x="101" y="5"/>
                      </a:lnTo>
                      <a:lnTo>
                        <a:pt x="102" y="5"/>
                      </a:lnTo>
                      <a:lnTo>
                        <a:pt x="101" y="5"/>
                      </a:lnTo>
                      <a:lnTo>
                        <a:pt x="104" y="5"/>
                      </a:lnTo>
                      <a:lnTo>
                        <a:pt x="103" y="5"/>
                      </a:lnTo>
                      <a:lnTo>
                        <a:pt x="100" y="5"/>
                      </a:lnTo>
                      <a:lnTo>
                        <a:pt x="101" y="5"/>
                      </a:lnTo>
                      <a:lnTo>
                        <a:pt x="103" y="5"/>
                      </a:lnTo>
                      <a:lnTo>
                        <a:pt x="102" y="5"/>
                      </a:lnTo>
                      <a:lnTo>
                        <a:pt x="104" y="5"/>
                      </a:lnTo>
                      <a:lnTo>
                        <a:pt x="102" y="5"/>
                      </a:lnTo>
                      <a:lnTo>
                        <a:pt x="107" y="5"/>
                      </a:lnTo>
                      <a:lnTo>
                        <a:pt x="103" y="5"/>
                      </a:lnTo>
                      <a:lnTo>
                        <a:pt x="104" y="5"/>
                      </a:lnTo>
                      <a:lnTo>
                        <a:pt x="107" y="2"/>
                      </a:lnTo>
                      <a:lnTo>
                        <a:pt x="107" y="15"/>
                      </a:lnTo>
                      <a:lnTo>
                        <a:pt x="106" y="31"/>
                      </a:lnTo>
                      <a:lnTo>
                        <a:pt x="105" y="47"/>
                      </a:lnTo>
                      <a:lnTo>
                        <a:pt x="103" y="66"/>
                      </a:lnTo>
                      <a:lnTo>
                        <a:pt x="102" y="83"/>
                      </a:lnTo>
                      <a:lnTo>
                        <a:pt x="101" y="100"/>
                      </a:lnTo>
                      <a:lnTo>
                        <a:pt x="105" y="95"/>
                      </a:lnTo>
                      <a:lnTo>
                        <a:pt x="111" y="88"/>
                      </a:lnTo>
                      <a:lnTo>
                        <a:pt x="118" y="80"/>
                      </a:lnTo>
                      <a:lnTo>
                        <a:pt x="123" y="78"/>
                      </a:lnTo>
                      <a:lnTo>
                        <a:pt x="129" y="76"/>
                      </a:lnTo>
                      <a:lnTo>
                        <a:pt x="134" y="79"/>
                      </a:lnTo>
                      <a:lnTo>
                        <a:pt x="139" y="79"/>
                      </a:lnTo>
                      <a:lnTo>
                        <a:pt x="146" y="81"/>
                      </a:lnTo>
                      <a:lnTo>
                        <a:pt x="154" y="83"/>
                      </a:lnTo>
                      <a:lnTo>
                        <a:pt x="162" y="83"/>
                      </a:lnTo>
                      <a:lnTo>
                        <a:pt x="169" y="81"/>
                      </a:lnTo>
                      <a:lnTo>
                        <a:pt x="176" y="81"/>
                      </a:lnTo>
                      <a:lnTo>
                        <a:pt x="182" y="83"/>
                      </a:lnTo>
                      <a:lnTo>
                        <a:pt x="188" y="88"/>
                      </a:lnTo>
                      <a:lnTo>
                        <a:pt x="195" y="93"/>
                      </a:lnTo>
                      <a:lnTo>
                        <a:pt x="200" y="98"/>
                      </a:lnTo>
                      <a:lnTo>
                        <a:pt x="205" y="104"/>
                      </a:lnTo>
                      <a:lnTo>
                        <a:pt x="211" y="112"/>
                      </a:lnTo>
                      <a:lnTo>
                        <a:pt x="214" y="117"/>
                      </a:lnTo>
                      <a:lnTo>
                        <a:pt x="220" y="129"/>
                      </a:lnTo>
                      <a:lnTo>
                        <a:pt x="223" y="142"/>
                      </a:lnTo>
                      <a:lnTo>
                        <a:pt x="228" y="155"/>
                      </a:lnTo>
                      <a:lnTo>
                        <a:pt x="223" y="156"/>
                      </a:lnTo>
                      <a:lnTo>
                        <a:pt x="217" y="154"/>
                      </a:lnTo>
                      <a:lnTo>
                        <a:pt x="210" y="152"/>
                      </a:lnTo>
                      <a:lnTo>
                        <a:pt x="205" y="150"/>
                      </a:lnTo>
                      <a:lnTo>
                        <a:pt x="200" y="147"/>
                      </a:lnTo>
                      <a:lnTo>
                        <a:pt x="195" y="143"/>
                      </a:lnTo>
                      <a:lnTo>
                        <a:pt x="189" y="138"/>
                      </a:lnTo>
                      <a:lnTo>
                        <a:pt x="184" y="135"/>
                      </a:lnTo>
                      <a:lnTo>
                        <a:pt x="179" y="133"/>
                      </a:lnTo>
                      <a:lnTo>
                        <a:pt x="171" y="131"/>
                      </a:lnTo>
                      <a:lnTo>
                        <a:pt x="162" y="129"/>
                      </a:lnTo>
                      <a:lnTo>
                        <a:pt x="154" y="126"/>
                      </a:lnTo>
                      <a:lnTo>
                        <a:pt x="146" y="124"/>
                      </a:lnTo>
                      <a:lnTo>
                        <a:pt x="138" y="122"/>
                      </a:lnTo>
                      <a:lnTo>
                        <a:pt x="132" y="121"/>
                      </a:lnTo>
                      <a:lnTo>
                        <a:pt x="128" y="120"/>
                      </a:lnTo>
                      <a:lnTo>
                        <a:pt x="122" y="120"/>
                      </a:lnTo>
                      <a:lnTo>
                        <a:pt x="116" y="121"/>
                      </a:lnTo>
                      <a:lnTo>
                        <a:pt x="112" y="122"/>
                      </a:lnTo>
                      <a:lnTo>
                        <a:pt x="107" y="125"/>
                      </a:lnTo>
                      <a:lnTo>
                        <a:pt x="100" y="129"/>
                      </a:lnTo>
                      <a:lnTo>
                        <a:pt x="105" y="135"/>
                      </a:lnTo>
                      <a:lnTo>
                        <a:pt x="111" y="140"/>
                      </a:lnTo>
                      <a:lnTo>
                        <a:pt x="116" y="147"/>
                      </a:lnTo>
                      <a:lnTo>
                        <a:pt x="122" y="150"/>
                      </a:lnTo>
                      <a:lnTo>
                        <a:pt x="129" y="155"/>
                      </a:lnTo>
                      <a:lnTo>
                        <a:pt x="133" y="158"/>
                      </a:lnTo>
                      <a:lnTo>
                        <a:pt x="139" y="159"/>
                      </a:lnTo>
                      <a:lnTo>
                        <a:pt x="147" y="162"/>
                      </a:lnTo>
                      <a:lnTo>
                        <a:pt x="154" y="165"/>
                      </a:lnTo>
                      <a:lnTo>
                        <a:pt x="161" y="167"/>
                      </a:lnTo>
                      <a:lnTo>
                        <a:pt x="168" y="169"/>
                      </a:lnTo>
                      <a:lnTo>
                        <a:pt x="174" y="170"/>
                      </a:lnTo>
                      <a:lnTo>
                        <a:pt x="181" y="174"/>
                      </a:lnTo>
                      <a:lnTo>
                        <a:pt x="187" y="175"/>
                      </a:lnTo>
                      <a:lnTo>
                        <a:pt x="191" y="179"/>
                      </a:lnTo>
                      <a:lnTo>
                        <a:pt x="197" y="186"/>
                      </a:lnTo>
                      <a:lnTo>
                        <a:pt x="202" y="193"/>
                      </a:lnTo>
                      <a:lnTo>
                        <a:pt x="206" y="202"/>
                      </a:lnTo>
                      <a:lnTo>
                        <a:pt x="212" y="212"/>
                      </a:lnTo>
                      <a:lnTo>
                        <a:pt x="214" y="218"/>
                      </a:lnTo>
                      <a:lnTo>
                        <a:pt x="217" y="229"/>
                      </a:lnTo>
                      <a:lnTo>
                        <a:pt x="219" y="240"/>
                      </a:lnTo>
                      <a:lnTo>
                        <a:pt x="221" y="253"/>
                      </a:lnTo>
                      <a:lnTo>
                        <a:pt x="224" y="262"/>
                      </a:lnTo>
                      <a:lnTo>
                        <a:pt x="219" y="257"/>
                      </a:lnTo>
                      <a:lnTo>
                        <a:pt x="212" y="250"/>
                      </a:lnTo>
                      <a:lnTo>
                        <a:pt x="206" y="245"/>
                      </a:lnTo>
                      <a:lnTo>
                        <a:pt x="200" y="238"/>
                      </a:lnTo>
                      <a:lnTo>
                        <a:pt x="194" y="231"/>
                      </a:lnTo>
                      <a:lnTo>
                        <a:pt x="188" y="226"/>
                      </a:lnTo>
                      <a:lnTo>
                        <a:pt x="182" y="219"/>
                      </a:lnTo>
                      <a:lnTo>
                        <a:pt x="176" y="213"/>
                      </a:lnTo>
                      <a:lnTo>
                        <a:pt x="169" y="206"/>
                      </a:lnTo>
                      <a:lnTo>
                        <a:pt x="163" y="199"/>
                      </a:lnTo>
                      <a:lnTo>
                        <a:pt x="158" y="194"/>
                      </a:lnTo>
                      <a:lnTo>
                        <a:pt x="151" y="187"/>
                      </a:lnTo>
                      <a:lnTo>
                        <a:pt x="145" y="182"/>
                      </a:lnTo>
                      <a:lnTo>
                        <a:pt x="139" y="177"/>
                      </a:lnTo>
                      <a:lnTo>
                        <a:pt x="133" y="172"/>
                      </a:lnTo>
                      <a:lnTo>
                        <a:pt x="129" y="170"/>
                      </a:lnTo>
                      <a:lnTo>
                        <a:pt x="125" y="166"/>
                      </a:lnTo>
                      <a:lnTo>
                        <a:pt x="119" y="162"/>
                      </a:lnTo>
                      <a:lnTo>
                        <a:pt x="115" y="158"/>
                      </a:lnTo>
                      <a:lnTo>
                        <a:pt x="111" y="159"/>
                      </a:lnTo>
                      <a:lnTo>
                        <a:pt x="107" y="162"/>
                      </a:lnTo>
                      <a:lnTo>
                        <a:pt x="103" y="161"/>
                      </a:lnTo>
                      <a:lnTo>
                        <a:pt x="99" y="158"/>
                      </a:lnTo>
                      <a:lnTo>
                        <a:pt x="98" y="170"/>
                      </a:lnTo>
                      <a:lnTo>
                        <a:pt x="97" y="185"/>
                      </a:lnTo>
                      <a:lnTo>
                        <a:pt x="100" y="197"/>
                      </a:lnTo>
                      <a:lnTo>
                        <a:pt x="102" y="211"/>
                      </a:lnTo>
                      <a:lnTo>
                        <a:pt x="107" y="220"/>
                      </a:lnTo>
                      <a:lnTo>
                        <a:pt x="111" y="231"/>
                      </a:lnTo>
                      <a:lnTo>
                        <a:pt x="115" y="245"/>
                      </a:lnTo>
                      <a:lnTo>
                        <a:pt x="119" y="259"/>
                      </a:lnTo>
                      <a:lnTo>
                        <a:pt x="123" y="268"/>
                      </a:lnTo>
                      <a:lnTo>
                        <a:pt x="127" y="278"/>
                      </a:lnTo>
                      <a:lnTo>
                        <a:pt x="131" y="297"/>
                      </a:lnTo>
                      <a:lnTo>
                        <a:pt x="132" y="312"/>
                      </a:lnTo>
                      <a:lnTo>
                        <a:pt x="135" y="331"/>
                      </a:lnTo>
                      <a:lnTo>
                        <a:pt x="138" y="349"/>
                      </a:lnTo>
                      <a:lnTo>
                        <a:pt x="125" y="349"/>
                      </a:lnTo>
                      <a:lnTo>
                        <a:pt x="122" y="349"/>
                      </a:lnTo>
                      <a:lnTo>
                        <a:pt x="114" y="328"/>
                      </a:lnTo>
                      <a:lnTo>
                        <a:pt x="108" y="307"/>
                      </a:lnTo>
                      <a:lnTo>
                        <a:pt x="103" y="290"/>
                      </a:lnTo>
                      <a:lnTo>
                        <a:pt x="100" y="273"/>
                      </a:lnTo>
                      <a:lnTo>
                        <a:pt x="98" y="255"/>
                      </a:lnTo>
                      <a:lnTo>
                        <a:pt x="95" y="236"/>
                      </a:lnTo>
                      <a:lnTo>
                        <a:pt x="90" y="209"/>
                      </a:lnTo>
                      <a:lnTo>
                        <a:pt x="87" y="200"/>
                      </a:lnTo>
                      <a:lnTo>
                        <a:pt x="84" y="184"/>
                      </a:lnTo>
                      <a:lnTo>
                        <a:pt x="81" y="177"/>
                      </a:lnTo>
                      <a:lnTo>
                        <a:pt x="78" y="179"/>
                      </a:lnTo>
                      <a:lnTo>
                        <a:pt x="75" y="181"/>
                      </a:lnTo>
                      <a:lnTo>
                        <a:pt x="74" y="191"/>
                      </a:lnTo>
                      <a:lnTo>
                        <a:pt x="74" y="186"/>
                      </a:lnTo>
                      <a:lnTo>
                        <a:pt x="74" y="192"/>
                      </a:lnTo>
                      <a:lnTo>
                        <a:pt x="73" y="197"/>
                      </a:lnTo>
                      <a:lnTo>
                        <a:pt x="72" y="198"/>
                      </a:lnTo>
                      <a:lnTo>
                        <a:pt x="74" y="197"/>
                      </a:lnTo>
                      <a:lnTo>
                        <a:pt x="73" y="194"/>
                      </a:lnTo>
                      <a:lnTo>
                        <a:pt x="74" y="189"/>
                      </a:lnTo>
                      <a:lnTo>
                        <a:pt x="74" y="186"/>
                      </a:lnTo>
                      <a:lnTo>
                        <a:pt x="74" y="187"/>
                      </a:lnTo>
                      <a:lnTo>
                        <a:pt x="74" y="192"/>
                      </a:lnTo>
                      <a:lnTo>
                        <a:pt x="75" y="197"/>
                      </a:lnTo>
                      <a:lnTo>
                        <a:pt x="73" y="198"/>
                      </a:lnTo>
                      <a:lnTo>
                        <a:pt x="70" y="206"/>
                      </a:lnTo>
                      <a:lnTo>
                        <a:pt x="65" y="218"/>
                      </a:lnTo>
                      <a:lnTo>
                        <a:pt x="61" y="227"/>
                      </a:lnTo>
                      <a:lnTo>
                        <a:pt x="58" y="236"/>
                      </a:lnTo>
                      <a:lnTo>
                        <a:pt x="54" y="248"/>
                      </a:lnTo>
                      <a:lnTo>
                        <a:pt x="51" y="257"/>
                      </a:lnTo>
                      <a:lnTo>
                        <a:pt x="47" y="268"/>
                      </a:lnTo>
                      <a:lnTo>
                        <a:pt x="43" y="280"/>
                      </a:lnTo>
                      <a:lnTo>
                        <a:pt x="40" y="293"/>
                      </a:lnTo>
                      <a:lnTo>
                        <a:pt x="36" y="307"/>
                      </a:lnTo>
                      <a:lnTo>
                        <a:pt x="32" y="322"/>
                      </a:lnTo>
                      <a:lnTo>
                        <a:pt x="29" y="339"/>
                      </a:lnTo>
                      <a:lnTo>
                        <a:pt x="24" y="357"/>
                      </a:lnTo>
                      <a:lnTo>
                        <a:pt x="26" y="335"/>
                      </a:lnTo>
                      <a:lnTo>
                        <a:pt x="27" y="321"/>
                      </a:lnTo>
                      <a:lnTo>
                        <a:pt x="28" y="304"/>
                      </a:lnTo>
                      <a:lnTo>
                        <a:pt x="29" y="295"/>
                      </a:lnTo>
                      <a:lnTo>
                        <a:pt x="31" y="287"/>
                      </a:lnTo>
                      <a:lnTo>
                        <a:pt x="33" y="273"/>
                      </a:lnTo>
                      <a:lnTo>
                        <a:pt x="36" y="260"/>
                      </a:lnTo>
                      <a:lnTo>
                        <a:pt x="38" y="249"/>
                      </a:lnTo>
                      <a:lnTo>
                        <a:pt x="43" y="236"/>
                      </a:lnTo>
                      <a:lnTo>
                        <a:pt x="47" y="224"/>
                      </a:lnTo>
                      <a:lnTo>
                        <a:pt x="52" y="211"/>
                      </a:lnTo>
                      <a:lnTo>
                        <a:pt x="56" y="197"/>
                      </a:lnTo>
                      <a:lnTo>
                        <a:pt x="59" y="189"/>
                      </a:lnTo>
                      <a:lnTo>
                        <a:pt x="63" y="181"/>
                      </a:lnTo>
                      <a:lnTo>
                        <a:pt x="68" y="172"/>
                      </a:lnTo>
                      <a:lnTo>
                        <a:pt x="73" y="164"/>
                      </a:lnTo>
                      <a:lnTo>
                        <a:pt x="77" y="154"/>
                      </a:lnTo>
                      <a:lnTo>
                        <a:pt x="82" y="143"/>
                      </a:lnTo>
                      <a:lnTo>
                        <a:pt x="80" y="139"/>
                      </a:lnTo>
                      <a:lnTo>
                        <a:pt x="76" y="133"/>
                      </a:lnTo>
                      <a:lnTo>
                        <a:pt x="73" y="129"/>
                      </a:lnTo>
                      <a:lnTo>
                        <a:pt x="70" y="132"/>
                      </a:lnTo>
                      <a:lnTo>
                        <a:pt x="65" y="139"/>
                      </a:lnTo>
                      <a:lnTo>
                        <a:pt x="60" y="147"/>
                      </a:lnTo>
                      <a:lnTo>
                        <a:pt x="55" y="154"/>
                      </a:lnTo>
                      <a:lnTo>
                        <a:pt x="51" y="164"/>
                      </a:lnTo>
                      <a:lnTo>
                        <a:pt x="45" y="177"/>
                      </a:lnTo>
                      <a:lnTo>
                        <a:pt x="40" y="189"/>
                      </a:lnTo>
                      <a:lnTo>
                        <a:pt x="36" y="199"/>
                      </a:lnTo>
                      <a:lnTo>
                        <a:pt x="31" y="207"/>
                      </a:lnTo>
                      <a:lnTo>
                        <a:pt x="27" y="218"/>
                      </a:lnTo>
                      <a:lnTo>
                        <a:pt x="22" y="230"/>
                      </a:lnTo>
                      <a:lnTo>
                        <a:pt x="18" y="243"/>
                      </a:lnTo>
                      <a:lnTo>
                        <a:pt x="14" y="255"/>
                      </a:lnTo>
                      <a:lnTo>
                        <a:pt x="9" y="268"/>
                      </a:lnTo>
                      <a:lnTo>
                        <a:pt x="5" y="282"/>
                      </a:lnTo>
                      <a:lnTo>
                        <a:pt x="0" y="298"/>
                      </a:lnTo>
                      <a:lnTo>
                        <a:pt x="2" y="278"/>
                      </a:lnTo>
                      <a:lnTo>
                        <a:pt x="4" y="262"/>
                      </a:lnTo>
                      <a:lnTo>
                        <a:pt x="5" y="248"/>
                      </a:lnTo>
                      <a:lnTo>
                        <a:pt x="6" y="244"/>
                      </a:lnTo>
                      <a:lnTo>
                        <a:pt x="9" y="238"/>
                      </a:lnTo>
                      <a:lnTo>
                        <a:pt x="13" y="229"/>
                      </a:lnTo>
                      <a:lnTo>
                        <a:pt x="17" y="219"/>
                      </a:lnTo>
                      <a:lnTo>
                        <a:pt x="22" y="209"/>
                      </a:lnTo>
                      <a:lnTo>
                        <a:pt x="27" y="199"/>
                      </a:lnTo>
                      <a:lnTo>
                        <a:pt x="33" y="187"/>
                      </a:lnTo>
                      <a:lnTo>
                        <a:pt x="37" y="179"/>
                      </a:lnTo>
                      <a:lnTo>
                        <a:pt x="43" y="170"/>
                      </a:lnTo>
                      <a:lnTo>
                        <a:pt x="49" y="159"/>
                      </a:lnTo>
                      <a:lnTo>
                        <a:pt x="55" y="149"/>
                      </a:lnTo>
                      <a:lnTo>
                        <a:pt x="60" y="142"/>
                      </a:lnTo>
                      <a:lnTo>
                        <a:pt x="70" y="130"/>
                      </a:lnTo>
                      <a:lnTo>
                        <a:pt x="75" y="125"/>
                      </a:lnTo>
                      <a:lnTo>
                        <a:pt x="78" y="123"/>
                      </a:lnTo>
                      <a:lnTo>
                        <a:pt x="73" y="117"/>
                      </a:lnTo>
                      <a:lnTo>
                        <a:pt x="67" y="108"/>
                      </a:lnTo>
                      <a:lnTo>
                        <a:pt x="62" y="99"/>
                      </a:lnTo>
                      <a:lnTo>
                        <a:pt x="57" y="92"/>
                      </a:lnTo>
                      <a:lnTo>
                        <a:pt x="52" y="85"/>
                      </a:lnTo>
                      <a:lnTo>
                        <a:pt x="47" y="78"/>
                      </a:lnTo>
                      <a:lnTo>
                        <a:pt x="43" y="71"/>
                      </a:lnTo>
                      <a:lnTo>
                        <a:pt x="37" y="59"/>
                      </a:lnTo>
                      <a:lnTo>
                        <a:pt x="32" y="48"/>
                      </a:lnTo>
                      <a:lnTo>
                        <a:pt x="26" y="38"/>
                      </a:lnTo>
                      <a:lnTo>
                        <a:pt x="19" y="26"/>
                      </a:lnTo>
                      <a:lnTo>
                        <a:pt x="14" y="19"/>
                      </a:lnTo>
                      <a:lnTo>
                        <a:pt x="11" y="12"/>
                      </a:lnTo>
                      <a:lnTo>
                        <a:pt x="7" y="4"/>
                      </a:lnTo>
                      <a:lnTo>
                        <a:pt x="14" y="5"/>
                      </a:lnTo>
                      <a:lnTo>
                        <a:pt x="27" y="5"/>
                      </a:lnTo>
                      <a:lnTo>
                        <a:pt x="31" y="10"/>
                      </a:lnTo>
                      <a:lnTo>
                        <a:pt x="37" y="22"/>
                      </a:lnTo>
                      <a:lnTo>
                        <a:pt x="43" y="31"/>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nvGrpSpPr>
                <p:cNvPr id="1052" name="Group 28"/>
                <p:cNvGrpSpPr>
                  <a:grpSpLocks/>
                </p:cNvGrpSpPr>
                <p:nvPr/>
              </p:nvGrpSpPr>
              <p:grpSpPr bwMode="auto">
                <a:xfrm>
                  <a:off x="1985" y="1419"/>
                  <a:ext cx="465" cy="349"/>
                  <a:chOff x="1985" y="1419"/>
                  <a:chExt cx="465" cy="349"/>
                </a:xfrm>
              </p:grpSpPr>
              <p:sp>
                <p:nvSpPr>
                  <p:cNvPr id="1053" name="Freeform 29"/>
                  <p:cNvSpPr>
                    <a:spLocks/>
                  </p:cNvSpPr>
                  <p:nvPr/>
                </p:nvSpPr>
                <p:spPr bwMode="ltGray">
                  <a:xfrm>
                    <a:off x="2030" y="1419"/>
                    <a:ext cx="420" cy="326"/>
                  </a:xfrm>
                  <a:custGeom>
                    <a:avLst/>
                    <a:gdLst>
                      <a:gd name="T0" fmla="*/ 159 w 420"/>
                      <a:gd name="T1" fmla="*/ 41 h 326"/>
                      <a:gd name="T2" fmla="*/ 193 w 420"/>
                      <a:gd name="T3" fmla="*/ 13 h 326"/>
                      <a:gd name="T4" fmla="*/ 233 w 420"/>
                      <a:gd name="T5" fmla="*/ 2 h 326"/>
                      <a:gd name="T6" fmla="*/ 279 w 420"/>
                      <a:gd name="T7" fmla="*/ 2 h 326"/>
                      <a:gd name="T8" fmla="*/ 290 w 420"/>
                      <a:gd name="T9" fmla="*/ 6 h 326"/>
                      <a:gd name="T10" fmla="*/ 260 w 420"/>
                      <a:gd name="T11" fmla="*/ 14 h 326"/>
                      <a:gd name="T12" fmla="*/ 225 w 420"/>
                      <a:gd name="T13" fmla="*/ 25 h 326"/>
                      <a:gd name="T14" fmla="*/ 186 w 420"/>
                      <a:gd name="T15" fmla="*/ 52 h 326"/>
                      <a:gd name="T16" fmla="*/ 183 w 420"/>
                      <a:gd name="T17" fmla="*/ 89 h 326"/>
                      <a:gd name="T18" fmla="*/ 240 w 420"/>
                      <a:gd name="T19" fmla="*/ 66 h 326"/>
                      <a:gd name="T20" fmla="*/ 288 w 420"/>
                      <a:gd name="T21" fmla="*/ 64 h 326"/>
                      <a:gd name="T22" fmla="*/ 338 w 420"/>
                      <a:gd name="T23" fmla="*/ 69 h 326"/>
                      <a:gd name="T24" fmla="*/ 397 w 420"/>
                      <a:gd name="T25" fmla="*/ 75 h 326"/>
                      <a:gd name="T26" fmla="*/ 398 w 420"/>
                      <a:gd name="T27" fmla="*/ 76 h 326"/>
                      <a:gd name="T28" fmla="*/ 341 w 420"/>
                      <a:gd name="T29" fmla="*/ 79 h 326"/>
                      <a:gd name="T30" fmla="*/ 288 w 420"/>
                      <a:gd name="T31" fmla="*/ 80 h 326"/>
                      <a:gd name="T32" fmla="*/ 242 w 420"/>
                      <a:gd name="T33" fmla="*/ 86 h 326"/>
                      <a:gd name="T34" fmla="*/ 191 w 420"/>
                      <a:gd name="T35" fmla="*/ 98 h 326"/>
                      <a:gd name="T36" fmla="*/ 212 w 420"/>
                      <a:gd name="T37" fmla="*/ 118 h 326"/>
                      <a:gd name="T38" fmla="*/ 227 w 420"/>
                      <a:gd name="T39" fmla="*/ 136 h 326"/>
                      <a:gd name="T40" fmla="*/ 175 w 420"/>
                      <a:gd name="T41" fmla="*/ 119 h 326"/>
                      <a:gd name="T42" fmla="*/ 165 w 420"/>
                      <a:gd name="T43" fmla="*/ 129 h 326"/>
                      <a:gd name="T44" fmla="*/ 221 w 420"/>
                      <a:gd name="T45" fmla="*/ 138 h 326"/>
                      <a:gd name="T46" fmla="*/ 269 w 420"/>
                      <a:gd name="T47" fmla="*/ 150 h 326"/>
                      <a:gd name="T48" fmla="*/ 306 w 420"/>
                      <a:gd name="T49" fmla="*/ 181 h 326"/>
                      <a:gd name="T50" fmla="*/ 335 w 420"/>
                      <a:gd name="T51" fmla="*/ 223 h 326"/>
                      <a:gd name="T52" fmla="*/ 329 w 420"/>
                      <a:gd name="T53" fmla="*/ 231 h 326"/>
                      <a:gd name="T54" fmla="*/ 290 w 420"/>
                      <a:gd name="T55" fmla="*/ 204 h 326"/>
                      <a:gd name="T56" fmla="*/ 248 w 420"/>
                      <a:gd name="T57" fmla="*/ 174 h 326"/>
                      <a:gd name="T58" fmla="*/ 202 w 420"/>
                      <a:gd name="T59" fmla="*/ 154 h 326"/>
                      <a:gd name="T60" fmla="*/ 173 w 420"/>
                      <a:gd name="T61" fmla="*/ 148 h 326"/>
                      <a:gd name="T62" fmla="*/ 196 w 420"/>
                      <a:gd name="T63" fmla="*/ 181 h 326"/>
                      <a:gd name="T64" fmla="*/ 227 w 420"/>
                      <a:gd name="T65" fmla="*/ 223 h 326"/>
                      <a:gd name="T66" fmla="*/ 244 w 420"/>
                      <a:gd name="T67" fmla="*/ 262 h 326"/>
                      <a:gd name="T68" fmla="*/ 243 w 420"/>
                      <a:gd name="T69" fmla="*/ 299 h 326"/>
                      <a:gd name="T70" fmla="*/ 222 w 420"/>
                      <a:gd name="T71" fmla="*/ 259 h 326"/>
                      <a:gd name="T72" fmla="*/ 199 w 420"/>
                      <a:gd name="T73" fmla="*/ 215 h 326"/>
                      <a:gd name="T74" fmla="*/ 173 w 420"/>
                      <a:gd name="T75" fmla="*/ 177 h 326"/>
                      <a:gd name="T76" fmla="*/ 150 w 420"/>
                      <a:gd name="T77" fmla="*/ 142 h 326"/>
                      <a:gd name="T78" fmla="*/ 109 w 420"/>
                      <a:gd name="T79" fmla="*/ 162 h 326"/>
                      <a:gd name="T80" fmla="*/ 77 w 420"/>
                      <a:gd name="T81" fmla="*/ 210 h 326"/>
                      <a:gd name="T82" fmla="*/ 49 w 420"/>
                      <a:gd name="T83" fmla="*/ 260 h 326"/>
                      <a:gd name="T84" fmla="*/ 18 w 420"/>
                      <a:gd name="T85" fmla="*/ 306 h 326"/>
                      <a:gd name="T86" fmla="*/ 8 w 420"/>
                      <a:gd name="T87" fmla="*/ 301 h 326"/>
                      <a:gd name="T88" fmla="*/ 45 w 420"/>
                      <a:gd name="T89" fmla="*/ 243 h 326"/>
                      <a:gd name="T90" fmla="*/ 78 w 420"/>
                      <a:gd name="T91" fmla="*/ 198 h 326"/>
                      <a:gd name="T92" fmla="*/ 107 w 420"/>
                      <a:gd name="T93" fmla="*/ 154 h 326"/>
                      <a:gd name="T94" fmla="*/ 132 w 420"/>
                      <a:gd name="T95" fmla="*/ 120 h 326"/>
                      <a:gd name="T96" fmla="*/ 95 w 420"/>
                      <a:gd name="T97" fmla="*/ 79 h 326"/>
                      <a:gd name="T98" fmla="*/ 42 w 420"/>
                      <a:gd name="T99" fmla="*/ 57 h 326"/>
                      <a:gd name="T100" fmla="*/ 19 w 420"/>
                      <a:gd name="T101" fmla="*/ 45 h 326"/>
                      <a:gd name="T102" fmla="*/ 60 w 420"/>
                      <a:gd name="T103" fmla="*/ 58 h 326"/>
                      <a:gd name="T104" fmla="*/ 116 w 420"/>
                      <a:gd name="T105" fmla="*/ 86 h 3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20" h="326">
                        <a:moveTo>
                          <a:pt x="132" y="83"/>
                        </a:moveTo>
                        <a:lnTo>
                          <a:pt x="135" y="74"/>
                        </a:lnTo>
                        <a:lnTo>
                          <a:pt x="140" y="65"/>
                        </a:lnTo>
                        <a:lnTo>
                          <a:pt x="146" y="57"/>
                        </a:lnTo>
                        <a:lnTo>
                          <a:pt x="152" y="48"/>
                        </a:lnTo>
                        <a:lnTo>
                          <a:pt x="159" y="41"/>
                        </a:lnTo>
                        <a:lnTo>
                          <a:pt x="164" y="34"/>
                        </a:lnTo>
                        <a:lnTo>
                          <a:pt x="170" y="29"/>
                        </a:lnTo>
                        <a:lnTo>
                          <a:pt x="176" y="25"/>
                        </a:lnTo>
                        <a:lnTo>
                          <a:pt x="181" y="20"/>
                        </a:lnTo>
                        <a:lnTo>
                          <a:pt x="187" y="17"/>
                        </a:lnTo>
                        <a:lnTo>
                          <a:pt x="193" y="13"/>
                        </a:lnTo>
                        <a:lnTo>
                          <a:pt x="199" y="10"/>
                        </a:lnTo>
                        <a:lnTo>
                          <a:pt x="204" y="8"/>
                        </a:lnTo>
                        <a:lnTo>
                          <a:pt x="212" y="6"/>
                        </a:lnTo>
                        <a:lnTo>
                          <a:pt x="220" y="5"/>
                        </a:lnTo>
                        <a:lnTo>
                          <a:pt x="226" y="3"/>
                        </a:lnTo>
                        <a:lnTo>
                          <a:pt x="233" y="2"/>
                        </a:lnTo>
                        <a:lnTo>
                          <a:pt x="241" y="2"/>
                        </a:lnTo>
                        <a:lnTo>
                          <a:pt x="248" y="1"/>
                        </a:lnTo>
                        <a:lnTo>
                          <a:pt x="258" y="1"/>
                        </a:lnTo>
                        <a:lnTo>
                          <a:pt x="265" y="1"/>
                        </a:lnTo>
                        <a:lnTo>
                          <a:pt x="272" y="2"/>
                        </a:lnTo>
                        <a:lnTo>
                          <a:pt x="279" y="2"/>
                        </a:lnTo>
                        <a:lnTo>
                          <a:pt x="285" y="1"/>
                        </a:lnTo>
                        <a:lnTo>
                          <a:pt x="293" y="1"/>
                        </a:lnTo>
                        <a:lnTo>
                          <a:pt x="300" y="0"/>
                        </a:lnTo>
                        <a:lnTo>
                          <a:pt x="296" y="2"/>
                        </a:lnTo>
                        <a:lnTo>
                          <a:pt x="293" y="3"/>
                        </a:lnTo>
                        <a:lnTo>
                          <a:pt x="290" y="6"/>
                        </a:lnTo>
                        <a:lnTo>
                          <a:pt x="287" y="10"/>
                        </a:lnTo>
                        <a:lnTo>
                          <a:pt x="281" y="10"/>
                        </a:lnTo>
                        <a:lnTo>
                          <a:pt x="275" y="10"/>
                        </a:lnTo>
                        <a:lnTo>
                          <a:pt x="270" y="11"/>
                        </a:lnTo>
                        <a:lnTo>
                          <a:pt x="265" y="12"/>
                        </a:lnTo>
                        <a:lnTo>
                          <a:pt x="260" y="14"/>
                        </a:lnTo>
                        <a:lnTo>
                          <a:pt x="254" y="15"/>
                        </a:lnTo>
                        <a:lnTo>
                          <a:pt x="248" y="17"/>
                        </a:lnTo>
                        <a:lnTo>
                          <a:pt x="242" y="19"/>
                        </a:lnTo>
                        <a:lnTo>
                          <a:pt x="236" y="20"/>
                        </a:lnTo>
                        <a:lnTo>
                          <a:pt x="231" y="22"/>
                        </a:lnTo>
                        <a:lnTo>
                          <a:pt x="225" y="25"/>
                        </a:lnTo>
                        <a:lnTo>
                          <a:pt x="218" y="28"/>
                        </a:lnTo>
                        <a:lnTo>
                          <a:pt x="212" y="31"/>
                        </a:lnTo>
                        <a:lnTo>
                          <a:pt x="205" y="35"/>
                        </a:lnTo>
                        <a:lnTo>
                          <a:pt x="199" y="39"/>
                        </a:lnTo>
                        <a:lnTo>
                          <a:pt x="192" y="45"/>
                        </a:lnTo>
                        <a:lnTo>
                          <a:pt x="186" y="52"/>
                        </a:lnTo>
                        <a:lnTo>
                          <a:pt x="180" y="61"/>
                        </a:lnTo>
                        <a:lnTo>
                          <a:pt x="173" y="73"/>
                        </a:lnTo>
                        <a:lnTo>
                          <a:pt x="167" y="86"/>
                        </a:lnTo>
                        <a:lnTo>
                          <a:pt x="159" y="101"/>
                        </a:lnTo>
                        <a:lnTo>
                          <a:pt x="172" y="95"/>
                        </a:lnTo>
                        <a:lnTo>
                          <a:pt x="183" y="89"/>
                        </a:lnTo>
                        <a:lnTo>
                          <a:pt x="197" y="82"/>
                        </a:lnTo>
                        <a:lnTo>
                          <a:pt x="212" y="75"/>
                        </a:lnTo>
                        <a:lnTo>
                          <a:pt x="218" y="73"/>
                        </a:lnTo>
                        <a:lnTo>
                          <a:pt x="225" y="70"/>
                        </a:lnTo>
                        <a:lnTo>
                          <a:pt x="232" y="69"/>
                        </a:lnTo>
                        <a:lnTo>
                          <a:pt x="240" y="66"/>
                        </a:lnTo>
                        <a:lnTo>
                          <a:pt x="249" y="65"/>
                        </a:lnTo>
                        <a:lnTo>
                          <a:pt x="256" y="64"/>
                        </a:lnTo>
                        <a:lnTo>
                          <a:pt x="263" y="64"/>
                        </a:lnTo>
                        <a:lnTo>
                          <a:pt x="272" y="63"/>
                        </a:lnTo>
                        <a:lnTo>
                          <a:pt x="281" y="64"/>
                        </a:lnTo>
                        <a:lnTo>
                          <a:pt x="288" y="64"/>
                        </a:lnTo>
                        <a:lnTo>
                          <a:pt x="297" y="65"/>
                        </a:lnTo>
                        <a:lnTo>
                          <a:pt x="305" y="65"/>
                        </a:lnTo>
                        <a:lnTo>
                          <a:pt x="313" y="66"/>
                        </a:lnTo>
                        <a:lnTo>
                          <a:pt x="321" y="67"/>
                        </a:lnTo>
                        <a:lnTo>
                          <a:pt x="329" y="68"/>
                        </a:lnTo>
                        <a:lnTo>
                          <a:pt x="338" y="69"/>
                        </a:lnTo>
                        <a:lnTo>
                          <a:pt x="346" y="69"/>
                        </a:lnTo>
                        <a:lnTo>
                          <a:pt x="354" y="70"/>
                        </a:lnTo>
                        <a:lnTo>
                          <a:pt x="364" y="71"/>
                        </a:lnTo>
                        <a:lnTo>
                          <a:pt x="374" y="72"/>
                        </a:lnTo>
                        <a:lnTo>
                          <a:pt x="383" y="74"/>
                        </a:lnTo>
                        <a:lnTo>
                          <a:pt x="397" y="75"/>
                        </a:lnTo>
                        <a:lnTo>
                          <a:pt x="402" y="75"/>
                        </a:lnTo>
                        <a:lnTo>
                          <a:pt x="406" y="75"/>
                        </a:lnTo>
                        <a:lnTo>
                          <a:pt x="411" y="77"/>
                        </a:lnTo>
                        <a:lnTo>
                          <a:pt x="419" y="80"/>
                        </a:lnTo>
                        <a:lnTo>
                          <a:pt x="404" y="77"/>
                        </a:lnTo>
                        <a:lnTo>
                          <a:pt x="398" y="76"/>
                        </a:lnTo>
                        <a:lnTo>
                          <a:pt x="392" y="76"/>
                        </a:lnTo>
                        <a:lnTo>
                          <a:pt x="379" y="77"/>
                        </a:lnTo>
                        <a:lnTo>
                          <a:pt x="370" y="78"/>
                        </a:lnTo>
                        <a:lnTo>
                          <a:pt x="360" y="78"/>
                        </a:lnTo>
                        <a:lnTo>
                          <a:pt x="350" y="78"/>
                        </a:lnTo>
                        <a:lnTo>
                          <a:pt x="341" y="79"/>
                        </a:lnTo>
                        <a:lnTo>
                          <a:pt x="332" y="79"/>
                        </a:lnTo>
                        <a:lnTo>
                          <a:pt x="325" y="78"/>
                        </a:lnTo>
                        <a:lnTo>
                          <a:pt x="315" y="78"/>
                        </a:lnTo>
                        <a:lnTo>
                          <a:pt x="305" y="78"/>
                        </a:lnTo>
                        <a:lnTo>
                          <a:pt x="296" y="79"/>
                        </a:lnTo>
                        <a:lnTo>
                          <a:pt x="288" y="80"/>
                        </a:lnTo>
                        <a:lnTo>
                          <a:pt x="279" y="80"/>
                        </a:lnTo>
                        <a:lnTo>
                          <a:pt x="272" y="80"/>
                        </a:lnTo>
                        <a:lnTo>
                          <a:pt x="264" y="81"/>
                        </a:lnTo>
                        <a:lnTo>
                          <a:pt x="256" y="83"/>
                        </a:lnTo>
                        <a:lnTo>
                          <a:pt x="249" y="84"/>
                        </a:lnTo>
                        <a:lnTo>
                          <a:pt x="242" y="86"/>
                        </a:lnTo>
                        <a:lnTo>
                          <a:pt x="235" y="87"/>
                        </a:lnTo>
                        <a:lnTo>
                          <a:pt x="227" y="89"/>
                        </a:lnTo>
                        <a:lnTo>
                          <a:pt x="219" y="92"/>
                        </a:lnTo>
                        <a:lnTo>
                          <a:pt x="212" y="93"/>
                        </a:lnTo>
                        <a:lnTo>
                          <a:pt x="199" y="97"/>
                        </a:lnTo>
                        <a:lnTo>
                          <a:pt x="191" y="98"/>
                        </a:lnTo>
                        <a:lnTo>
                          <a:pt x="180" y="104"/>
                        </a:lnTo>
                        <a:lnTo>
                          <a:pt x="164" y="109"/>
                        </a:lnTo>
                        <a:lnTo>
                          <a:pt x="180" y="111"/>
                        </a:lnTo>
                        <a:lnTo>
                          <a:pt x="199" y="112"/>
                        </a:lnTo>
                        <a:lnTo>
                          <a:pt x="203" y="113"/>
                        </a:lnTo>
                        <a:lnTo>
                          <a:pt x="212" y="118"/>
                        </a:lnTo>
                        <a:lnTo>
                          <a:pt x="217" y="120"/>
                        </a:lnTo>
                        <a:lnTo>
                          <a:pt x="223" y="123"/>
                        </a:lnTo>
                        <a:lnTo>
                          <a:pt x="224" y="125"/>
                        </a:lnTo>
                        <a:lnTo>
                          <a:pt x="227" y="130"/>
                        </a:lnTo>
                        <a:lnTo>
                          <a:pt x="233" y="140"/>
                        </a:lnTo>
                        <a:lnTo>
                          <a:pt x="227" y="136"/>
                        </a:lnTo>
                        <a:lnTo>
                          <a:pt x="219" y="131"/>
                        </a:lnTo>
                        <a:lnTo>
                          <a:pt x="212" y="129"/>
                        </a:lnTo>
                        <a:lnTo>
                          <a:pt x="199" y="125"/>
                        </a:lnTo>
                        <a:lnTo>
                          <a:pt x="190" y="123"/>
                        </a:lnTo>
                        <a:lnTo>
                          <a:pt x="180" y="120"/>
                        </a:lnTo>
                        <a:lnTo>
                          <a:pt x="175" y="119"/>
                        </a:lnTo>
                        <a:lnTo>
                          <a:pt x="165" y="120"/>
                        </a:lnTo>
                        <a:lnTo>
                          <a:pt x="158" y="122"/>
                        </a:lnTo>
                        <a:lnTo>
                          <a:pt x="148" y="123"/>
                        </a:lnTo>
                        <a:lnTo>
                          <a:pt x="153" y="125"/>
                        </a:lnTo>
                        <a:lnTo>
                          <a:pt x="158" y="127"/>
                        </a:lnTo>
                        <a:lnTo>
                          <a:pt x="165" y="129"/>
                        </a:lnTo>
                        <a:lnTo>
                          <a:pt x="173" y="129"/>
                        </a:lnTo>
                        <a:lnTo>
                          <a:pt x="186" y="129"/>
                        </a:lnTo>
                        <a:lnTo>
                          <a:pt x="194" y="131"/>
                        </a:lnTo>
                        <a:lnTo>
                          <a:pt x="204" y="133"/>
                        </a:lnTo>
                        <a:lnTo>
                          <a:pt x="212" y="136"/>
                        </a:lnTo>
                        <a:lnTo>
                          <a:pt x="221" y="138"/>
                        </a:lnTo>
                        <a:lnTo>
                          <a:pt x="231" y="141"/>
                        </a:lnTo>
                        <a:lnTo>
                          <a:pt x="240" y="143"/>
                        </a:lnTo>
                        <a:lnTo>
                          <a:pt x="248" y="145"/>
                        </a:lnTo>
                        <a:lnTo>
                          <a:pt x="254" y="146"/>
                        </a:lnTo>
                        <a:lnTo>
                          <a:pt x="261" y="148"/>
                        </a:lnTo>
                        <a:lnTo>
                          <a:pt x="269" y="150"/>
                        </a:lnTo>
                        <a:lnTo>
                          <a:pt x="277" y="154"/>
                        </a:lnTo>
                        <a:lnTo>
                          <a:pt x="285" y="158"/>
                        </a:lnTo>
                        <a:lnTo>
                          <a:pt x="289" y="160"/>
                        </a:lnTo>
                        <a:lnTo>
                          <a:pt x="295" y="167"/>
                        </a:lnTo>
                        <a:lnTo>
                          <a:pt x="302" y="174"/>
                        </a:lnTo>
                        <a:lnTo>
                          <a:pt x="306" y="181"/>
                        </a:lnTo>
                        <a:lnTo>
                          <a:pt x="311" y="188"/>
                        </a:lnTo>
                        <a:lnTo>
                          <a:pt x="316" y="195"/>
                        </a:lnTo>
                        <a:lnTo>
                          <a:pt x="320" y="202"/>
                        </a:lnTo>
                        <a:lnTo>
                          <a:pt x="325" y="208"/>
                        </a:lnTo>
                        <a:lnTo>
                          <a:pt x="329" y="215"/>
                        </a:lnTo>
                        <a:lnTo>
                          <a:pt x="335" y="223"/>
                        </a:lnTo>
                        <a:lnTo>
                          <a:pt x="339" y="232"/>
                        </a:lnTo>
                        <a:lnTo>
                          <a:pt x="345" y="238"/>
                        </a:lnTo>
                        <a:lnTo>
                          <a:pt x="351" y="246"/>
                        </a:lnTo>
                        <a:lnTo>
                          <a:pt x="343" y="240"/>
                        </a:lnTo>
                        <a:lnTo>
                          <a:pt x="337" y="236"/>
                        </a:lnTo>
                        <a:lnTo>
                          <a:pt x="329" y="231"/>
                        </a:lnTo>
                        <a:lnTo>
                          <a:pt x="321" y="225"/>
                        </a:lnTo>
                        <a:lnTo>
                          <a:pt x="315" y="220"/>
                        </a:lnTo>
                        <a:lnTo>
                          <a:pt x="309" y="215"/>
                        </a:lnTo>
                        <a:lnTo>
                          <a:pt x="303" y="212"/>
                        </a:lnTo>
                        <a:lnTo>
                          <a:pt x="297" y="208"/>
                        </a:lnTo>
                        <a:lnTo>
                          <a:pt x="290" y="204"/>
                        </a:lnTo>
                        <a:lnTo>
                          <a:pt x="284" y="200"/>
                        </a:lnTo>
                        <a:lnTo>
                          <a:pt x="278" y="196"/>
                        </a:lnTo>
                        <a:lnTo>
                          <a:pt x="271" y="191"/>
                        </a:lnTo>
                        <a:lnTo>
                          <a:pt x="263" y="186"/>
                        </a:lnTo>
                        <a:lnTo>
                          <a:pt x="255" y="179"/>
                        </a:lnTo>
                        <a:lnTo>
                          <a:pt x="248" y="174"/>
                        </a:lnTo>
                        <a:lnTo>
                          <a:pt x="241" y="170"/>
                        </a:lnTo>
                        <a:lnTo>
                          <a:pt x="234" y="166"/>
                        </a:lnTo>
                        <a:lnTo>
                          <a:pt x="226" y="162"/>
                        </a:lnTo>
                        <a:lnTo>
                          <a:pt x="219" y="159"/>
                        </a:lnTo>
                        <a:lnTo>
                          <a:pt x="212" y="157"/>
                        </a:lnTo>
                        <a:lnTo>
                          <a:pt x="202" y="154"/>
                        </a:lnTo>
                        <a:lnTo>
                          <a:pt x="192" y="151"/>
                        </a:lnTo>
                        <a:lnTo>
                          <a:pt x="185" y="150"/>
                        </a:lnTo>
                        <a:lnTo>
                          <a:pt x="178" y="147"/>
                        </a:lnTo>
                        <a:lnTo>
                          <a:pt x="167" y="142"/>
                        </a:lnTo>
                        <a:lnTo>
                          <a:pt x="156" y="137"/>
                        </a:lnTo>
                        <a:lnTo>
                          <a:pt x="173" y="148"/>
                        </a:lnTo>
                        <a:lnTo>
                          <a:pt x="174" y="150"/>
                        </a:lnTo>
                        <a:lnTo>
                          <a:pt x="178" y="155"/>
                        </a:lnTo>
                        <a:lnTo>
                          <a:pt x="182" y="160"/>
                        </a:lnTo>
                        <a:lnTo>
                          <a:pt x="187" y="167"/>
                        </a:lnTo>
                        <a:lnTo>
                          <a:pt x="192" y="173"/>
                        </a:lnTo>
                        <a:lnTo>
                          <a:pt x="196" y="181"/>
                        </a:lnTo>
                        <a:lnTo>
                          <a:pt x="202" y="188"/>
                        </a:lnTo>
                        <a:lnTo>
                          <a:pt x="207" y="194"/>
                        </a:lnTo>
                        <a:lnTo>
                          <a:pt x="212" y="200"/>
                        </a:lnTo>
                        <a:lnTo>
                          <a:pt x="216" y="207"/>
                        </a:lnTo>
                        <a:lnTo>
                          <a:pt x="223" y="216"/>
                        </a:lnTo>
                        <a:lnTo>
                          <a:pt x="227" y="223"/>
                        </a:lnTo>
                        <a:lnTo>
                          <a:pt x="231" y="229"/>
                        </a:lnTo>
                        <a:lnTo>
                          <a:pt x="235" y="236"/>
                        </a:lnTo>
                        <a:lnTo>
                          <a:pt x="238" y="243"/>
                        </a:lnTo>
                        <a:lnTo>
                          <a:pt x="241" y="250"/>
                        </a:lnTo>
                        <a:lnTo>
                          <a:pt x="243" y="255"/>
                        </a:lnTo>
                        <a:lnTo>
                          <a:pt x="244" y="262"/>
                        </a:lnTo>
                        <a:lnTo>
                          <a:pt x="245" y="272"/>
                        </a:lnTo>
                        <a:lnTo>
                          <a:pt x="246" y="281"/>
                        </a:lnTo>
                        <a:lnTo>
                          <a:pt x="247" y="290"/>
                        </a:lnTo>
                        <a:lnTo>
                          <a:pt x="249" y="299"/>
                        </a:lnTo>
                        <a:lnTo>
                          <a:pt x="250" y="308"/>
                        </a:lnTo>
                        <a:lnTo>
                          <a:pt x="243" y="299"/>
                        </a:lnTo>
                        <a:lnTo>
                          <a:pt x="238" y="292"/>
                        </a:lnTo>
                        <a:lnTo>
                          <a:pt x="233" y="286"/>
                        </a:lnTo>
                        <a:lnTo>
                          <a:pt x="231" y="281"/>
                        </a:lnTo>
                        <a:lnTo>
                          <a:pt x="227" y="274"/>
                        </a:lnTo>
                        <a:lnTo>
                          <a:pt x="225" y="267"/>
                        </a:lnTo>
                        <a:lnTo>
                          <a:pt x="222" y="259"/>
                        </a:lnTo>
                        <a:lnTo>
                          <a:pt x="218" y="251"/>
                        </a:lnTo>
                        <a:lnTo>
                          <a:pt x="214" y="242"/>
                        </a:lnTo>
                        <a:lnTo>
                          <a:pt x="211" y="235"/>
                        </a:lnTo>
                        <a:lnTo>
                          <a:pt x="207" y="227"/>
                        </a:lnTo>
                        <a:lnTo>
                          <a:pt x="202" y="220"/>
                        </a:lnTo>
                        <a:lnTo>
                          <a:pt x="199" y="215"/>
                        </a:lnTo>
                        <a:lnTo>
                          <a:pt x="193" y="208"/>
                        </a:lnTo>
                        <a:lnTo>
                          <a:pt x="187" y="201"/>
                        </a:lnTo>
                        <a:lnTo>
                          <a:pt x="182" y="196"/>
                        </a:lnTo>
                        <a:lnTo>
                          <a:pt x="177" y="190"/>
                        </a:lnTo>
                        <a:lnTo>
                          <a:pt x="176" y="184"/>
                        </a:lnTo>
                        <a:lnTo>
                          <a:pt x="173" y="177"/>
                        </a:lnTo>
                        <a:lnTo>
                          <a:pt x="169" y="170"/>
                        </a:lnTo>
                        <a:lnTo>
                          <a:pt x="166" y="163"/>
                        </a:lnTo>
                        <a:lnTo>
                          <a:pt x="164" y="161"/>
                        </a:lnTo>
                        <a:lnTo>
                          <a:pt x="158" y="154"/>
                        </a:lnTo>
                        <a:lnTo>
                          <a:pt x="154" y="148"/>
                        </a:lnTo>
                        <a:lnTo>
                          <a:pt x="150" y="142"/>
                        </a:lnTo>
                        <a:lnTo>
                          <a:pt x="145" y="136"/>
                        </a:lnTo>
                        <a:lnTo>
                          <a:pt x="138" y="140"/>
                        </a:lnTo>
                        <a:lnTo>
                          <a:pt x="131" y="144"/>
                        </a:lnTo>
                        <a:lnTo>
                          <a:pt x="123" y="151"/>
                        </a:lnTo>
                        <a:lnTo>
                          <a:pt x="115" y="156"/>
                        </a:lnTo>
                        <a:lnTo>
                          <a:pt x="109" y="162"/>
                        </a:lnTo>
                        <a:lnTo>
                          <a:pt x="105" y="168"/>
                        </a:lnTo>
                        <a:lnTo>
                          <a:pt x="99" y="176"/>
                        </a:lnTo>
                        <a:lnTo>
                          <a:pt x="93" y="186"/>
                        </a:lnTo>
                        <a:lnTo>
                          <a:pt x="87" y="193"/>
                        </a:lnTo>
                        <a:lnTo>
                          <a:pt x="81" y="202"/>
                        </a:lnTo>
                        <a:lnTo>
                          <a:pt x="77" y="210"/>
                        </a:lnTo>
                        <a:lnTo>
                          <a:pt x="72" y="218"/>
                        </a:lnTo>
                        <a:lnTo>
                          <a:pt x="67" y="226"/>
                        </a:lnTo>
                        <a:lnTo>
                          <a:pt x="64" y="233"/>
                        </a:lnTo>
                        <a:lnTo>
                          <a:pt x="59" y="242"/>
                        </a:lnTo>
                        <a:lnTo>
                          <a:pt x="55" y="250"/>
                        </a:lnTo>
                        <a:lnTo>
                          <a:pt x="49" y="260"/>
                        </a:lnTo>
                        <a:lnTo>
                          <a:pt x="43" y="269"/>
                        </a:lnTo>
                        <a:lnTo>
                          <a:pt x="37" y="280"/>
                        </a:lnTo>
                        <a:lnTo>
                          <a:pt x="31" y="289"/>
                        </a:lnTo>
                        <a:lnTo>
                          <a:pt x="27" y="294"/>
                        </a:lnTo>
                        <a:lnTo>
                          <a:pt x="22" y="300"/>
                        </a:lnTo>
                        <a:lnTo>
                          <a:pt x="18" y="306"/>
                        </a:lnTo>
                        <a:lnTo>
                          <a:pt x="12" y="312"/>
                        </a:lnTo>
                        <a:lnTo>
                          <a:pt x="7" y="317"/>
                        </a:lnTo>
                        <a:lnTo>
                          <a:pt x="0" y="325"/>
                        </a:lnTo>
                        <a:lnTo>
                          <a:pt x="2" y="316"/>
                        </a:lnTo>
                        <a:lnTo>
                          <a:pt x="4" y="309"/>
                        </a:lnTo>
                        <a:lnTo>
                          <a:pt x="8" y="301"/>
                        </a:lnTo>
                        <a:lnTo>
                          <a:pt x="12" y="294"/>
                        </a:lnTo>
                        <a:lnTo>
                          <a:pt x="19" y="284"/>
                        </a:lnTo>
                        <a:lnTo>
                          <a:pt x="26" y="274"/>
                        </a:lnTo>
                        <a:lnTo>
                          <a:pt x="33" y="262"/>
                        </a:lnTo>
                        <a:lnTo>
                          <a:pt x="39" y="253"/>
                        </a:lnTo>
                        <a:lnTo>
                          <a:pt x="45" y="243"/>
                        </a:lnTo>
                        <a:lnTo>
                          <a:pt x="51" y="235"/>
                        </a:lnTo>
                        <a:lnTo>
                          <a:pt x="56" y="227"/>
                        </a:lnTo>
                        <a:lnTo>
                          <a:pt x="61" y="220"/>
                        </a:lnTo>
                        <a:lnTo>
                          <a:pt x="66" y="214"/>
                        </a:lnTo>
                        <a:lnTo>
                          <a:pt x="72" y="206"/>
                        </a:lnTo>
                        <a:lnTo>
                          <a:pt x="78" y="198"/>
                        </a:lnTo>
                        <a:lnTo>
                          <a:pt x="84" y="190"/>
                        </a:lnTo>
                        <a:lnTo>
                          <a:pt x="90" y="181"/>
                        </a:lnTo>
                        <a:lnTo>
                          <a:pt x="95" y="174"/>
                        </a:lnTo>
                        <a:lnTo>
                          <a:pt x="101" y="166"/>
                        </a:lnTo>
                        <a:lnTo>
                          <a:pt x="104" y="160"/>
                        </a:lnTo>
                        <a:lnTo>
                          <a:pt x="107" y="154"/>
                        </a:lnTo>
                        <a:lnTo>
                          <a:pt x="109" y="149"/>
                        </a:lnTo>
                        <a:lnTo>
                          <a:pt x="112" y="143"/>
                        </a:lnTo>
                        <a:lnTo>
                          <a:pt x="116" y="138"/>
                        </a:lnTo>
                        <a:lnTo>
                          <a:pt x="122" y="131"/>
                        </a:lnTo>
                        <a:lnTo>
                          <a:pt x="128" y="125"/>
                        </a:lnTo>
                        <a:lnTo>
                          <a:pt x="132" y="120"/>
                        </a:lnTo>
                        <a:lnTo>
                          <a:pt x="137" y="114"/>
                        </a:lnTo>
                        <a:lnTo>
                          <a:pt x="135" y="109"/>
                        </a:lnTo>
                        <a:lnTo>
                          <a:pt x="133" y="101"/>
                        </a:lnTo>
                        <a:lnTo>
                          <a:pt x="121" y="97"/>
                        </a:lnTo>
                        <a:lnTo>
                          <a:pt x="108" y="88"/>
                        </a:lnTo>
                        <a:lnTo>
                          <a:pt x="95" y="79"/>
                        </a:lnTo>
                        <a:lnTo>
                          <a:pt x="87" y="74"/>
                        </a:lnTo>
                        <a:lnTo>
                          <a:pt x="81" y="71"/>
                        </a:lnTo>
                        <a:lnTo>
                          <a:pt x="71" y="66"/>
                        </a:lnTo>
                        <a:lnTo>
                          <a:pt x="61" y="63"/>
                        </a:lnTo>
                        <a:lnTo>
                          <a:pt x="50" y="60"/>
                        </a:lnTo>
                        <a:lnTo>
                          <a:pt x="42" y="57"/>
                        </a:lnTo>
                        <a:lnTo>
                          <a:pt x="32" y="53"/>
                        </a:lnTo>
                        <a:lnTo>
                          <a:pt x="23" y="51"/>
                        </a:lnTo>
                        <a:lnTo>
                          <a:pt x="14" y="49"/>
                        </a:lnTo>
                        <a:lnTo>
                          <a:pt x="7" y="47"/>
                        </a:lnTo>
                        <a:lnTo>
                          <a:pt x="14" y="46"/>
                        </a:lnTo>
                        <a:lnTo>
                          <a:pt x="19" y="45"/>
                        </a:lnTo>
                        <a:lnTo>
                          <a:pt x="23" y="44"/>
                        </a:lnTo>
                        <a:lnTo>
                          <a:pt x="28" y="44"/>
                        </a:lnTo>
                        <a:lnTo>
                          <a:pt x="33" y="44"/>
                        </a:lnTo>
                        <a:lnTo>
                          <a:pt x="43" y="49"/>
                        </a:lnTo>
                        <a:lnTo>
                          <a:pt x="51" y="53"/>
                        </a:lnTo>
                        <a:lnTo>
                          <a:pt x="60" y="58"/>
                        </a:lnTo>
                        <a:lnTo>
                          <a:pt x="69" y="63"/>
                        </a:lnTo>
                        <a:lnTo>
                          <a:pt x="79" y="68"/>
                        </a:lnTo>
                        <a:lnTo>
                          <a:pt x="89" y="74"/>
                        </a:lnTo>
                        <a:lnTo>
                          <a:pt x="96" y="77"/>
                        </a:lnTo>
                        <a:lnTo>
                          <a:pt x="109" y="84"/>
                        </a:lnTo>
                        <a:lnTo>
                          <a:pt x="116" y="86"/>
                        </a:lnTo>
                        <a:lnTo>
                          <a:pt x="122" y="85"/>
                        </a:lnTo>
                        <a:lnTo>
                          <a:pt x="127" y="84"/>
                        </a:lnTo>
                        <a:lnTo>
                          <a:pt x="132" y="83"/>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4" name="Freeform 30"/>
                  <p:cNvSpPr>
                    <a:spLocks/>
                  </p:cNvSpPr>
                  <p:nvPr/>
                </p:nvSpPr>
                <p:spPr bwMode="ltGray">
                  <a:xfrm>
                    <a:off x="2175" y="1587"/>
                    <a:ext cx="38" cy="181"/>
                  </a:xfrm>
                  <a:custGeom>
                    <a:avLst/>
                    <a:gdLst>
                      <a:gd name="T0" fmla="*/ 20 w 38"/>
                      <a:gd name="T1" fmla="*/ 0 h 181"/>
                      <a:gd name="T2" fmla="*/ 24 w 38"/>
                      <a:gd name="T3" fmla="*/ 8 h 181"/>
                      <a:gd name="T4" fmla="*/ 27 w 38"/>
                      <a:gd name="T5" fmla="*/ 14 h 181"/>
                      <a:gd name="T6" fmla="*/ 33 w 38"/>
                      <a:gd name="T7" fmla="*/ 22 h 181"/>
                      <a:gd name="T8" fmla="*/ 35 w 38"/>
                      <a:gd name="T9" fmla="*/ 30 h 181"/>
                      <a:gd name="T10" fmla="*/ 36 w 38"/>
                      <a:gd name="T11" fmla="*/ 41 h 181"/>
                      <a:gd name="T12" fmla="*/ 36 w 38"/>
                      <a:gd name="T13" fmla="*/ 53 h 181"/>
                      <a:gd name="T14" fmla="*/ 37 w 38"/>
                      <a:gd name="T15" fmla="*/ 61 h 181"/>
                      <a:gd name="T16" fmla="*/ 36 w 38"/>
                      <a:gd name="T17" fmla="*/ 70 h 181"/>
                      <a:gd name="T18" fmla="*/ 35 w 38"/>
                      <a:gd name="T19" fmla="*/ 81 h 181"/>
                      <a:gd name="T20" fmla="*/ 33 w 38"/>
                      <a:gd name="T21" fmla="*/ 91 h 181"/>
                      <a:gd name="T22" fmla="*/ 30 w 38"/>
                      <a:gd name="T23" fmla="*/ 106 h 181"/>
                      <a:gd name="T24" fmla="*/ 28 w 38"/>
                      <a:gd name="T25" fmla="*/ 114 h 181"/>
                      <a:gd name="T26" fmla="*/ 23 w 38"/>
                      <a:gd name="T27" fmla="*/ 124 h 181"/>
                      <a:gd name="T28" fmla="*/ 17 w 38"/>
                      <a:gd name="T29" fmla="*/ 135 h 181"/>
                      <a:gd name="T30" fmla="*/ 12 w 38"/>
                      <a:gd name="T31" fmla="*/ 145 h 181"/>
                      <a:gd name="T32" fmla="*/ 7 w 38"/>
                      <a:gd name="T33" fmla="*/ 155 h 181"/>
                      <a:gd name="T34" fmla="*/ 3 w 38"/>
                      <a:gd name="T35" fmla="*/ 163 h 181"/>
                      <a:gd name="T36" fmla="*/ 0 w 38"/>
                      <a:gd name="T37" fmla="*/ 180 h 181"/>
                      <a:gd name="T38" fmla="*/ 1 w 38"/>
                      <a:gd name="T39" fmla="*/ 163 h 181"/>
                      <a:gd name="T40" fmla="*/ 3 w 38"/>
                      <a:gd name="T41" fmla="*/ 152 h 181"/>
                      <a:gd name="T42" fmla="*/ 4 w 38"/>
                      <a:gd name="T43" fmla="*/ 141 h 181"/>
                      <a:gd name="T44" fmla="*/ 5 w 38"/>
                      <a:gd name="T45" fmla="*/ 130 h 181"/>
                      <a:gd name="T46" fmla="*/ 7 w 38"/>
                      <a:gd name="T47" fmla="*/ 116 h 181"/>
                      <a:gd name="T48" fmla="*/ 9 w 38"/>
                      <a:gd name="T49" fmla="*/ 106 h 181"/>
                      <a:gd name="T50" fmla="*/ 12 w 38"/>
                      <a:gd name="T51" fmla="*/ 96 h 181"/>
                      <a:gd name="T52" fmla="*/ 15 w 38"/>
                      <a:gd name="T53" fmla="*/ 87 h 181"/>
                      <a:gd name="T54" fmla="*/ 17 w 38"/>
                      <a:gd name="T55" fmla="*/ 77 h 181"/>
                      <a:gd name="T56" fmla="*/ 20 w 38"/>
                      <a:gd name="T57" fmla="*/ 67 h 181"/>
                      <a:gd name="T58" fmla="*/ 21 w 38"/>
                      <a:gd name="T59" fmla="*/ 57 h 181"/>
                      <a:gd name="T60" fmla="*/ 22 w 38"/>
                      <a:gd name="T61" fmla="*/ 49 h 181"/>
                      <a:gd name="T62" fmla="*/ 23 w 38"/>
                      <a:gd name="T63" fmla="*/ 39 h 181"/>
                      <a:gd name="T64" fmla="*/ 23 w 38"/>
                      <a:gd name="T65" fmla="*/ 28 h 181"/>
                      <a:gd name="T66" fmla="*/ 23 w 38"/>
                      <a:gd name="T67" fmla="*/ 14 h 181"/>
                      <a:gd name="T68" fmla="*/ 22 w 38"/>
                      <a:gd name="T69" fmla="*/ 8 h 181"/>
                      <a:gd name="T70" fmla="*/ 20 w 38"/>
                      <a:gd name="T71" fmla="*/ 0 h 18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8" h="181">
                        <a:moveTo>
                          <a:pt x="20" y="0"/>
                        </a:moveTo>
                        <a:lnTo>
                          <a:pt x="24" y="8"/>
                        </a:lnTo>
                        <a:lnTo>
                          <a:pt x="27" y="14"/>
                        </a:lnTo>
                        <a:lnTo>
                          <a:pt x="33" y="22"/>
                        </a:lnTo>
                        <a:lnTo>
                          <a:pt x="35" y="30"/>
                        </a:lnTo>
                        <a:lnTo>
                          <a:pt x="36" y="41"/>
                        </a:lnTo>
                        <a:lnTo>
                          <a:pt x="36" y="53"/>
                        </a:lnTo>
                        <a:lnTo>
                          <a:pt x="37" y="61"/>
                        </a:lnTo>
                        <a:lnTo>
                          <a:pt x="36" y="70"/>
                        </a:lnTo>
                        <a:lnTo>
                          <a:pt x="35" y="81"/>
                        </a:lnTo>
                        <a:lnTo>
                          <a:pt x="33" y="91"/>
                        </a:lnTo>
                        <a:lnTo>
                          <a:pt x="30" y="106"/>
                        </a:lnTo>
                        <a:lnTo>
                          <a:pt x="28" y="114"/>
                        </a:lnTo>
                        <a:lnTo>
                          <a:pt x="23" y="124"/>
                        </a:lnTo>
                        <a:lnTo>
                          <a:pt x="17" y="135"/>
                        </a:lnTo>
                        <a:lnTo>
                          <a:pt x="12" y="145"/>
                        </a:lnTo>
                        <a:lnTo>
                          <a:pt x="7" y="155"/>
                        </a:lnTo>
                        <a:lnTo>
                          <a:pt x="3" y="163"/>
                        </a:lnTo>
                        <a:lnTo>
                          <a:pt x="0" y="180"/>
                        </a:lnTo>
                        <a:lnTo>
                          <a:pt x="1" y="163"/>
                        </a:lnTo>
                        <a:lnTo>
                          <a:pt x="3" y="152"/>
                        </a:lnTo>
                        <a:lnTo>
                          <a:pt x="4" y="141"/>
                        </a:lnTo>
                        <a:lnTo>
                          <a:pt x="5" y="130"/>
                        </a:lnTo>
                        <a:lnTo>
                          <a:pt x="7" y="116"/>
                        </a:lnTo>
                        <a:lnTo>
                          <a:pt x="9" y="106"/>
                        </a:lnTo>
                        <a:lnTo>
                          <a:pt x="12" y="96"/>
                        </a:lnTo>
                        <a:lnTo>
                          <a:pt x="15" y="87"/>
                        </a:lnTo>
                        <a:lnTo>
                          <a:pt x="17" y="77"/>
                        </a:lnTo>
                        <a:lnTo>
                          <a:pt x="20" y="67"/>
                        </a:lnTo>
                        <a:lnTo>
                          <a:pt x="21" y="57"/>
                        </a:lnTo>
                        <a:lnTo>
                          <a:pt x="22" y="49"/>
                        </a:lnTo>
                        <a:lnTo>
                          <a:pt x="23" y="39"/>
                        </a:lnTo>
                        <a:lnTo>
                          <a:pt x="23" y="28"/>
                        </a:lnTo>
                        <a:lnTo>
                          <a:pt x="23" y="14"/>
                        </a:lnTo>
                        <a:lnTo>
                          <a:pt x="22" y="8"/>
                        </a:lnTo>
                        <a:lnTo>
                          <a:pt x="20" y="0"/>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5" name="Freeform 31"/>
                  <p:cNvSpPr>
                    <a:spLocks/>
                  </p:cNvSpPr>
                  <p:nvPr/>
                </p:nvSpPr>
                <p:spPr bwMode="ltGray">
                  <a:xfrm>
                    <a:off x="1991" y="1486"/>
                    <a:ext cx="168" cy="48"/>
                  </a:xfrm>
                  <a:custGeom>
                    <a:avLst/>
                    <a:gdLst>
                      <a:gd name="T0" fmla="*/ 167 w 168"/>
                      <a:gd name="T1" fmla="*/ 47 h 48"/>
                      <a:gd name="T2" fmla="*/ 164 w 168"/>
                      <a:gd name="T3" fmla="*/ 38 h 48"/>
                      <a:gd name="T4" fmla="*/ 160 w 168"/>
                      <a:gd name="T5" fmla="*/ 31 h 48"/>
                      <a:gd name="T6" fmla="*/ 157 w 168"/>
                      <a:gd name="T7" fmla="*/ 30 h 48"/>
                      <a:gd name="T8" fmla="*/ 150 w 168"/>
                      <a:gd name="T9" fmla="*/ 28 h 48"/>
                      <a:gd name="T10" fmla="*/ 144 w 168"/>
                      <a:gd name="T11" fmla="*/ 26 h 48"/>
                      <a:gd name="T12" fmla="*/ 137 w 168"/>
                      <a:gd name="T13" fmla="*/ 28 h 48"/>
                      <a:gd name="T14" fmla="*/ 130 w 168"/>
                      <a:gd name="T15" fmla="*/ 29 h 48"/>
                      <a:gd name="T16" fmla="*/ 121 w 168"/>
                      <a:gd name="T17" fmla="*/ 25 h 48"/>
                      <a:gd name="T18" fmla="*/ 109 w 168"/>
                      <a:gd name="T19" fmla="*/ 21 h 48"/>
                      <a:gd name="T20" fmla="*/ 98 w 168"/>
                      <a:gd name="T21" fmla="*/ 17 h 48"/>
                      <a:gd name="T22" fmla="*/ 91 w 168"/>
                      <a:gd name="T23" fmla="*/ 15 h 48"/>
                      <a:gd name="T24" fmla="*/ 78 w 168"/>
                      <a:gd name="T25" fmla="*/ 12 h 48"/>
                      <a:gd name="T26" fmla="*/ 66 w 168"/>
                      <a:gd name="T27" fmla="*/ 8 h 48"/>
                      <a:gd name="T28" fmla="*/ 54 w 168"/>
                      <a:gd name="T29" fmla="*/ 4 h 48"/>
                      <a:gd name="T30" fmla="*/ 41 w 168"/>
                      <a:gd name="T31" fmla="*/ 1 h 48"/>
                      <a:gd name="T32" fmla="*/ 28 w 168"/>
                      <a:gd name="T33" fmla="*/ 0 h 48"/>
                      <a:gd name="T34" fmla="*/ 15 w 168"/>
                      <a:gd name="T35" fmla="*/ 0 h 48"/>
                      <a:gd name="T36" fmla="*/ 12 w 168"/>
                      <a:gd name="T37" fmla="*/ 1 h 48"/>
                      <a:gd name="T38" fmla="*/ 7 w 168"/>
                      <a:gd name="T39" fmla="*/ 4 h 48"/>
                      <a:gd name="T40" fmla="*/ 3 w 168"/>
                      <a:gd name="T41" fmla="*/ 7 h 48"/>
                      <a:gd name="T42" fmla="*/ 0 w 168"/>
                      <a:gd name="T43" fmla="*/ 10 h 48"/>
                      <a:gd name="T44" fmla="*/ 5 w 168"/>
                      <a:gd name="T45" fmla="*/ 10 h 48"/>
                      <a:gd name="T46" fmla="*/ 12 w 168"/>
                      <a:gd name="T47" fmla="*/ 11 h 48"/>
                      <a:gd name="T48" fmla="*/ 18 w 168"/>
                      <a:gd name="T49" fmla="*/ 12 h 48"/>
                      <a:gd name="T50" fmla="*/ 23 w 168"/>
                      <a:gd name="T51" fmla="*/ 11 h 48"/>
                      <a:gd name="T52" fmla="*/ 29 w 168"/>
                      <a:gd name="T53" fmla="*/ 10 h 48"/>
                      <a:gd name="T54" fmla="*/ 38 w 168"/>
                      <a:gd name="T55" fmla="*/ 10 h 48"/>
                      <a:gd name="T56" fmla="*/ 50 w 168"/>
                      <a:gd name="T57" fmla="*/ 10 h 48"/>
                      <a:gd name="T58" fmla="*/ 60 w 168"/>
                      <a:gd name="T59" fmla="*/ 12 h 48"/>
                      <a:gd name="T60" fmla="*/ 70 w 168"/>
                      <a:gd name="T61" fmla="*/ 13 h 48"/>
                      <a:gd name="T62" fmla="*/ 79 w 168"/>
                      <a:gd name="T63" fmla="*/ 15 h 48"/>
                      <a:gd name="T64" fmla="*/ 89 w 168"/>
                      <a:gd name="T65" fmla="*/ 16 h 48"/>
                      <a:gd name="T66" fmla="*/ 98 w 168"/>
                      <a:gd name="T67" fmla="*/ 18 h 48"/>
                      <a:gd name="T68" fmla="*/ 106 w 168"/>
                      <a:gd name="T69" fmla="*/ 22 h 48"/>
                      <a:gd name="T70" fmla="*/ 114 w 168"/>
                      <a:gd name="T71" fmla="*/ 26 h 48"/>
                      <a:gd name="T72" fmla="*/ 123 w 168"/>
                      <a:gd name="T73" fmla="*/ 30 h 48"/>
                      <a:gd name="T74" fmla="*/ 127 w 168"/>
                      <a:gd name="T75" fmla="*/ 30 h 48"/>
                      <a:gd name="T76" fmla="*/ 131 w 168"/>
                      <a:gd name="T77" fmla="*/ 30 h 48"/>
                      <a:gd name="T78" fmla="*/ 137 w 168"/>
                      <a:gd name="T79" fmla="*/ 33 h 48"/>
                      <a:gd name="T80" fmla="*/ 144 w 168"/>
                      <a:gd name="T81" fmla="*/ 36 h 48"/>
                      <a:gd name="T82" fmla="*/ 150 w 168"/>
                      <a:gd name="T83" fmla="*/ 38 h 48"/>
                      <a:gd name="T84" fmla="*/ 158 w 168"/>
                      <a:gd name="T85" fmla="*/ 42 h 48"/>
                      <a:gd name="T86" fmla="*/ 164 w 168"/>
                      <a:gd name="T87" fmla="*/ 45 h 48"/>
                      <a:gd name="T88" fmla="*/ 167 w 168"/>
                      <a:gd name="T89" fmla="*/ 47 h 4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168" h="48">
                        <a:moveTo>
                          <a:pt x="167" y="47"/>
                        </a:moveTo>
                        <a:lnTo>
                          <a:pt x="164" y="38"/>
                        </a:lnTo>
                        <a:lnTo>
                          <a:pt x="160" y="31"/>
                        </a:lnTo>
                        <a:lnTo>
                          <a:pt x="157" y="30"/>
                        </a:lnTo>
                        <a:lnTo>
                          <a:pt x="150" y="28"/>
                        </a:lnTo>
                        <a:lnTo>
                          <a:pt x="144" y="26"/>
                        </a:lnTo>
                        <a:lnTo>
                          <a:pt x="137" y="28"/>
                        </a:lnTo>
                        <a:lnTo>
                          <a:pt x="130" y="29"/>
                        </a:lnTo>
                        <a:lnTo>
                          <a:pt x="121" y="25"/>
                        </a:lnTo>
                        <a:lnTo>
                          <a:pt x="109" y="21"/>
                        </a:lnTo>
                        <a:lnTo>
                          <a:pt x="98" y="17"/>
                        </a:lnTo>
                        <a:lnTo>
                          <a:pt x="91" y="15"/>
                        </a:lnTo>
                        <a:lnTo>
                          <a:pt x="78" y="12"/>
                        </a:lnTo>
                        <a:lnTo>
                          <a:pt x="66" y="8"/>
                        </a:lnTo>
                        <a:lnTo>
                          <a:pt x="54" y="4"/>
                        </a:lnTo>
                        <a:lnTo>
                          <a:pt x="41" y="1"/>
                        </a:lnTo>
                        <a:lnTo>
                          <a:pt x="28" y="0"/>
                        </a:lnTo>
                        <a:lnTo>
                          <a:pt x="15" y="0"/>
                        </a:lnTo>
                        <a:lnTo>
                          <a:pt x="12" y="1"/>
                        </a:lnTo>
                        <a:lnTo>
                          <a:pt x="7" y="4"/>
                        </a:lnTo>
                        <a:lnTo>
                          <a:pt x="3" y="7"/>
                        </a:lnTo>
                        <a:lnTo>
                          <a:pt x="0" y="10"/>
                        </a:lnTo>
                        <a:lnTo>
                          <a:pt x="5" y="10"/>
                        </a:lnTo>
                        <a:lnTo>
                          <a:pt x="12" y="11"/>
                        </a:lnTo>
                        <a:lnTo>
                          <a:pt x="18" y="12"/>
                        </a:lnTo>
                        <a:lnTo>
                          <a:pt x="23" y="11"/>
                        </a:lnTo>
                        <a:lnTo>
                          <a:pt x="29" y="10"/>
                        </a:lnTo>
                        <a:lnTo>
                          <a:pt x="38" y="10"/>
                        </a:lnTo>
                        <a:lnTo>
                          <a:pt x="50" y="10"/>
                        </a:lnTo>
                        <a:lnTo>
                          <a:pt x="60" y="12"/>
                        </a:lnTo>
                        <a:lnTo>
                          <a:pt x="70" y="13"/>
                        </a:lnTo>
                        <a:lnTo>
                          <a:pt x="79" y="15"/>
                        </a:lnTo>
                        <a:lnTo>
                          <a:pt x="89" y="16"/>
                        </a:lnTo>
                        <a:lnTo>
                          <a:pt x="98" y="18"/>
                        </a:lnTo>
                        <a:lnTo>
                          <a:pt x="106" y="22"/>
                        </a:lnTo>
                        <a:lnTo>
                          <a:pt x="114" y="26"/>
                        </a:lnTo>
                        <a:lnTo>
                          <a:pt x="123" y="30"/>
                        </a:lnTo>
                        <a:lnTo>
                          <a:pt x="127" y="30"/>
                        </a:lnTo>
                        <a:lnTo>
                          <a:pt x="131" y="30"/>
                        </a:lnTo>
                        <a:lnTo>
                          <a:pt x="137" y="33"/>
                        </a:lnTo>
                        <a:lnTo>
                          <a:pt x="144" y="36"/>
                        </a:lnTo>
                        <a:lnTo>
                          <a:pt x="150" y="38"/>
                        </a:lnTo>
                        <a:lnTo>
                          <a:pt x="158" y="42"/>
                        </a:lnTo>
                        <a:lnTo>
                          <a:pt x="164" y="45"/>
                        </a:lnTo>
                        <a:lnTo>
                          <a:pt x="167" y="47"/>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56" name="Freeform 32"/>
                  <p:cNvSpPr>
                    <a:spLocks/>
                  </p:cNvSpPr>
                  <p:nvPr/>
                </p:nvSpPr>
                <p:spPr bwMode="ltGray">
                  <a:xfrm>
                    <a:off x="1985" y="1514"/>
                    <a:ext cx="173" cy="20"/>
                  </a:xfrm>
                  <a:custGeom>
                    <a:avLst/>
                    <a:gdLst>
                      <a:gd name="T0" fmla="*/ 172 w 173"/>
                      <a:gd name="T1" fmla="*/ 19 h 20"/>
                      <a:gd name="T2" fmla="*/ 167 w 173"/>
                      <a:gd name="T3" fmla="*/ 17 h 20"/>
                      <a:gd name="T4" fmla="*/ 163 w 173"/>
                      <a:gd name="T5" fmla="*/ 15 h 20"/>
                      <a:gd name="T6" fmla="*/ 157 w 173"/>
                      <a:gd name="T7" fmla="*/ 13 h 20"/>
                      <a:gd name="T8" fmla="*/ 152 w 173"/>
                      <a:gd name="T9" fmla="*/ 11 h 20"/>
                      <a:gd name="T10" fmla="*/ 146 w 173"/>
                      <a:gd name="T11" fmla="*/ 9 h 20"/>
                      <a:gd name="T12" fmla="*/ 138 w 173"/>
                      <a:gd name="T13" fmla="*/ 6 h 20"/>
                      <a:gd name="T14" fmla="*/ 131 w 173"/>
                      <a:gd name="T15" fmla="*/ 2 h 20"/>
                      <a:gd name="T16" fmla="*/ 125 w 173"/>
                      <a:gd name="T17" fmla="*/ 2 h 20"/>
                      <a:gd name="T18" fmla="*/ 118 w 173"/>
                      <a:gd name="T19" fmla="*/ 3 h 20"/>
                      <a:gd name="T20" fmla="*/ 108 w 173"/>
                      <a:gd name="T21" fmla="*/ 5 h 20"/>
                      <a:gd name="T22" fmla="*/ 103 w 173"/>
                      <a:gd name="T23" fmla="*/ 5 h 20"/>
                      <a:gd name="T24" fmla="*/ 91 w 173"/>
                      <a:gd name="T25" fmla="*/ 3 h 20"/>
                      <a:gd name="T26" fmla="*/ 77 w 173"/>
                      <a:gd name="T27" fmla="*/ 1 h 20"/>
                      <a:gd name="T28" fmla="*/ 67 w 173"/>
                      <a:gd name="T29" fmla="*/ 0 h 20"/>
                      <a:gd name="T30" fmla="*/ 55 w 173"/>
                      <a:gd name="T31" fmla="*/ 0 h 20"/>
                      <a:gd name="T32" fmla="*/ 43 w 173"/>
                      <a:gd name="T33" fmla="*/ 0 h 20"/>
                      <a:gd name="T34" fmla="*/ 35 w 173"/>
                      <a:gd name="T35" fmla="*/ 1 h 20"/>
                      <a:gd name="T36" fmla="*/ 26 w 173"/>
                      <a:gd name="T37" fmla="*/ 2 h 20"/>
                      <a:gd name="T38" fmla="*/ 18 w 173"/>
                      <a:gd name="T39" fmla="*/ 3 h 20"/>
                      <a:gd name="T40" fmla="*/ 9 w 173"/>
                      <a:gd name="T41" fmla="*/ 4 h 20"/>
                      <a:gd name="T42" fmla="*/ 8 w 173"/>
                      <a:gd name="T43" fmla="*/ 8 h 20"/>
                      <a:gd name="T44" fmla="*/ 6 w 173"/>
                      <a:gd name="T45" fmla="*/ 11 h 20"/>
                      <a:gd name="T46" fmla="*/ 4 w 173"/>
                      <a:gd name="T47" fmla="*/ 14 h 20"/>
                      <a:gd name="T48" fmla="*/ 0 w 173"/>
                      <a:gd name="T49" fmla="*/ 16 h 20"/>
                      <a:gd name="T50" fmla="*/ 7 w 173"/>
                      <a:gd name="T51" fmla="*/ 15 h 20"/>
                      <a:gd name="T52" fmla="*/ 15 w 173"/>
                      <a:gd name="T53" fmla="*/ 13 h 20"/>
                      <a:gd name="T54" fmla="*/ 21 w 173"/>
                      <a:gd name="T55" fmla="*/ 12 h 20"/>
                      <a:gd name="T56" fmla="*/ 29 w 173"/>
                      <a:gd name="T57" fmla="*/ 11 h 20"/>
                      <a:gd name="T58" fmla="*/ 36 w 173"/>
                      <a:gd name="T59" fmla="*/ 10 h 20"/>
                      <a:gd name="T60" fmla="*/ 49 w 173"/>
                      <a:gd name="T61" fmla="*/ 9 h 20"/>
                      <a:gd name="T62" fmla="*/ 62 w 173"/>
                      <a:gd name="T63" fmla="*/ 8 h 20"/>
                      <a:gd name="T64" fmla="*/ 77 w 173"/>
                      <a:gd name="T65" fmla="*/ 7 h 20"/>
                      <a:gd name="T66" fmla="*/ 92 w 173"/>
                      <a:gd name="T67" fmla="*/ 6 h 20"/>
                      <a:gd name="T68" fmla="*/ 106 w 173"/>
                      <a:gd name="T69" fmla="*/ 6 h 20"/>
                      <a:gd name="T70" fmla="*/ 118 w 173"/>
                      <a:gd name="T71" fmla="*/ 7 h 20"/>
                      <a:gd name="T72" fmla="*/ 126 w 173"/>
                      <a:gd name="T73" fmla="*/ 9 h 20"/>
                      <a:gd name="T74" fmla="*/ 135 w 173"/>
                      <a:gd name="T75" fmla="*/ 11 h 20"/>
                      <a:gd name="T76" fmla="*/ 145 w 173"/>
                      <a:gd name="T77" fmla="*/ 13 h 20"/>
                      <a:gd name="T78" fmla="*/ 155 w 173"/>
                      <a:gd name="T79" fmla="*/ 16 h 20"/>
                      <a:gd name="T80" fmla="*/ 163 w 173"/>
                      <a:gd name="T81" fmla="*/ 17 h 20"/>
                      <a:gd name="T82" fmla="*/ 172 w 173"/>
                      <a:gd name="T83" fmla="*/ 19 h 2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73" h="20">
                        <a:moveTo>
                          <a:pt x="172" y="19"/>
                        </a:moveTo>
                        <a:lnTo>
                          <a:pt x="167" y="17"/>
                        </a:lnTo>
                        <a:lnTo>
                          <a:pt x="163" y="15"/>
                        </a:lnTo>
                        <a:lnTo>
                          <a:pt x="157" y="13"/>
                        </a:lnTo>
                        <a:lnTo>
                          <a:pt x="152" y="11"/>
                        </a:lnTo>
                        <a:lnTo>
                          <a:pt x="146" y="9"/>
                        </a:lnTo>
                        <a:lnTo>
                          <a:pt x="138" y="6"/>
                        </a:lnTo>
                        <a:lnTo>
                          <a:pt x="131" y="2"/>
                        </a:lnTo>
                        <a:lnTo>
                          <a:pt x="125" y="2"/>
                        </a:lnTo>
                        <a:lnTo>
                          <a:pt x="118" y="3"/>
                        </a:lnTo>
                        <a:lnTo>
                          <a:pt x="108" y="5"/>
                        </a:lnTo>
                        <a:lnTo>
                          <a:pt x="103" y="5"/>
                        </a:lnTo>
                        <a:lnTo>
                          <a:pt x="91" y="3"/>
                        </a:lnTo>
                        <a:lnTo>
                          <a:pt x="77" y="1"/>
                        </a:lnTo>
                        <a:lnTo>
                          <a:pt x="67" y="0"/>
                        </a:lnTo>
                        <a:lnTo>
                          <a:pt x="55" y="0"/>
                        </a:lnTo>
                        <a:lnTo>
                          <a:pt x="43" y="0"/>
                        </a:lnTo>
                        <a:lnTo>
                          <a:pt x="35" y="1"/>
                        </a:lnTo>
                        <a:lnTo>
                          <a:pt x="26" y="2"/>
                        </a:lnTo>
                        <a:lnTo>
                          <a:pt x="18" y="3"/>
                        </a:lnTo>
                        <a:lnTo>
                          <a:pt x="9" y="4"/>
                        </a:lnTo>
                        <a:lnTo>
                          <a:pt x="8" y="8"/>
                        </a:lnTo>
                        <a:lnTo>
                          <a:pt x="6" y="11"/>
                        </a:lnTo>
                        <a:lnTo>
                          <a:pt x="4" y="14"/>
                        </a:lnTo>
                        <a:lnTo>
                          <a:pt x="0" y="16"/>
                        </a:lnTo>
                        <a:lnTo>
                          <a:pt x="7" y="15"/>
                        </a:lnTo>
                        <a:lnTo>
                          <a:pt x="15" y="13"/>
                        </a:lnTo>
                        <a:lnTo>
                          <a:pt x="21" y="12"/>
                        </a:lnTo>
                        <a:lnTo>
                          <a:pt x="29" y="11"/>
                        </a:lnTo>
                        <a:lnTo>
                          <a:pt x="36" y="10"/>
                        </a:lnTo>
                        <a:lnTo>
                          <a:pt x="49" y="9"/>
                        </a:lnTo>
                        <a:lnTo>
                          <a:pt x="62" y="8"/>
                        </a:lnTo>
                        <a:lnTo>
                          <a:pt x="77" y="7"/>
                        </a:lnTo>
                        <a:lnTo>
                          <a:pt x="92" y="6"/>
                        </a:lnTo>
                        <a:lnTo>
                          <a:pt x="106" y="6"/>
                        </a:lnTo>
                        <a:lnTo>
                          <a:pt x="118" y="7"/>
                        </a:lnTo>
                        <a:lnTo>
                          <a:pt x="126" y="9"/>
                        </a:lnTo>
                        <a:lnTo>
                          <a:pt x="135" y="11"/>
                        </a:lnTo>
                        <a:lnTo>
                          <a:pt x="145" y="13"/>
                        </a:lnTo>
                        <a:lnTo>
                          <a:pt x="155" y="16"/>
                        </a:lnTo>
                        <a:lnTo>
                          <a:pt x="163" y="17"/>
                        </a:lnTo>
                        <a:lnTo>
                          <a:pt x="172" y="19"/>
                        </a:lnTo>
                      </a:path>
                    </a:pathLst>
                  </a:custGeom>
                  <a:solidFill>
                    <a:srgbClr val="037C03">
                      <a:alpha val="50195"/>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grpSp>
      </p:grpSp>
      <p:grpSp>
        <p:nvGrpSpPr>
          <p:cNvPr id="1035" name="Group 33"/>
          <p:cNvGrpSpPr>
            <a:grpSpLocks/>
          </p:cNvGrpSpPr>
          <p:nvPr/>
        </p:nvGrpSpPr>
        <p:grpSpPr bwMode="auto">
          <a:xfrm>
            <a:off x="7934325" y="6124575"/>
            <a:ext cx="322263" cy="420688"/>
            <a:chOff x="112" y="4288"/>
            <a:chExt cx="439" cy="478"/>
          </a:xfrm>
        </p:grpSpPr>
        <p:grpSp>
          <p:nvGrpSpPr>
            <p:cNvPr id="1040" name="Group 34"/>
            <p:cNvGrpSpPr>
              <a:grpSpLocks/>
            </p:cNvGrpSpPr>
            <p:nvPr/>
          </p:nvGrpSpPr>
          <p:grpSpPr bwMode="auto">
            <a:xfrm>
              <a:off x="259" y="4288"/>
              <a:ext cx="148" cy="478"/>
              <a:chOff x="259" y="4288"/>
              <a:chExt cx="148" cy="478"/>
            </a:xfrm>
          </p:grpSpPr>
          <p:sp>
            <p:nvSpPr>
              <p:cNvPr id="1044" name="Freeform 35"/>
              <p:cNvSpPr>
                <a:spLocks/>
              </p:cNvSpPr>
              <p:nvPr/>
            </p:nvSpPr>
            <p:spPr bwMode="auto">
              <a:xfrm>
                <a:off x="260" y="4288"/>
                <a:ext cx="147" cy="478"/>
              </a:xfrm>
              <a:custGeom>
                <a:avLst/>
                <a:gdLst>
                  <a:gd name="T0" fmla="*/ 49 w 147"/>
                  <a:gd name="T1" fmla="*/ 188 h 478"/>
                  <a:gd name="T2" fmla="*/ 131 w 147"/>
                  <a:gd name="T3" fmla="*/ 472 h 478"/>
                  <a:gd name="T4" fmla="*/ 135 w 147"/>
                  <a:gd name="T5" fmla="*/ 475 h 478"/>
                  <a:gd name="T6" fmla="*/ 139 w 147"/>
                  <a:gd name="T7" fmla="*/ 477 h 478"/>
                  <a:gd name="T8" fmla="*/ 142 w 147"/>
                  <a:gd name="T9" fmla="*/ 475 h 478"/>
                  <a:gd name="T10" fmla="*/ 144 w 147"/>
                  <a:gd name="T11" fmla="*/ 472 h 478"/>
                  <a:gd name="T12" fmla="*/ 146 w 147"/>
                  <a:gd name="T13" fmla="*/ 468 h 478"/>
                  <a:gd name="T14" fmla="*/ 146 w 147"/>
                  <a:gd name="T15" fmla="*/ 463 h 478"/>
                  <a:gd name="T16" fmla="*/ 143 w 147"/>
                  <a:gd name="T17" fmla="*/ 455 h 478"/>
                  <a:gd name="T18" fmla="*/ 61 w 147"/>
                  <a:gd name="T19" fmla="*/ 176 h 478"/>
                  <a:gd name="T20" fmla="*/ 9 w 147"/>
                  <a:gd name="T21" fmla="*/ 5 h 478"/>
                  <a:gd name="T22" fmla="*/ 6 w 147"/>
                  <a:gd name="T23" fmla="*/ 2 h 478"/>
                  <a:gd name="T24" fmla="*/ 4 w 147"/>
                  <a:gd name="T25" fmla="*/ 1 h 478"/>
                  <a:gd name="T26" fmla="*/ 1 w 147"/>
                  <a:gd name="T27" fmla="*/ 0 h 478"/>
                  <a:gd name="T28" fmla="*/ 0 w 147"/>
                  <a:gd name="T29" fmla="*/ 2 h 478"/>
                  <a:gd name="T30" fmla="*/ 0 w 147"/>
                  <a:gd name="T31" fmla="*/ 6 h 478"/>
                  <a:gd name="T32" fmla="*/ 0 w 147"/>
                  <a:gd name="T33" fmla="*/ 10 h 478"/>
                  <a:gd name="T34" fmla="*/ 49 w 147"/>
                  <a:gd name="T35" fmla="*/ 188 h 47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7" h="478">
                    <a:moveTo>
                      <a:pt x="49" y="188"/>
                    </a:moveTo>
                    <a:lnTo>
                      <a:pt x="131" y="472"/>
                    </a:lnTo>
                    <a:lnTo>
                      <a:pt x="135" y="475"/>
                    </a:lnTo>
                    <a:lnTo>
                      <a:pt x="139" y="477"/>
                    </a:lnTo>
                    <a:lnTo>
                      <a:pt x="142" y="475"/>
                    </a:lnTo>
                    <a:lnTo>
                      <a:pt x="144" y="472"/>
                    </a:lnTo>
                    <a:lnTo>
                      <a:pt x="146" y="468"/>
                    </a:lnTo>
                    <a:lnTo>
                      <a:pt x="146" y="463"/>
                    </a:lnTo>
                    <a:lnTo>
                      <a:pt x="143" y="455"/>
                    </a:lnTo>
                    <a:lnTo>
                      <a:pt x="61" y="176"/>
                    </a:lnTo>
                    <a:lnTo>
                      <a:pt x="9" y="5"/>
                    </a:lnTo>
                    <a:lnTo>
                      <a:pt x="6" y="2"/>
                    </a:lnTo>
                    <a:lnTo>
                      <a:pt x="4" y="1"/>
                    </a:lnTo>
                    <a:lnTo>
                      <a:pt x="1" y="0"/>
                    </a:lnTo>
                    <a:lnTo>
                      <a:pt x="0" y="2"/>
                    </a:lnTo>
                    <a:lnTo>
                      <a:pt x="0" y="6"/>
                    </a:lnTo>
                    <a:lnTo>
                      <a:pt x="0" y="10"/>
                    </a:lnTo>
                    <a:lnTo>
                      <a:pt x="49" y="188"/>
                    </a:lnTo>
                  </a:path>
                </a:pathLst>
              </a:custGeom>
              <a:solidFill>
                <a:srgbClr val="C0C0C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45" name="Freeform 36"/>
              <p:cNvSpPr>
                <a:spLocks/>
              </p:cNvSpPr>
              <p:nvPr/>
            </p:nvSpPr>
            <p:spPr bwMode="auto">
              <a:xfrm>
                <a:off x="259" y="4289"/>
                <a:ext cx="146" cy="477"/>
              </a:xfrm>
              <a:custGeom>
                <a:avLst/>
                <a:gdLst>
                  <a:gd name="T0" fmla="*/ 50 w 146"/>
                  <a:gd name="T1" fmla="*/ 186 h 477"/>
                  <a:gd name="T2" fmla="*/ 131 w 146"/>
                  <a:gd name="T3" fmla="*/ 471 h 477"/>
                  <a:gd name="T4" fmla="*/ 133 w 146"/>
                  <a:gd name="T5" fmla="*/ 474 h 477"/>
                  <a:gd name="T6" fmla="*/ 138 w 146"/>
                  <a:gd name="T7" fmla="*/ 476 h 477"/>
                  <a:gd name="T8" fmla="*/ 141 w 146"/>
                  <a:gd name="T9" fmla="*/ 474 h 477"/>
                  <a:gd name="T10" fmla="*/ 144 w 146"/>
                  <a:gd name="T11" fmla="*/ 473 h 477"/>
                  <a:gd name="T12" fmla="*/ 145 w 146"/>
                  <a:gd name="T13" fmla="*/ 467 h 477"/>
                  <a:gd name="T14" fmla="*/ 145 w 146"/>
                  <a:gd name="T15" fmla="*/ 462 h 477"/>
                  <a:gd name="T16" fmla="*/ 143 w 146"/>
                  <a:gd name="T17" fmla="*/ 454 h 477"/>
                  <a:gd name="T18" fmla="*/ 61 w 146"/>
                  <a:gd name="T19" fmla="*/ 174 h 477"/>
                  <a:gd name="T20" fmla="*/ 9 w 146"/>
                  <a:gd name="T21" fmla="*/ 4 h 477"/>
                  <a:gd name="T22" fmla="*/ 6 w 146"/>
                  <a:gd name="T23" fmla="*/ 2 h 477"/>
                  <a:gd name="T24" fmla="*/ 4 w 146"/>
                  <a:gd name="T25" fmla="*/ 0 h 477"/>
                  <a:gd name="T26" fmla="*/ 2 w 146"/>
                  <a:gd name="T27" fmla="*/ 0 h 477"/>
                  <a:gd name="T28" fmla="*/ 1 w 146"/>
                  <a:gd name="T29" fmla="*/ 2 h 477"/>
                  <a:gd name="T30" fmla="*/ 0 w 146"/>
                  <a:gd name="T31" fmla="*/ 5 h 477"/>
                  <a:gd name="T32" fmla="*/ 0 w 146"/>
                  <a:gd name="T33" fmla="*/ 9 h 477"/>
                  <a:gd name="T34" fmla="*/ 50 w 146"/>
                  <a:gd name="T35" fmla="*/ 186 h 47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46" h="477">
                    <a:moveTo>
                      <a:pt x="50" y="186"/>
                    </a:moveTo>
                    <a:lnTo>
                      <a:pt x="131" y="471"/>
                    </a:lnTo>
                    <a:lnTo>
                      <a:pt x="133" y="474"/>
                    </a:lnTo>
                    <a:lnTo>
                      <a:pt x="138" y="476"/>
                    </a:lnTo>
                    <a:lnTo>
                      <a:pt x="141" y="474"/>
                    </a:lnTo>
                    <a:lnTo>
                      <a:pt x="144" y="473"/>
                    </a:lnTo>
                    <a:lnTo>
                      <a:pt x="145" y="467"/>
                    </a:lnTo>
                    <a:lnTo>
                      <a:pt x="145" y="462"/>
                    </a:lnTo>
                    <a:lnTo>
                      <a:pt x="143" y="454"/>
                    </a:lnTo>
                    <a:lnTo>
                      <a:pt x="61" y="174"/>
                    </a:lnTo>
                    <a:lnTo>
                      <a:pt x="9" y="4"/>
                    </a:lnTo>
                    <a:lnTo>
                      <a:pt x="6" y="2"/>
                    </a:lnTo>
                    <a:lnTo>
                      <a:pt x="4" y="0"/>
                    </a:lnTo>
                    <a:lnTo>
                      <a:pt x="2" y="0"/>
                    </a:lnTo>
                    <a:lnTo>
                      <a:pt x="1" y="2"/>
                    </a:lnTo>
                    <a:lnTo>
                      <a:pt x="0" y="5"/>
                    </a:lnTo>
                    <a:lnTo>
                      <a:pt x="0" y="9"/>
                    </a:lnTo>
                    <a:lnTo>
                      <a:pt x="50" y="186"/>
                    </a:lnTo>
                  </a:path>
                </a:pathLst>
              </a:custGeom>
              <a:solidFill>
                <a:srgbClr val="9F9F9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nvGrpSpPr>
            <p:cNvPr id="1041" name="Group 37"/>
            <p:cNvGrpSpPr>
              <a:grpSpLocks/>
            </p:cNvGrpSpPr>
            <p:nvPr/>
          </p:nvGrpSpPr>
          <p:grpSpPr bwMode="auto">
            <a:xfrm>
              <a:off x="112" y="4295"/>
              <a:ext cx="439" cy="321"/>
              <a:chOff x="112" y="4295"/>
              <a:chExt cx="439" cy="321"/>
            </a:xfrm>
          </p:grpSpPr>
          <p:sp>
            <p:nvSpPr>
              <p:cNvPr id="1042" name="Freeform 38"/>
              <p:cNvSpPr>
                <a:spLocks/>
              </p:cNvSpPr>
              <p:nvPr/>
            </p:nvSpPr>
            <p:spPr bwMode="auto">
              <a:xfrm>
                <a:off x="191" y="4304"/>
                <a:ext cx="273" cy="276"/>
              </a:xfrm>
              <a:custGeom>
                <a:avLst/>
                <a:gdLst>
                  <a:gd name="T0" fmla="*/ 43 w 273"/>
                  <a:gd name="T1" fmla="*/ 32 h 276"/>
                  <a:gd name="T2" fmla="*/ 69 w 273"/>
                  <a:gd name="T3" fmla="*/ 13 h 276"/>
                  <a:gd name="T4" fmla="*/ 92 w 273"/>
                  <a:gd name="T5" fmla="*/ 4 h 276"/>
                  <a:gd name="T6" fmla="*/ 123 w 273"/>
                  <a:gd name="T7" fmla="*/ 0 h 276"/>
                  <a:gd name="T8" fmla="*/ 154 w 273"/>
                  <a:gd name="T9" fmla="*/ 9 h 276"/>
                  <a:gd name="T10" fmla="*/ 194 w 273"/>
                  <a:gd name="T11" fmla="*/ 36 h 276"/>
                  <a:gd name="T12" fmla="*/ 232 w 273"/>
                  <a:gd name="T13" fmla="*/ 75 h 276"/>
                  <a:gd name="T14" fmla="*/ 265 w 273"/>
                  <a:gd name="T15" fmla="*/ 128 h 276"/>
                  <a:gd name="T16" fmla="*/ 268 w 273"/>
                  <a:gd name="T17" fmla="*/ 156 h 276"/>
                  <a:gd name="T18" fmla="*/ 261 w 273"/>
                  <a:gd name="T19" fmla="*/ 146 h 276"/>
                  <a:gd name="T20" fmla="*/ 253 w 273"/>
                  <a:gd name="T21" fmla="*/ 138 h 276"/>
                  <a:gd name="T22" fmla="*/ 242 w 273"/>
                  <a:gd name="T23" fmla="*/ 133 h 276"/>
                  <a:gd name="T24" fmla="*/ 232 w 273"/>
                  <a:gd name="T25" fmla="*/ 132 h 276"/>
                  <a:gd name="T26" fmla="*/ 220 w 273"/>
                  <a:gd name="T27" fmla="*/ 133 h 276"/>
                  <a:gd name="T28" fmla="*/ 209 w 273"/>
                  <a:gd name="T29" fmla="*/ 137 h 276"/>
                  <a:gd name="T30" fmla="*/ 201 w 273"/>
                  <a:gd name="T31" fmla="*/ 144 h 276"/>
                  <a:gd name="T32" fmla="*/ 193 w 273"/>
                  <a:gd name="T33" fmla="*/ 155 h 276"/>
                  <a:gd name="T34" fmla="*/ 187 w 273"/>
                  <a:gd name="T35" fmla="*/ 167 h 276"/>
                  <a:gd name="T36" fmla="*/ 184 w 273"/>
                  <a:gd name="T37" fmla="*/ 181 h 276"/>
                  <a:gd name="T38" fmla="*/ 186 w 273"/>
                  <a:gd name="T39" fmla="*/ 196 h 276"/>
                  <a:gd name="T40" fmla="*/ 166 w 273"/>
                  <a:gd name="T41" fmla="*/ 150 h 276"/>
                  <a:gd name="T42" fmla="*/ 99 w 273"/>
                  <a:gd name="T43" fmla="*/ 225 h 276"/>
                  <a:gd name="T44" fmla="*/ 99 w 273"/>
                  <a:gd name="T45" fmla="*/ 231 h 276"/>
                  <a:gd name="T46" fmla="*/ 92 w 273"/>
                  <a:gd name="T47" fmla="*/ 221 h 276"/>
                  <a:gd name="T48" fmla="*/ 83 w 273"/>
                  <a:gd name="T49" fmla="*/ 212 h 276"/>
                  <a:gd name="T50" fmla="*/ 73 w 273"/>
                  <a:gd name="T51" fmla="*/ 207 h 276"/>
                  <a:gd name="T52" fmla="*/ 63 w 273"/>
                  <a:gd name="T53" fmla="*/ 204 h 276"/>
                  <a:gd name="T54" fmla="*/ 53 w 273"/>
                  <a:gd name="T55" fmla="*/ 206 h 276"/>
                  <a:gd name="T56" fmla="*/ 43 w 273"/>
                  <a:gd name="T57" fmla="*/ 208 h 276"/>
                  <a:gd name="T58" fmla="*/ 33 w 273"/>
                  <a:gd name="T59" fmla="*/ 214 h 276"/>
                  <a:gd name="T60" fmla="*/ 25 w 273"/>
                  <a:gd name="T61" fmla="*/ 222 h 276"/>
                  <a:gd name="T62" fmla="*/ 19 w 273"/>
                  <a:gd name="T63" fmla="*/ 231 h 276"/>
                  <a:gd name="T64" fmla="*/ 15 w 273"/>
                  <a:gd name="T65" fmla="*/ 243 h 276"/>
                  <a:gd name="T66" fmla="*/ 14 w 273"/>
                  <a:gd name="T67" fmla="*/ 258 h 276"/>
                  <a:gd name="T68" fmla="*/ 17 w 273"/>
                  <a:gd name="T69" fmla="*/ 275 h 276"/>
                  <a:gd name="T70" fmla="*/ 3 w 273"/>
                  <a:gd name="T71" fmla="*/ 229 h 276"/>
                  <a:gd name="T72" fmla="*/ 0 w 273"/>
                  <a:gd name="T73" fmla="*/ 173 h 276"/>
                  <a:gd name="T74" fmla="*/ 4 w 273"/>
                  <a:gd name="T75" fmla="*/ 119 h 276"/>
                  <a:gd name="T76" fmla="*/ 30 w 273"/>
                  <a:gd name="T77" fmla="*/ 48 h 27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73" h="276">
                    <a:moveTo>
                      <a:pt x="30" y="48"/>
                    </a:moveTo>
                    <a:lnTo>
                      <a:pt x="43" y="32"/>
                    </a:lnTo>
                    <a:lnTo>
                      <a:pt x="55" y="21"/>
                    </a:lnTo>
                    <a:lnTo>
                      <a:pt x="69" y="13"/>
                    </a:lnTo>
                    <a:lnTo>
                      <a:pt x="78" y="8"/>
                    </a:lnTo>
                    <a:lnTo>
                      <a:pt x="92" y="4"/>
                    </a:lnTo>
                    <a:lnTo>
                      <a:pt x="108" y="0"/>
                    </a:lnTo>
                    <a:lnTo>
                      <a:pt x="123" y="0"/>
                    </a:lnTo>
                    <a:lnTo>
                      <a:pt x="144" y="4"/>
                    </a:lnTo>
                    <a:lnTo>
                      <a:pt x="154" y="9"/>
                    </a:lnTo>
                    <a:lnTo>
                      <a:pt x="173" y="20"/>
                    </a:lnTo>
                    <a:lnTo>
                      <a:pt x="194" y="36"/>
                    </a:lnTo>
                    <a:lnTo>
                      <a:pt x="213" y="55"/>
                    </a:lnTo>
                    <a:lnTo>
                      <a:pt x="232" y="75"/>
                    </a:lnTo>
                    <a:lnTo>
                      <a:pt x="247" y="105"/>
                    </a:lnTo>
                    <a:lnTo>
                      <a:pt x="265" y="128"/>
                    </a:lnTo>
                    <a:lnTo>
                      <a:pt x="272" y="165"/>
                    </a:lnTo>
                    <a:lnTo>
                      <a:pt x="268" y="156"/>
                    </a:lnTo>
                    <a:lnTo>
                      <a:pt x="265" y="150"/>
                    </a:lnTo>
                    <a:lnTo>
                      <a:pt x="261" y="146"/>
                    </a:lnTo>
                    <a:lnTo>
                      <a:pt x="256" y="142"/>
                    </a:lnTo>
                    <a:lnTo>
                      <a:pt x="253" y="138"/>
                    </a:lnTo>
                    <a:lnTo>
                      <a:pt x="247" y="136"/>
                    </a:lnTo>
                    <a:lnTo>
                      <a:pt x="242" y="133"/>
                    </a:lnTo>
                    <a:lnTo>
                      <a:pt x="237" y="132"/>
                    </a:lnTo>
                    <a:lnTo>
                      <a:pt x="232" y="132"/>
                    </a:lnTo>
                    <a:lnTo>
                      <a:pt x="226" y="132"/>
                    </a:lnTo>
                    <a:lnTo>
                      <a:pt x="220" y="133"/>
                    </a:lnTo>
                    <a:lnTo>
                      <a:pt x="215" y="134"/>
                    </a:lnTo>
                    <a:lnTo>
                      <a:pt x="209" y="137"/>
                    </a:lnTo>
                    <a:lnTo>
                      <a:pt x="205" y="141"/>
                    </a:lnTo>
                    <a:lnTo>
                      <a:pt x="201" y="144"/>
                    </a:lnTo>
                    <a:lnTo>
                      <a:pt x="196" y="149"/>
                    </a:lnTo>
                    <a:lnTo>
                      <a:pt x="193" y="155"/>
                    </a:lnTo>
                    <a:lnTo>
                      <a:pt x="190" y="161"/>
                    </a:lnTo>
                    <a:lnTo>
                      <a:pt x="187" y="167"/>
                    </a:lnTo>
                    <a:lnTo>
                      <a:pt x="186" y="175"/>
                    </a:lnTo>
                    <a:lnTo>
                      <a:pt x="184" y="181"/>
                    </a:lnTo>
                    <a:lnTo>
                      <a:pt x="185" y="190"/>
                    </a:lnTo>
                    <a:lnTo>
                      <a:pt x="186" y="196"/>
                    </a:lnTo>
                    <a:lnTo>
                      <a:pt x="187" y="203"/>
                    </a:lnTo>
                    <a:lnTo>
                      <a:pt x="166" y="150"/>
                    </a:lnTo>
                    <a:lnTo>
                      <a:pt x="98" y="175"/>
                    </a:lnTo>
                    <a:lnTo>
                      <a:pt x="99" y="225"/>
                    </a:lnTo>
                    <a:lnTo>
                      <a:pt x="102" y="239"/>
                    </a:lnTo>
                    <a:lnTo>
                      <a:pt x="99" y="231"/>
                    </a:lnTo>
                    <a:lnTo>
                      <a:pt x="96" y="226"/>
                    </a:lnTo>
                    <a:lnTo>
                      <a:pt x="92" y="221"/>
                    </a:lnTo>
                    <a:lnTo>
                      <a:pt x="87" y="217"/>
                    </a:lnTo>
                    <a:lnTo>
                      <a:pt x="83" y="212"/>
                    </a:lnTo>
                    <a:lnTo>
                      <a:pt x="78" y="210"/>
                    </a:lnTo>
                    <a:lnTo>
                      <a:pt x="73" y="207"/>
                    </a:lnTo>
                    <a:lnTo>
                      <a:pt x="68" y="206"/>
                    </a:lnTo>
                    <a:lnTo>
                      <a:pt x="63" y="204"/>
                    </a:lnTo>
                    <a:lnTo>
                      <a:pt x="58" y="204"/>
                    </a:lnTo>
                    <a:lnTo>
                      <a:pt x="53" y="206"/>
                    </a:lnTo>
                    <a:lnTo>
                      <a:pt x="48" y="206"/>
                    </a:lnTo>
                    <a:lnTo>
                      <a:pt x="43" y="208"/>
                    </a:lnTo>
                    <a:lnTo>
                      <a:pt x="38" y="211"/>
                    </a:lnTo>
                    <a:lnTo>
                      <a:pt x="33" y="214"/>
                    </a:lnTo>
                    <a:lnTo>
                      <a:pt x="28" y="218"/>
                    </a:lnTo>
                    <a:lnTo>
                      <a:pt x="25" y="222"/>
                    </a:lnTo>
                    <a:lnTo>
                      <a:pt x="22" y="226"/>
                    </a:lnTo>
                    <a:lnTo>
                      <a:pt x="19" y="231"/>
                    </a:lnTo>
                    <a:lnTo>
                      <a:pt x="17" y="238"/>
                    </a:lnTo>
                    <a:lnTo>
                      <a:pt x="15" y="243"/>
                    </a:lnTo>
                    <a:lnTo>
                      <a:pt x="14" y="252"/>
                    </a:lnTo>
                    <a:lnTo>
                      <a:pt x="14" y="258"/>
                    </a:lnTo>
                    <a:lnTo>
                      <a:pt x="15" y="264"/>
                    </a:lnTo>
                    <a:lnTo>
                      <a:pt x="17" y="275"/>
                    </a:lnTo>
                    <a:lnTo>
                      <a:pt x="12" y="262"/>
                    </a:lnTo>
                    <a:lnTo>
                      <a:pt x="3" y="229"/>
                    </a:lnTo>
                    <a:lnTo>
                      <a:pt x="2" y="207"/>
                    </a:lnTo>
                    <a:lnTo>
                      <a:pt x="0" y="173"/>
                    </a:lnTo>
                    <a:lnTo>
                      <a:pt x="0" y="144"/>
                    </a:lnTo>
                    <a:lnTo>
                      <a:pt x="4" y="119"/>
                    </a:lnTo>
                    <a:lnTo>
                      <a:pt x="11" y="84"/>
                    </a:lnTo>
                    <a:lnTo>
                      <a:pt x="30" y="48"/>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sp>
            <p:nvSpPr>
              <p:cNvPr id="1043" name="Freeform 39"/>
              <p:cNvSpPr>
                <a:spLocks/>
              </p:cNvSpPr>
              <p:nvPr/>
            </p:nvSpPr>
            <p:spPr bwMode="auto">
              <a:xfrm>
                <a:off x="112" y="4295"/>
                <a:ext cx="439" cy="321"/>
              </a:xfrm>
              <a:custGeom>
                <a:avLst/>
                <a:gdLst>
                  <a:gd name="T0" fmla="*/ 146 w 439"/>
                  <a:gd name="T1" fmla="*/ 22 h 321"/>
                  <a:gd name="T2" fmla="*/ 113 w 439"/>
                  <a:gd name="T3" fmla="*/ 43 h 321"/>
                  <a:gd name="T4" fmla="*/ 83 w 439"/>
                  <a:gd name="T5" fmla="*/ 67 h 321"/>
                  <a:gd name="T6" fmla="*/ 57 w 439"/>
                  <a:gd name="T7" fmla="*/ 96 h 321"/>
                  <a:gd name="T8" fmla="*/ 31 w 439"/>
                  <a:gd name="T9" fmla="*/ 134 h 321"/>
                  <a:gd name="T10" fmla="*/ 12 w 439"/>
                  <a:gd name="T11" fmla="*/ 177 h 321"/>
                  <a:gd name="T12" fmla="*/ 1 w 439"/>
                  <a:gd name="T13" fmla="*/ 227 h 321"/>
                  <a:gd name="T14" fmla="*/ 0 w 439"/>
                  <a:gd name="T15" fmla="*/ 278 h 321"/>
                  <a:gd name="T16" fmla="*/ 9 w 439"/>
                  <a:gd name="T17" fmla="*/ 320 h 321"/>
                  <a:gd name="T18" fmla="*/ 10 w 439"/>
                  <a:gd name="T19" fmla="*/ 282 h 321"/>
                  <a:gd name="T20" fmla="*/ 29 w 439"/>
                  <a:gd name="T21" fmla="*/ 258 h 321"/>
                  <a:gd name="T22" fmla="*/ 55 w 439"/>
                  <a:gd name="T23" fmla="*/ 250 h 321"/>
                  <a:gd name="T24" fmla="*/ 81 w 439"/>
                  <a:gd name="T25" fmla="*/ 260 h 321"/>
                  <a:gd name="T26" fmla="*/ 94 w 439"/>
                  <a:gd name="T27" fmla="*/ 276 h 321"/>
                  <a:gd name="T28" fmla="*/ 84 w 439"/>
                  <a:gd name="T29" fmla="*/ 229 h 321"/>
                  <a:gd name="T30" fmla="*/ 81 w 439"/>
                  <a:gd name="T31" fmla="*/ 178 h 321"/>
                  <a:gd name="T32" fmla="*/ 85 w 439"/>
                  <a:gd name="T33" fmla="*/ 129 h 321"/>
                  <a:gd name="T34" fmla="*/ 96 w 439"/>
                  <a:gd name="T35" fmla="*/ 91 h 321"/>
                  <a:gd name="T36" fmla="*/ 113 w 439"/>
                  <a:gd name="T37" fmla="*/ 57 h 321"/>
                  <a:gd name="T38" fmla="*/ 138 w 439"/>
                  <a:gd name="T39" fmla="*/ 30 h 321"/>
                  <a:gd name="T40" fmla="*/ 149 w 439"/>
                  <a:gd name="T41" fmla="*/ 30 h 321"/>
                  <a:gd name="T42" fmla="*/ 146 w 439"/>
                  <a:gd name="T43" fmla="*/ 71 h 321"/>
                  <a:gd name="T44" fmla="*/ 150 w 439"/>
                  <a:gd name="T45" fmla="*/ 116 h 321"/>
                  <a:gd name="T46" fmla="*/ 161 w 439"/>
                  <a:gd name="T47" fmla="*/ 172 h 321"/>
                  <a:gd name="T48" fmla="*/ 174 w 439"/>
                  <a:gd name="T49" fmla="*/ 220 h 321"/>
                  <a:gd name="T50" fmla="*/ 179 w 439"/>
                  <a:gd name="T51" fmla="*/ 231 h 321"/>
                  <a:gd name="T52" fmla="*/ 189 w 439"/>
                  <a:gd name="T53" fmla="*/ 196 h 321"/>
                  <a:gd name="T54" fmla="*/ 217 w 439"/>
                  <a:gd name="T55" fmla="*/ 178 h 321"/>
                  <a:gd name="T56" fmla="*/ 247 w 439"/>
                  <a:gd name="T57" fmla="*/ 184 h 321"/>
                  <a:gd name="T58" fmla="*/ 262 w 439"/>
                  <a:gd name="T59" fmla="*/ 198 h 321"/>
                  <a:gd name="T60" fmla="*/ 248 w 439"/>
                  <a:gd name="T61" fmla="*/ 158 h 321"/>
                  <a:gd name="T62" fmla="*/ 231 w 439"/>
                  <a:gd name="T63" fmla="*/ 115 h 321"/>
                  <a:gd name="T64" fmla="*/ 211 w 439"/>
                  <a:gd name="T65" fmla="*/ 75 h 321"/>
                  <a:gd name="T66" fmla="*/ 192 w 439"/>
                  <a:gd name="T67" fmla="*/ 44 h 321"/>
                  <a:gd name="T68" fmla="*/ 170 w 439"/>
                  <a:gd name="T69" fmla="*/ 20 h 321"/>
                  <a:gd name="T70" fmla="*/ 183 w 439"/>
                  <a:gd name="T71" fmla="*/ 12 h 321"/>
                  <a:gd name="T72" fmla="*/ 217 w 439"/>
                  <a:gd name="T73" fmla="*/ 14 h 321"/>
                  <a:gd name="T74" fmla="*/ 251 w 439"/>
                  <a:gd name="T75" fmla="*/ 30 h 321"/>
                  <a:gd name="T76" fmla="*/ 278 w 439"/>
                  <a:gd name="T77" fmla="*/ 52 h 321"/>
                  <a:gd name="T78" fmla="*/ 303 w 439"/>
                  <a:gd name="T79" fmla="*/ 80 h 321"/>
                  <a:gd name="T80" fmla="*/ 324 w 439"/>
                  <a:gd name="T81" fmla="*/ 112 h 321"/>
                  <a:gd name="T82" fmla="*/ 341 w 439"/>
                  <a:gd name="T83" fmla="*/ 149 h 321"/>
                  <a:gd name="T84" fmla="*/ 350 w 439"/>
                  <a:gd name="T85" fmla="*/ 157 h 321"/>
                  <a:gd name="T86" fmla="*/ 360 w 439"/>
                  <a:gd name="T87" fmla="*/ 125 h 321"/>
                  <a:gd name="T88" fmla="*/ 383 w 439"/>
                  <a:gd name="T89" fmla="*/ 106 h 321"/>
                  <a:gd name="T90" fmla="*/ 407 w 439"/>
                  <a:gd name="T91" fmla="*/ 106 h 321"/>
                  <a:gd name="T92" fmla="*/ 430 w 439"/>
                  <a:gd name="T93" fmla="*/ 125 h 321"/>
                  <a:gd name="T94" fmla="*/ 430 w 439"/>
                  <a:gd name="T95" fmla="*/ 116 h 321"/>
                  <a:gd name="T96" fmla="*/ 411 w 439"/>
                  <a:gd name="T97" fmla="*/ 83 h 321"/>
                  <a:gd name="T98" fmla="*/ 387 w 439"/>
                  <a:gd name="T99" fmla="*/ 53 h 321"/>
                  <a:gd name="T100" fmla="*/ 356 w 439"/>
                  <a:gd name="T101" fmla="*/ 29 h 321"/>
                  <a:gd name="T102" fmla="*/ 324 w 439"/>
                  <a:gd name="T103" fmla="*/ 13 h 321"/>
                  <a:gd name="T104" fmla="*/ 291 w 439"/>
                  <a:gd name="T105" fmla="*/ 4 h 321"/>
                  <a:gd name="T106" fmla="*/ 256 w 439"/>
                  <a:gd name="T107" fmla="*/ 0 h 321"/>
                  <a:gd name="T108" fmla="*/ 217 w 439"/>
                  <a:gd name="T109" fmla="*/ 1 h 321"/>
                  <a:gd name="T110" fmla="*/ 180 w 439"/>
                  <a:gd name="T111" fmla="*/ 9 h 32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39" h="321">
                    <a:moveTo>
                      <a:pt x="172" y="12"/>
                    </a:moveTo>
                    <a:lnTo>
                      <a:pt x="162" y="16"/>
                    </a:lnTo>
                    <a:lnTo>
                      <a:pt x="157" y="17"/>
                    </a:lnTo>
                    <a:lnTo>
                      <a:pt x="152" y="20"/>
                    </a:lnTo>
                    <a:lnTo>
                      <a:pt x="146" y="22"/>
                    </a:lnTo>
                    <a:lnTo>
                      <a:pt x="138" y="26"/>
                    </a:lnTo>
                    <a:lnTo>
                      <a:pt x="132" y="30"/>
                    </a:lnTo>
                    <a:lnTo>
                      <a:pt x="126" y="33"/>
                    </a:lnTo>
                    <a:lnTo>
                      <a:pt x="119" y="38"/>
                    </a:lnTo>
                    <a:lnTo>
                      <a:pt x="113" y="43"/>
                    </a:lnTo>
                    <a:lnTo>
                      <a:pt x="107" y="47"/>
                    </a:lnTo>
                    <a:lnTo>
                      <a:pt x="101" y="52"/>
                    </a:lnTo>
                    <a:lnTo>
                      <a:pt x="94" y="57"/>
                    </a:lnTo>
                    <a:lnTo>
                      <a:pt x="88" y="61"/>
                    </a:lnTo>
                    <a:lnTo>
                      <a:pt x="83" y="67"/>
                    </a:lnTo>
                    <a:lnTo>
                      <a:pt x="77" y="72"/>
                    </a:lnTo>
                    <a:lnTo>
                      <a:pt x="72" y="79"/>
                    </a:lnTo>
                    <a:lnTo>
                      <a:pt x="66" y="84"/>
                    </a:lnTo>
                    <a:lnTo>
                      <a:pt x="61" y="90"/>
                    </a:lnTo>
                    <a:lnTo>
                      <a:pt x="57" y="96"/>
                    </a:lnTo>
                    <a:lnTo>
                      <a:pt x="51" y="103"/>
                    </a:lnTo>
                    <a:lnTo>
                      <a:pt x="46" y="110"/>
                    </a:lnTo>
                    <a:lnTo>
                      <a:pt x="41" y="118"/>
                    </a:lnTo>
                    <a:lnTo>
                      <a:pt x="36" y="126"/>
                    </a:lnTo>
                    <a:lnTo>
                      <a:pt x="31" y="134"/>
                    </a:lnTo>
                    <a:lnTo>
                      <a:pt x="27" y="141"/>
                    </a:lnTo>
                    <a:lnTo>
                      <a:pt x="23" y="150"/>
                    </a:lnTo>
                    <a:lnTo>
                      <a:pt x="18" y="160"/>
                    </a:lnTo>
                    <a:lnTo>
                      <a:pt x="15" y="169"/>
                    </a:lnTo>
                    <a:lnTo>
                      <a:pt x="12" y="177"/>
                    </a:lnTo>
                    <a:lnTo>
                      <a:pt x="9" y="186"/>
                    </a:lnTo>
                    <a:lnTo>
                      <a:pt x="6" y="196"/>
                    </a:lnTo>
                    <a:lnTo>
                      <a:pt x="4" y="207"/>
                    </a:lnTo>
                    <a:lnTo>
                      <a:pt x="3" y="216"/>
                    </a:lnTo>
                    <a:lnTo>
                      <a:pt x="1" y="227"/>
                    </a:lnTo>
                    <a:lnTo>
                      <a:pt x="0" y="239"/>
                    </a:lnTo>
                    <a:lnTo>
                      <a:pt x="0" y="250"/>
                    </a:lnTo>
                    <a:lnTo>
                      <a:pt x="0" y="260"/>
                    </a:lnTo>
                    <a:lnTo>
                      <a:pt x="0" y="270"/>
                    </a:lnTo>
                    <a:lnTo>
                      <a:pt x="0" y="278"/>
                    </a:lnTo>
                    <a:lnTo>
                      <a:pt x="1" y="286"/>
                    </a:lnTo>
                    <a:lnTo>
                      <a:pt x="3" y="294"/>
                    </a:lnTo>
                    <a:lnTo>
                      <a:pt x="4" y="302"/>
                    </a:lnTo>
                    <a:lnTo>
                      <a:pt x="6" y="310"/>
                    </a:lnTo>
                    <a:lnTo>
                      <a:pt x="9" y="320"/>
                    </a:lnTo>
                    <a:lnTo>
                      <a:pt x="7" y="310"/>
                    </a:lnTo>
                    <a:lnTo>
                      <a:pt x="7" y="302"/>
                    </a:lnTo>
                    <a:lnTo>
                      <a:pt x="7" y="295"/>
                    </a:lnTo>
                    <a:lnTo>
                      <a:pt x="9" y="289"/>
                    </a:lnTo>
                    <a:lnTo>
                      <a:pt x="10" y="282"/>
                    </a:lnTo>
                    <a:lnTo>
                      <a:pt x="13" y="276"/>
                    </a:lnTo>
                    <a:lnTo>
                      <a:pt x="16" y="271"/>
                    </a:lnTo>
                    <a:lnTo>
                      <a:pt x="21" y="264"/>
                    </a:lnTo>
                    <a:lnTo>
                      <a:pt x="25" y="260"/>
                    </a:lnTo>
                    <a:lnTo>
                      <a:pt x="29" y="258"/>
                    </a:lnTo>
                    <a:lnTo>
                      <a:pt x="33" y="255"/>
                    </a:lnTo>
                    <a:lnTo>
                      <a:pt x="39" y="252"/>
                    </a:lnTo>
                    <a:lnTo>
                      <a:pt x="45" y="251"/>
                    </a:lnTo>
                    <a:lnTo>
                      <a:pt x="50" y="250"/>
                    </a:lnTo>
                    <a:lnTo>
                      <a:pt x="55" y="250"/>
                    </a:lnTo>
                    <a:lnTo>
                      <a:pt x="60" y="251"/>
                    </a:lnTo>
                    <a:lnTo>
                      <a:pt x="66" y="252"/>
                    </a:lnTo>
                    <a:lnTo>
                      <a:pt x="72" y="255"/>
                    </a:lnTo>
                    <a:lnTo>
                      <a:pt x="75" y="258"/>
                    </a:lnTo>
                    <a:lnTo>
                      <a:pt x="81" y="260"/>
                    </a:lnTo>
                    <a:lnTo>
                      <a:pt x="85" y="266"/>
                    </a:lnTo>
                    <a:lnTo>
                      <a:pt x="89" y="271"/>
                    </a:lnTo>
                    <a:lnTo>
                      <a:pt x="93" y="278"/>
                    </a:lnTo>
                    <a:lnTo>
                      <a:pt x="96" y="285"/>
                    </a:lnTo>
                    <a:lnTo>
                      <a:pt x="94" y="276"/>
                    </a:lnTo>
                    <a:lnTo>
                      <a:pt x="92" y="268"/>
                    </a:lnTo>
                    <a:lnTo>
                      <a:pt x="89" y="259"/>
                    </a:lnTo>
                    <a:lnTo>
                      <a:pt x="87" y="248"/>
                    </a:lnTo>
                    <a:lnTo>
                      <a:pt x="86" y="239"/>
                    </a:lnTo>
                    <a:lnTo>
                      <a:pt x="84" y="229"/>
                    </a:lnTo>
                    <a:lnTo>
                      <a:pt x="83" y="220"/>
                    </a:lnTo>
                    <a:lnTo>
                      <a:pt x="82" y="211"/>
                    </a:lnTo>
                    <a:lnTo>
                      <a:pt x="81" y="200"/>
                    </a:lnTo>
                    <a:lnTo>
                      <a:pt x="81" y="189"/>
                    </a:lnTo>
                    <a:lnTo>
                      <a:pt x="81" y="178"/>
                    </a:lnTo>
                    <a:lnTo>
                      <a:pt x="81" y="166"/>
                    </a:lnTo>
                    <a:lnTo>
                      <a:pt x="82" y="155"/>
                    </a:lnTo>
                    <a:lnTo>
                      <a:pt x="83" y="147"/>
                    </a:lnTo>
                    <a:lnTo>
                      <a:pt x="84" y="138"/>
                    </a:lnTo>
                    <a:lnTo>
                      <a:pt x="85" y="129"/>
                    </a:lnTo>
                    <a:lnTo>
                      <a:pt x="87" y="119"/>
                    </a:lnTo>
                    <a:lnTo>
                      <a:pt x="90" y="111"/>
                    </a:lnTo>
                    <a:lnTo>
                      <a:pt x="92" y="103"/>
                    </a:lnTo>
                    <a:lnTo>
                      <a:pt x="93" y="96"/>
                    </a:lnTo>
                    <a:lnTo>
                      <a:pt x="96" y="91"/>
                    </a:lnTo>
                    <a:lnTo>
                      <a:pt x="99" y="86"/>
                    </a:lnTo>
                    <a:lnTo>
                      <a:pt x="102" y="77"/>
                    </a:lnTo>
                    <a:lnTo>
                      <a:pt x="105" y="69"/>
                    </a:lnTo>
                    <a:lnTo>
                      <a:pt x="109" y="63"/>
                    </a:lnTo>
                    <a:lnTo>
                      <a:pt x="113" y="57"/>
                    </a:lnTo>
                    <a:lnTo>
                      <a:pt x="117" y="52"/>
                    </a:lnTo>
                    <a:lnTo>
                      <a:pt x="123" y="45"/>
                    </a:lnTo>
                    <a:lnTo>
                      <a:pt x="127" y="40"/>
                    </a:lnTo>
                    <a:lnTo>
                      <a:pt x="132" y="34"/>
                    </a:lnTo>
                    <a:lnTo>
                      <a:pt x="138" y="30"/>
                    </a:lnTo>
                    <a:lnTo>
                      <a:pt x="144" y="26"/>
                    </a:lnTo>
                    <a:lnTo>
                      <a:pt x="150" y="22"/>
                    </a:lnTo>
                    <a:lnTo>
                      <a:pt x="154" y="21"/>
                    </a:lnTo>
                    <a:lnTo>
                      <a:pt x="151" y="25"/>
                    </a:lnTo>
                    <a:lnTo>
                      <a:pt x="149" y="30"/>
                    </a:lnTo>
                    <a:lnTo>
                      <a:pt x="147" y="38"/>
                    </a:lnTo>
                    <a:lnTo>
                      <a:pt x="147" y="47"/>
                    </a:lnTo>
                    <a:lnTo>
                      <a:pt x="146" y="53"/>
                    </a:lnTo>
                    <a:lnTo>
                      <a:pt x="146" y="63"/>
                    </a:lnTo>
                    <a:lnTo>
                      <a:pt x="146" y="71"/>
                    </a:lnTo>
                    <a:lnTo>
                      <a:pt x="146" y="77"/>
                    </a:lnTo>
                    <a:lnTo>
                      <a:pt x="147" y="87"/>
                    </a:lnTo>
                    <a:lnTo>
                      <a:pt x="147" y="98"/>
                    </a:lnTo>
                    <a:lnTo>
                      <a:pt x="149" y="107"/>
                    </a:lnTo>
                    <a:lnTo>
                      <a:pt x="150" y="116"/>
                    </a:lnTo>
                    <a:lnTo>
                      <a:pt x="152" y="129"/>
                    </a:lnTo>
                    <a:lnTo>
                      <a:pt x="154" y="139"/>
                    </a:lnTo>
                    <a:lnTo>
                      <a:pt x="156" y="151"/>
                    </a:lnTo>
                    <a:lnTo>
                      <a:pt x="159" y="162"/>
                    </a:lnTo>
                    <a:lnTo>
                      <a:pt x="161" y="172"/>
                    </a:lnTo>
                    <a:lnTo>
                      <a:pt x="163" y="181"/>
                    </a:lnTo>
                    <a:lnTo>
                      <a:pt x="165" y="190"/>
                    </a:lnTo>
                    <a:lnTo>
                      <a:pt x="168" y="200"/>
                    </a:lnTo>
                    <a:lnTo>
                      <a:pt x="171" y="209"/>
                    </a:lnTo>
                    <a:lnTo>
                      <a:pt x="174" y="220"/>
                    </a:lnTo>
                    <a:lnTo>
                      <a:pt x="176" y="229"/>
                    </a:lnTo>
                    <a:lnTo>
                      <a:pt x="178" y="237"/>
                    </a:lnTo>
                    <a:lnTo>
                      <a:pt x="181" y="248"/>
                    </a:lnTo>
                    <a:lnTo>
                      <a:pt x="180" y="240"/>
                    </a:lnTo>
                    <a:lnTo>
                      <a:pt x="179" y="231"/>
                    </a:lnTo>
                    <a:lnTo>
                      <a:pt x="180" y="223"/>
                    </a:lnTo>
                    <a:lnTo>
                      <a:pt x="180" y="216"/>
                    </a:lnTo>
                    <a:lnTo>
                      <a:pt x="183" y="209"/>
                    </a:lnTo>
                    <a:lnTo>
                      <a:pt x="186" y="203"/>
                    </a:lnTo>
                    <a:lnTo>
                      <a:pt x="189" y="196"/>
                    </a:lnTo>
                    <a:lnTo>
                      <a:pt x="193" y="190"/>
                    </a:lnTo>
                    <a:lnTo>
                      <a:pt x="198" y="186"/>
                    </a:lnTo>
                    <a:lnTo>
                      <a:pt x="204" y="182"/>
                    </a:lnTo>
                    <a:lnTo>
                      <a:pt x="210" y="178"/>
                    </a:lnTo>
                    <a:lnTo>
                      <a:pt x="217" y="178"/>
                    </a:lnTo>
                    <a:lnTo>
                      <a:pt x="223" y="177"/>
                    </a:lnTo>
                    <a:lnTo>
                      <a:pt x="230" y="177"/>
                    </a:lnTo>
                    <a:lnTo>
                      <a:pt x="236" y="178"/>
                    </a:lnTo>
                    <a:lnTo>
                      <a:pt x="243" y="181"/>
                    </a:lnTo>
                    <a:lnTo>
                      <a:pt x="247" y="184"/>
                    </a:lnTo>
                    <a:lnTo>
                      <a:pt x="252" y="188"/>
                    </a:lnTo>
                    <a:lnTo>
                      <a:pt x="256" y="193"/>
                    </a:lnTo>
                    <a:lnTo>
                      <a:pt x="261" y="198"/>
                    </a:lnTo>
                    <a:lnTo>
                      <a:pt x="267" y="212"/>
                    </a:lnTo>
                    <a:lnTo>
                      <a:pt x="262" y="198"/>
                    </a:lnTo>
                    <a:lnTo>
                      <a:pt x="259" y="190"/>
                    </a:lnTo>
                    <a:lnTo>
                      <a:pt x="257" y="184"/>
                    </a:lnTo>
                    <a:lnTo>
                      <a:pt x="255" y="176"/>
                    </a:lnTo>
                    <a:lnTo>
                      <a:pt x="252" y="168"/>
                    </a:lnTo>
                    <a:lnTo>
                      <a:pt x="248" y="158"/>
                    </a:lnTo>
                    <a:lnTo>
                      <a:pt x="244" y="149"/>
                    </a:lnTo>
                    <a:lnTo>
                      <a:pt x="241" y="139"/>
                    </a:lnTo>
                    <a:lnTo>
                      <a:pt x="238" y="131"/>
                    </a:lnTo>
                    <a:lnTo>
                      <a:pt x="234" y="123"/>
                    </a:lnTo>
                    <a:lnTo>
                      <a:pt x="231" y="115"/>
                    </a:lnTo>
                    <a:lnTo>
                      <a:pt x="227" y="106"/>
                    </a:lnTo>
                    <a:lnTo>
                      <a:pt x="222" y="98"/>
                    </a:lnTo>
                    <a:lnTo>
                      <a:pt x="219" y="90"/>
                    </a:lnTo>
                    <a:lnTo>
                      <a:pt x="215" y="83"/>
                    </a:lnTo>
                    <a:lnTo>
                      <a:pt x="211" y="75"/>
                    </a:lnTo>
                    <a:lnTo>
                      <a:pt x="207" y="68"/>
                    </a:lnTo>
                    <a:lnTo>
                      <a:pt x="204" y="61"/>
                    </a:lnTo>
                    <a:lnTo>
                      <a:pt x="201" y="55"/>
                    </a:lnTo>
                    <a:lnTo>
                      <a:pt x="196" y="49"/>
                    </a:lnTo>
                    <a:lnTo>
                      <a:pt x="192" y="44"/>
                    </a:lnTo>
                    <a:lnTo>
                      <a:pt x="188" y="37"/>
                    </a:lnTo>
                    <a:lnTo>
                      <a:pt x="184" y="32"/>
                    </a:lnTo>
                    <a:lnTo>
                      <a:pt x="180" y="28"/>
                    </a:lnTo>
                    <a:lnTo>
                      <a:pt x="175" y="24"/>
                    </a:lnTo>
                    <a:lnTo>
                      <a:pt x="170" y="20"/>
                    </a:lnTo>
                    <a:lnTo>
                      <a:pt x="165" y="18"/>
                    </a:lnTo>
                    <a:lnTo>
                      <a:pt x="161" y="17"/>
                    </a:lnTo>
                    <a:lnTo>
                      <a:pt x="169" y="14"/>
                    </a:lnTo>
                    <a:lnTo>
                      <a:pt x="176" y="13"/>
                    </a:lnTo>
                    <a:lnTo>
                      <a:pt x="183" y="12"/>
                    </a:lnTo>
                    <a:lnTo>
                      <a:pt x="190" y="12"/>
                    </a:lnTo>
                    <a:lnTo>
                      <a:pt x="198" y="12"/>
                    </a:lnTo>
                    <a:lnTo>
                      <a:pt x="205" y="12"/>
                    </a:lnTo>
                    <a:lnTo>
                      <a:pt x="211" y="13"/>
                    </a:lnTo>
                    <a:lnTo>
                      <a:pt x="217" y="14"/>
                    </a:lnTo>
                    <a:lnTo>
                      <a:pt x="224" y="17"/>
                    </a:lnTo>
                    <a:lnTo>
                      <a:pt x="231" y="20"/>
                    </a:lnTo>
                    <a:lnTo>
                      <a:pt x="238" y="24"/>
                    </a:lnTo>
                    <a:lnTo>
                      <a:pt x="245" y="26"/>
                    </a:lnTo>
                    <a:lnTo>
                      <a:pt x="251" y="30"/>
                    </a:lnTo>
                    <a:lnTo>
                      <a:pt x="256" y="33"/>
                    </a:lnTo>
                    <a:lnTo>
                      <a:pt x="261" y="37"/>
                    </a:lnTo>
                    <a:lnTo>
                      <a:pt x="267" y="43"/>
                    </a:lnTo>
                    <a:lnTo>
                      <a:pt x="273" y="47"/>
                    </a:lnTo>
                    <a:lnTo>
                      <a:pt x="278" y="52"/>
                    </a:lnTo>
                    <a:lnTo>
                      <a:pt x="284" y="57"/>
                    </a:lnTo>
                    <a:lnTo>
                      <a:pt x="289" y="63"/>
                    </a:lnTo>
                    <a:lnTo>
                      <a:pt x="294" y="68"/>
                    </a:lnTo>
                    <a:lnTo>
                      <a:pt x="298" y="73"/>
                    </a:lnTo>
                    <a:lnTo>
                      <a:pt x="303" y="80"/>
                    </a:lnTo>
                    <a:lnTo>
                      <a:pt x="308" y="87"/>
                    </a:lnTo>
                    <a:lnTo>
                      <a:pt x="312" y="92"/>
                    </a:lnTo>
                    <a:lnTo>
                      <a:pt x="315" y="99"/>
                    </a:lnTo>
                    <a:lnTo>
                      <a:pt x="320" y="106"/>
                    </a:lnTo>
                    <a:lnTo>
                      <a:pt x="324" y="112"/>
                    </a:lnTo>
                    <a:lnTo>
                      <a:pt x="327" y="119"/>
                    </a:lnTo>
                    <a:lnTo>
                      <a:pt x="331" y="126"/>
                    </a:lnTo>
                    <a:lnTo>
                      <a:pt x="335" y="134"/>
                    </a:lnTo>
                    <a:lnTo>
                      <a:pt x="338" y="141"/>
                    </a:lnTo>
                    <a:lnTo>
                      <a:pt x="341" y="149"/>
                    </a:lnTo>
                    <a:lnTo>
                      <a:pt x="345" y="157"/>
                    </a:lnTo>
                    <a:lnTo>
                      <a:pt x="348" y="165"/>
                    </a:lnTo>
                    <a:lnTo>
                      <a:pt x="351" y="176"/>
                    </a:lnTo>
                    <a:lnTo>
                      <a:pt x="350" y="164"/>
                    </a:lnTo>
                    <a:lnTo>
                      <a:pt x="350" y="157"/>
                    </a:lnTo>
                    <a:lnTo>
                      <a:pt x="350" y="149"/>
                    </a:lnTo>
                    <a:lnTo>
                      <a:pt x="351" y="142"/>
                    </a:lnTo>
                    <a:lnTo>
                      <a:pt x="354" y="135"/>
                    </a:lnTo>
                    <a:lnTo>
                      <a:pt x="356" y="130"/>
                    </a:lnTo>
                    <a:lnTo>
                      <a:pt x="360" y="125"/>
                    </a:lnTo>
                    <a:lnTo>
                      <a:pt x="364" y="119"/>
                    </a:lnTo>
                    <a:lnTo>
                      <a:pt x="369" y="114"/>
                    </a:lnTo>
                    <a:lnTo>
                      <a:pt x="374" y="111"/>
                    </a:lnTo>
                    <a:lnTo>
                      <a:pt x="378" y="108"/>
                    </a:lnTo>
                    <a:lnTo>
                      <a:pt x="383" y="106"/>
                    </a:lnTo>
                    <a:lnTo>
                      <a:pt x="388" y="104"/>
                    </a:lnTo>
                    <a:lnTo>
                      <a:pt x="393" y="103"/>
                    </a:lnTo>
                    <a:lnTo>
                      <a:pt x="398" y="103"/>
                    </a:lnTo>
                    <a:lnTo>
                      <a:pt x="402" y="104"/>
                    </a:lnTo>
                    <a:lnTo>
                      <a:pt x="407" y="106"/>
                    </a:lnTo>
                    <a:lnTo>
                      <a:pt x="412" y="108"/>
                    </a:lnTo>
                    <a:lnTo>
                      <a:pt x="417" y="111"/>
                    </a:lnTo>
                    <a:lnTo>
                      <a:pt x="422" y="114"/>
                    </a:lnTo>
                    <a:lnTo>
                      <a:pt x="426" y="119"/>
                    </a:lnTo>
                    <a:lnTo>
                      <a:pt x="430" y="125"/>
                    </a:lnTo>
                    <a:lnTo>
                      <a:pt x="434" y="130"/>
                    </a:lnTo>
                    <a:lnTo>
                      <a:pt x="438" y="137"/>
                    </a:lnTo>
                    <a:lnTo>
                      <a:pt x="435" y="129"/>
                    </a:lnTo>
                    <a:lnTo>
                      <a:pt x="432" y="123"/>
                    </a:lnTo>
                    <a:lnTo>
                      <a:pt x="430" y="116"/>
                    </a:lnTo>
                    <a:lnTo>
                      <a:pt x="427" y="110"/>
                    </a:lnTo>
                    <a:lnTo>
                      <a:pt x="423" y="103"/>
                    </a:lnTo>
                    <a:lnTo>
                      <a:pt x="420" y="95"/>
                    </a:lnTo>
                    <a:lnTo>
                      <a:pt x="415" y="88"/>
                    </a:lnTo>
                    <a:lnTo>
                      <a:pt x="411" y="83"/>
                    </a:lnTo>
                    <a:lnTo>
                      <a:pt x="407" y="76"/>
                    </a:lnTo>
                    <a:lnTo>
                      <a:pt x="402" y="69"/>
                    </a:lnTo>
                    <a:lnTo>
                      <a:pt x="396" y="64"/>
                    </a:lnTo>
                    <a:lnTo>
                      <a:pt x="392" y="59"/>
                    </a:lnTo>
                    <a:lnTo>
                      <a:pt x="387" y="53"/>
                    </a:lnTo>
                    <a:lnTo>
                      <a:pt x="381" y="48"/>
                    </a:lnTo>
                    <a:lnTo>
                      <a:pt x="375" y="43"/>
                    </a:lnTo>
                    <a:lnTo>
                      <a:pt x="369" y="38"/>
                    </a:lnTo>
                    <a:lnTo>
                      <a:pt x="362" y="33"/>
                    </a:lnTo>
                    <a:lnTo>
                      <a:pt x="356" y="29"/>
                    </a:lnTo>
                    <a:lnTo>
                      <a:pt x="350" y="26"/>
                    </a:lnTo>
                    <a:lnTo>
                      <a:pt x="343" y="22"/>
                    </a:lnTo>
                    <a:lnTo>
                      <a:pt x="337" y="20"/>
                    </a:lnTo>
                    <a:lnTo>
                      <a:pt x="330" y="16"/>
                    </a:lnTo>
                    <a:lnTo>
                      <a:pt x="324" y="13"/>
                    </a:lnTo>
                    <a:lnTo>
                      <a:pt x="317" y="10"/>
                    </a:lnTo>
                    <a:lnTo>
                      <a:pt x="310" y="9"/>
                    </a:lnTo>
                    <a:lnTo>
                      <a:pt x="304" y="6"/>
                    </a:lnTo>
                    <a:lnTo>
                      <a:pt x="297" y="5"/>
                    </a:lnTo>
                    <a:lnTo>
                      <a:pt x="291" y="4"/>
                    </a:lnTo>
                    <a:lnTo>
                      <a:pt x="285" y="2"/>
                    </a:lnTo>
                    <a:lnTo>
                      <a:pt x="279" y="1"/>
                    </a:lnTo>
                    <a:lnTo>
                      <a:pt x="270" y="0"/>
                    </a:lnTo>
                    <a:lnTo>
                      <a:pt x="263" y="0"/>
                    </a:lnTo>
                    <a:lnTo>
                      <a:pt x="256" y="0"/>
                    </a:lnTo>
                    <a:lnTo>
                      <a:pt x="249" y="0"/>
                    </a:lnTo>
                    <a:lnTo>
                      <a:pt x="240" y="0"/>
                    </a:lnTo>
                    <a:lnTo>
                      <a:pt x="232" y="0"/>
                    </a:lnTo>
                    <a:lnTo>
                      <a:pt x="225" y="0"/>
                    </a:lnTo>
                    <a:lnTo>
                      <a:pt x="217" y="1"/>
                    </a:lnTo>
                    <a:lnTo>
                      <a:pt x="209" y="2"/>
                    </a:lnTo>
                    <a:lnTo>
                      <a:pt x="203" y="4"/>
                    </a:lnTo>
                    <a:lnTo>
                      <a:pt x="196" y="5"/>
                    </a:lnTo>
                    <a:lnTo>
                      <a:pt x="189" y="8"/>
                    </a:lnTo>
                    <a:lnTo>
                      <a:pt x="180" y="9"/>
                    </a:lnTo>
                    <a:lnTo>
                      <a:pt x="172" y="12"/>
                    </a:lnTo>
                  </a:path>
                </a:pathLst>
              </a:custGeom>
              <a:solidFill>
                <a:srgbClr val="FF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35000"/>
                  </a:spcBef>
                  <a:spcAft>
                    <a:spcPct val="0"/>
                  </a:spcAft>
                  <a:buClr>
                    <a:srgbClr val="CC3300"/>
                  </a:buClr>
                  <a:buSzPct val="90000"/>
                  <a:buFont typeface="Monotype Sorts" pitchFamily="2" charset="2"/>
                  <a:buNone/>
                </a:pPr>
                <a:endParaRPr kumimoji="1" lang="en-IN" i="1" smtClean="0">
                  <a:solidFill>
                    <a:srgbClr val="000000"/>
                  </a:solidFill>
                  <a:sym typeface="Symbol" pitchFamily="18" charset="2"/>
                </a:endParaRPr>
              </a:p>
            </p:txBody>
          </p:sp>
        </p:grpSp>
      </p:grpSp>
      <p:sp>
        <p:nvSpPr>
          <p:cNvPr id="1036" name="Text Box 40"/>
          <p:cNvSpPr txBox="1">
            <a:spLocks noChangeArrowheads="1"/>
          </p:cNvSpPr>
          <p:nvPr/>
        </p:nvSpPr>
        <p:spPr bwMode="auto">
          <a:xfrm>
            <a:off x="6762750" y="6613525"/>
            <a:ext cx="23812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pPr>
            <a:r>
              <a:rPr kumimoji="0" lang="en-US" sz="1000" b="1" i="0" smtClean="0">
                <a:solidFill>
                  <a:srgbClr val="CC3300"/>
                </a:solidFill>
              </a:rPr>
              <a:t>©Silberschatz, Korth and Sudarshan</a:t>
            </a:r>
          </a:p>
        </p:txBody>
      </p:sp>
      <p:sp>
        <p:nvSpPr>
          <p:cNvPr id="1037" name="Text Box 41"/>
          <p:cNvSpPr txBox="1">
            <a:spLocks noChangeArrowheads="1"/>
          </p:cNvSpPr>
          <p:nvPr/>
        </p:nvSpPr>
        <p:spPr bwMode="auto">
          <a:xfrm>
            <a:off x="4481513" y="6613525"/>
            <a:ext cx="4445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pPr>
            <a:r>
              <a:rPr kumimoji="0" lang="en-US" sz="1000" b="1" i="0" smtClean="0">
                <a:solidFill>
                  <a:srgbClr val="CC3300"/>
                </a:solidFill>
              </a:rPr>
              <a:t>3.</a:t>
            </a:r>
            <a:fld id="{8D0109CD-3502-4E67-A598-E5930CD4B0A0}" type="slidenum">
              <a:rPr kumimoji="0" lang="en-US" sz="1000" b="1" i="0" smtClean="0">
                <a:solidFill>
                  <a:srgbClr val="CC3300"/>
                </a:solidFill>
              </a:rPr>
              <a:pPr algn="ctr" eaLnBrk="0" fontAlgn="base" hangingPunct="0">
                <a:spcBef>
                  <a:spcPct val="50000"/>
                </a:spcBef>
                <a:spcAft>
                  <a:spcPct val="0"/>
                </a:spcAft>
              </a:pPr>
              <a:t>‹#›</a:t>
            </a:fld>
            <a:endParaRPr kumimoji="0" lang="en-US" sz="1000" b="1" i="0" smtClean="0">
              <a:solidFill>
                <a:srgbClr val="CC3300"/>
              </a:solidFill>
            </a:endParaRPr>
          </a:p>
        </p:txBody>
      </p:sp>
      <p:sp>
        <p:nvSpPr>
          <p:cNvPr id="96298" name="Rectangle 42"/>
          <p:cNvSpPr>
            <a:spLocks noGrp="1" noChangeArrowheads="1"/>
          </p:cNvSpPr>
          <p:nvPr>
            <p:ph type="title"/>
          </p:nvPr>
        </p:nvSpPr>
        <p:spPr bwMode="auto">
          <a:xfrm>
            <a:off x="552450" y="200025"/>
            <a:ext cx="8077200"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1039" name="Text Box 43"/>
          <p:cNvSpPr txBox="1">
            <a:spLocks noChangeArrowheads="1"/>
          </p:cNvSpPr>
          <p:nvPr/>
        </p:nvSpPr>
        <p:spPr bwMode="auto">
          <a:xfrm>
            <a:off x="0" y="6613525"/>
            <a:ext cx="1843088"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eaLnBrk="0" fontAlgn="base" hangingPunct="0">
              <a:spcBef>
                <a:spcPct val="50000"/>
              </a:spcBef>
              <a:spcAft>
                <a:spcPct val="0"/>
              </a:spcAft>
            </a:pPr>
            <a:r>
              <a:rPr kumimoji="0" lang="en-US" sz="1000" b="1" i="0" smtClean="0">
                <a:solidFill>
                  <a:srgbClr val="CC3300"/>
                </a:solidFill>
              </a:rPr>
              <a:t>Database System Concepts</a:t>
            </a:r>
          </a:p>
        </p:txBody>
      </p:sp>
    </p:spTree>
    <p:extLst>
      <p:ext uri="{BB962C8B-B14F-4D97-AF65-F5344CB8AC3E}">
        <p14:creationId xmlns:p14="http://schemas.microsoft.com/office/powerpoint/2010/main" val="7842397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000">
          <a:solidFill>
            <a:schemeClr val="tx1"/>
          </a:solidFill>
          <a:latin typeface="+mn-lt"/>
          <a:ea typeface="+mn-ea"/>
          <a:cs typeface="+mn-cs"/>
        </a:defRPr>
      </a:lvl1pPr>
      <a:lvl2pPr marL="742950" indent="-285750" algn="l" rtl="0" eaLnBrk="0" fontAlgn="base" hangingPunct="0">
        <a:spcBef>
          <a:spcPct val="35000"/>
        </a:spcBef>
        <a:spcAft>
          <a:spcPct val="0"/>
        </a:spcAft>
        <a:buClr>
          <a:srgbClr val="CC6600"/>
        </a:buClr>
        <a:buSzPct val="105000"/>
        <a:buFont typeface="Monotype Sorts" pitchFamily="2" charset="2"/>
        <a:buChar char="H"/>
        <a:defRPr kumimoji="1">
          <a:solidFill>
            <a:schemeClr val="tx1"/>
          </a:solidFill>
          <a:latin typeface="+mn-lt"/>
        </a:defRPr>
      </a:lvl2pPr>
      <a:lvl3pPr marL="1085850" indent="-228600" algn="l" rtl="0" eaLnBrk="0" fontAlgn="base" hangingPunct="0">
        <a:spcBef>
          <a:spcPct val="35000"/>
        </a:spcBef>
        <a:spcAft>
          <a:spcPct val="0"/>
        </a:spcAft>
        <a:buClr>
          <a:srgbClr val="000099"/>
        </a:buClr>
        <a:buSzPct val="85000"/>
        <a:buFont typeface="Monotype Sorts" pitchFamily="2"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emf"/></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 Id="rId5" Type="http://schemas.openxmlformats.org/officeDocument/2006/relationships/image" Target="../media/image10.emf"/><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emf"/></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emf"/></Relationships>
</file>

<file path=ppt/slides/_rels/slide2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6.wmf"/><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31.wmf"/><Relationship Id="rId3" Type="http://schemas.openxmlformats.org/officeDocument/2006/relationships/notesSlide" Target="../notesSlides/notesSlide2.xml"/><Relationship Id="rId7" Type="http://schemas.openxmlformats.org/officeDocument/2006/relationships/image" Target="../media/image28.wmf"/><Relationship Id="rId12" Type="http://schemas.openxmlformats.org/officeDocument/2006/relationships/oleObject" Target="../embeddings/oleObject8.bin"/><Relationship Id="rId17" Type="http://schemas.openxmlformats.org/officeDocument/2006/relationships/image" Target="../media/image33.wmf"/><Relationship Id="rId2" Type="http://schemas.openxmlformats.org/officeDocument/2006/relationships/slideLayout" Target="../slideLayouts/slideLayout2.xml"/><Relationship Id="rId16" Type="http://schemas.openxmlformats.org/officeDocument/2006/relationships/oleObject" Target="../embeddings/oleObject10.bin"/><Relationship Id="rId1" Type="http://schemas.openxmlformats.org/officeDocument/2006/relationships/vmlDrawing" Target="../drawings/vmlDrawing4.vml"/><Relationship Id="rId6" Type="http://schemas.openxmlformats.org/officeDocument/2006/relationships/oleObject" Target="../embeddings/oleObject5.bin"/><Relationship Id="rId11" Type="http://schemas.openxmlformats.org/officeDocument/2006/relationships/image" Target="../media/image30.wmf"/><Relationship Id="rId5" Type="http://schemas.openxmlformats.org/officeDocument/2006/relationships/image" Target="../media/image27.wmf"/><Relationship Id="rId15" Type="http://schemas.openxmlformats.org/officeDocument/2006/relationships/image" Target="../media/image32.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29.wmf"/><Relationship Id="rId14"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40.wmf"/><Relationship Id="rId3" Type="http://schemas.openxmlformats.org/officeDocument/2006/relationships/notesSlide" Target="../notesSlides/notesSlide4.xml"/><Relationship Id="rId7" Type="http://schemas.openxmlformats.org/officeDocument/2006/relationships/image" Target="../media/image37.wmf"/><Relationship Id="rId12"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2.bin"/><Relationship Id="rId11" Type="http://schemas.openxmlformats.org/officeDocument/2006/relationships/image" Target="../media/image39.wmf"/><Relationship Id="rId5" Type="http://schemas.openxmlformats.org/officeDocument/2006/relationships/image" Target="../media/image36.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38.w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7.bin"/><Relationship Id="rId5" Type="http://schemas.openxmlformats.org/officeDocument/2006/relationships/image" Target="../media/image41.wmf"/><Relationship Id="rId4" Type="http://schemas.openxmlformats.org/officeDocument/2006/relationships/oleObject" Target="../embeddings/oleObject16.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notesSlide" Target="../notesSlides/notesSlide6.xml"/><Relationship Id="rId7"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9.bin"/><Relationship Id="rId11" Type="http://schemas.openxmlformats.org/officeDocument/2006/relationships/image" Target="../media/image46.wmf"/><Relationship Id="rId5" Type="http://schemas.openxmlformats.org/officeDocument/2006/relationships/image" Target="../media/image43.wmf"/><Relationship Id="rId10" Type="http://schemas.openxmlformats.org/officeDocument/2006/relationships/oleObject" Target="../embeddings/oleObject21.bin"/><Relationship Id="rId4" Type="http://schemas.openxmlformats.org/officeDocument/2006/relationships/oleObject" Target="../embeddings/oleObject18.bin"/><Relationship Id="rId9" Type="http://schemas.openxmlformats.org/officeDocument/2006/relationships/image" Target="../media/image45.wmf"/></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7.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3.bin"/><Relationship Id="rId5" Type="http://schemas.openxmlformats.org/officeDocument/2006/relationships/image" Target="../media/image47.wmf"/><Relationship Id="rId4" Type="http://schemas.openxmlformats.org/officeDocument/2006/relationships/oleObject" Target="../embeddings/oleObject22.bin"/><Relationship Id="rId9" Type="http://schemas.openxmlformats.org/officeDocument/2006/relationships/image" Target="../media/image49.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IN" dirty="0" smtClean="0">
                <a:solidFill>
                  <a:srgbClr val="FF0000"/>
                </a:solidFill>
              </a:rPr>
              <a:t/>
            </a:r>
            <a:br>
              <a:rPr lang="en-IN" dirty="0" smtClean="0">
                <a:solidFill>
                  <a:srgbClr val="FF0000"/>
                </a:solidFill>
              </a:rPr>
            </a:br>
            <a:r>
              <a:rPr lang="en-IN" b="1" dirty="0" smtClean="0">
                <a:solidFill>
                  <a:srgbClr val="FF0000"/>
                </a:solidFill>
              </a:rPr>
              <a:t>RELATIONAL ALGEBRA</a:t>
            </a:r>
            <a:br>
              <a:rPr lang="en-IN" b="1" dirty="0" smtClean="0">
                <a:solidFill>
                  <a:srgbClr val="FF0000"/>
                </a:solidFill>
              </a:rPr>
            </a:br>
            <a:endParaRPr lang="en-IN" b="1" dirty="0">
              <a:solidFill>
                <a:srgbClr val="FF0000"/>
              </a:solidFill>
            </a:endParaRPr>
          </a:p>
        </p:txBody>
      </p:sp>
      <p:sp>
        <p:nvSpPr>
          <p:cNvPr id="3" name="Subtitle 2"/>
          <p:cNvSpPr>
            <a:spLocks noGrp="1"/>
          </p:cNvSpPr>
          <p:nvPr>
            <p:ph type="subTitle" idx="1"/>
          </p:nvPr>
        </p:nvSpPr>
        <p:spPr/>
        <p:txBody>
          <a:bodyPr/>
          <a:lstStyle/>
          <a:p>
            <a:endParaRPr lang="en-IN" dirty="0" smtClean="0">
              <a:solidFill>
                <a:srgbClr val="00B050"/>
              </a:solidFill>
            </a:endParaRPr>
          </a:p>
          <a:p>
            <a:r>
              <a:rPr lang="en-IN" b="1" dirty="0" err="1" smtClean="0">
                <a:solidFill>
                  <a:srgbClr val="00B050"/>
                </a:solidFill>
              </a:rPr>
              <a:t>Dr.A.Kannan</a:t>
            </a:r>
            <a:endParaRPr lang="en-IN" b="1" dirty="0">
              <a:solidFill>
                <a:srgbClr val="00B050"/>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29623580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FF0000"/>
                </a:solidFill>
              </a:rPr>
              <a:t>Relational Algebra	</a:t>
            </a:r>
          </a:p>
        </p:txBody>
      </p:sp>
      <p:sp>
        <p:nvSpPr>
          <p:cNvPr id="3" name="Content Placeholder 2"/>
          <p:cNvSpPr>
            <a:spLocks noGrp="1"/>
          </p:cNvSpPr>
          <p:nvPr>
            <p:ph idx="1"/>
          </p:nvPr>
        </p:nvSpPr>
        <p:spPr/>
        <p:txBody>
          <a:bodyPr>
            <a:normAutofit fontScale="77500" lnSpcReduction="20000"/>
          </a:bodyPr>
          <a:lstStyle/>
          <a:p>
            <a:r>
              <a:rPr lang="en-IN" dirty="0">
                <a:solidFill>
                  <a:srgbClr val="00B050"/>
                </a:solidFill>
              </a:rPr>
              <a:t>The </a:t>
            </a:r>
            <a:r>
              <a:rPr lang="en-IN" dirty="0" smtClean="0">
                <a:solidFill>
                  <a:srgbClr val="00B050"/>
                </a:solidFill>
              </a:rPr>
              <a:t>relational algebra  </a:t>
            </a:r>
            <a:r>
              <a:rPr lang="en-IN" dirty="0">
                <a:solidFill>
                  <a:srgbClr val="00B050"/>
                </a:solidFill>
              </a:rPr>
              <a:t>provides the operations on Relations (Tables).</a:t>
            </a:r>
          </a:p>
          <a:p>
            <a:r>
              <a:rPr lang="en-IN" dirty="0">
                <a:solidFill>
                  <a:srgbClr val="FF0000"/>
                </a:solidFill>
              </a:rPr>
              <a:t>The relational algebra operators are:</a:t>
            </a:r>
          </a:p>
          <a:p>
            <a:pPr lvl="0"/>
            <a:r>
              <a:rPr lang="en-IN" dirty="0">
                <a:solidFill>
                  <a:srgbClr val="00B050"/>
                </a:solidFill>
              </a:rPr>
              <a:t>Union</a:t>
            </a:r>
          </a:p>
          <a:p>
            <a:pPr lvl="0"/>
            <a:r>
              <a:rPr lang="en-IN" dirty="0">
                <a:solidFill>
                  <a:srgbClr val="00B050"/>
                </a:solidFill>
              </a:rPr>
              <a:t>Intersection</a:t>
            </a:r>
          </a:p>
          <a:p>
            <a:pPr lvl="0"/>
            <a:r>
              <a:rPr lang="en-IN" dirty="0">
                <a:solidFill>
                  <a:srgbClr val="00B050"/>
                </a:solidFill>
              </a:rPr>
              <a:t>Difference</a:t>
            </a:r>
          </a:p>
          <a:p>
            <a:pPr lvl="0"/>
            <a:r>
              <a:rPr lang="en-IN" dirty="0">
                <a:solidFill>
                  <a:srgbClr val="00B050"/>
                </a:solidFill>
              </a:rPr>
              <a:t>Cartesian Product</a:t>
            </a:r>
          </a:p>
          <a:p>
            <a:pPr lvl="0"/>
            <a:r>
              <a:rPr lang="en-IN" dirty="0">
                <a:solidFill>
                  <a:srgbClr val="00B050"/>
                </a:solidFill>
              </a:rPr>
              <a:t>Selection</a:t>
            </a:r>
          </a:p>
          <a:p>
            <a:pPr lvl="0"/>
            <a:r>
              <a:rPr lang="en-IN" dirty="0">
                <a:solidFill>
                  <a:srgbClr val="00B050"/>
                </a:solidFill>
              </a:rPr>
              <a:t>Projection</a:t>
            </a:r>
          </a:p>
          <a:p>
            <a:pPr lvl="0"/>
            <a:r>
              <a:rPr lang="en-IN" dirty="0">
                <a:solidFill>
                  <a:srgbClr val="00B050"/>
                </a:solidFill>
              </a:rPr>
              <a:t>Join</a:t>
            </a:r>
          </a:p>
          <a:p>
            <a:pPr lvl="0"/>
            <a:r>
              <a:rPr lang="en-IN" dirty="0">
                <a:solidFill>
                  <a:srgbClr val="00B050"/>
                </a:solidFill>
              </a:rPr>
              <a:t>Division</a:t>
            </a:r>
          </a:p>
          <a:p>
            <a:pPr lvl="0"/>
            <a:r>
              <a:rPr lang="en-IN" dirty="0">
                <a:solidFill>
                  <a:srgbClr val="00B050"/>
                </a:solidFill>
              </a:rPr>
              <a:t>Rename</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02888036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Union (U)</a:t>
            </a:r>
            <a:endParaRPr lang="en-IN" dirty="0"/>
          </a:p>
        </p:txBody>
      </p:sp>
      <p:sp>
        <p:nvSpPr>
          <p:cNvPr id="3" name="Content Placeholder 2"/>
          <p:cNvSpPr>
            <a:spLocks noGrp="1"/>
          </p:cNvSpPr>
          <p:nvPr>
            <p:ph idx="1"/>
          </p:nvPr>
        </p:nvSpPr>
        <p:spPr>
          <a:xfrm>
            <a:off x="457200" y="1524000"/>
            <a:ext cx="8229600" cy="4525963"/>
          </a:xfrm>
        </p:spPr>
        <p:txBody>
          <a:bodyPr/>
          <a:lstStyle/>
          <a:p>
            <a:r>
              <a:rPr lang="en-IN" dirty="0"/>
              <a:t>The union of two relations R1 and R2 consists of the set all tuples which are present in R1 or R2 or both.</a:t>
            </a:r>
          </a:p>
          <a:p>
            <a:r>
              <a:rPr lang="en-IN" dirty="0" smtClean="0"/>
              <a:t>Ex:   </a:t>
            </a:r>
            <a:r>
              <a:rPr lang="en-IN" dirty="0"/>
              <a:t>R = R1 U  </a:t>
            </a:r>
            <a:r>
              <a:rPr lang="en-IN" dirty="0" smtClean="0"/>
              <a:t>R2, Union Compatibility</a:t>
            </a:r>
            <a:endParaRPr lang="en-IN" dirty="0"/>
          </a:p>
          <a:p>
            <a:r>
              <a:rPr lang="en-IN" dirty="0"/>
              <a:t> </a:t>
            </a:r>
            <a:r>
              <a:rPr lang="en-IN" dirty="0" smtClean="0"/>
              <a:t>R1                                R2</a:t>
            </a:r>
            <a:endParaRPr lang="en-IN" dirty="0"/>
          </a:p>
          <a:p>
            <a:endParaRPr lang="en-IN" dirty="0"/>
          </a:p>
        </p:txBody>
      </p:sp>
      <p:graphicFrame>
        <p:nvGraphicFramePr>
          <p:cNvPr id="6" name="Table 5"/>
          <p:cNvGraphicFramePr>
            <a:graphicFrameLocks noGrp="1"/>
          </p:cNvGraphicFramePr>
          <p:nvPr>
            <p:extLst>
              <p:ext uri="{D42A27DB-BD31-4B8C-83A1-F6EECF244321}">
                <p14:modId xmlns:p14="http://schemas.microsoft.com/office/powerpoint/2010/main" val="3937218782"/>
              </p:ext>
            </p:extLst>
          </p:nvPr>
        </p:nvGraphicFramePr>
        <p:xfrm>
          <a:off x="685800" y="4419600"/>
          <a:ext cx="3039110" cy="1577340"/>
        </p:xfrm>
        <a:graphic>
          <a:graphicData uri="http://schemas.openxmlformats.org/drawingml/2006/table">
            <a:tbl>
              <a:tblPr firstRow="1" firstCol="1" bandRow="1">
                <a:tableStyleId>{5C22544A-7EE6-4342-B048-85BDC9FD1C3A}</a:tableStyleId>
              </a:tblPr>
              <a:tblGrid>
                <a:gridCol w="969010"/>
                <a:gridCol w="899795"/>
                <a:gridCol w="1170305"/>
              </a:tblGrid>
              <a:tr h="0">
                <a:tc>
                  <a:txBody>
                    <a:bodyPr/>
                    <a:lstStyle/>
                    <a:p>
                      <a:pPr>
                        <a:lnSpc>
                          <a:spcPct val="115000"/>
                        </a:lnSpc>
                        <a:spcAft>
                          <a:spcPts val="0"/>
                        </a:spcAft>
                      </a:pPr>
                      <a:r>
                        <a:rPr lang="en-IN" sz="1800" dirty="0" err="1">
                          <a:effectLst/>
                        </a:rPr>
                        <a:t>Rollno</a:t>
                      </a:r>
                      <a:endParaRPr lang="en-IN"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Name</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Branch</a:t>
                      </a:r>
                      <a:endParaRPr lang="en-IN"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100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A</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CSE</a:t>
                      </a:r>
                      <a:endParaRPr lang="en-IN"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200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B</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IT</a:t>
                      </a:r>
                      <a:endParaRPr lang="en-IN"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300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C</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CSE</a:t>
                      </a:r>
                      <a:endParaRPr lang="en-IN"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1000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K</a:t>
                      </a:r>
                      <a:endParaRPr lang="en-IN"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IT</a:t>
                      </a:r>
                      <a:endParaRPr lang="en-IN" sz="1100" dirty="0">
                        <a:effectLst/>
                        <a:latin typeface="Calibri"/>
                        <a:ea typeface="Calibri"/>
                        <a:cs typeface="Times New Roman"/>
                      </a:endParaRPr>
                    </a:p>
                  </a:txBody>
                  <a:tcPr marL="68580" marR="68580" marT="0" marB="0"/>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118393770"/>
              </p:ext>
            </p:extLst>
          </p:nvPr>
        </p:nvGraphicFramePr>
        <p:xfrm>
          <a:off x="4419600" y="4343400"/>
          <a:ext cx="3847465" cy="1960625"/>
        </p:xfrm>
        <a:graphic>
          <a:graphicData uri="http://schemas.openxmlformats.org/drawingml/2006/table">
            <a:tbl>
              <a:tblPr firstRow="1" firstCol="1" bandRow="1">
                <a:tableStyleId>{5C22544A-7EE6-4342-B048-85BDC9FD1C3A}</a:tableStyleId>
              </a:tblPr>
              <a:tblGrid>
                <a:gridCol w="1059180"/>
                <a:gridCol w="1350010"/>
                <a:gridCol w="1438275"/>
              </a:tblGrid>
              <a:tr h="449325">
                <a:tc>
                  <a:txBody>
                    <a:bodyPr/>
                    <a:lstStyle/>
                    <a:p>
                      <a:pPr fontAlgn="base">
                        <a:lnSpc>
                          <a:spcPct val="115000"/>
                        </a:lnSpc>
                        <a:spcAft>
                          <a:spcPts val="0"/>
                        </a:spcAft>
                      </a:pPr>
                      <a:r>
                        <a:rPr lang="en-IN" sz="1800" dirty="0" err="1">
                          <a:effectLst/>
                        </a:rPr>
                        <a:t>Rollno</a:t>
                      </a:r>
                      <a:endParaRPr lang="en-IN" sz="1100" dirty="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dirty="0">
                          <a:effectLst/>
                        </a:rPr>
                        <a:t>Name</a:t>
                      </a:r>
                      <a:endParaRPr lang="en-IN" sz="1100" dirty="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Branch</a:t>
                      </a:r>
                      <a:endParaRPr lang="en-IN" sz="1100">
                        <a:effectLst/>
                        <a:latin typeface="Calibri"/>
                        <a:ea typeface="Calibri"/>
                        <a:cs typeface="Times New Roman"/>
                      </a:endParaRPr>
                    </a:p>
                  </a:txBody>
                  <a:tcPr marL="68580" marR="68580" marT="0" marB="0"/>
                </a:tc>
              </a:tr>
              <a:tr h="0">
                <a:tc>
                  <a:txBody>
                    <a:bodyPr/>
                    <a:lstStyle/>
                    <a:p>
                      <a:pPr fontAlgn="base">
                        <a:lnSpc>
                          <a:spcPct val="115000"/>
                        </a:lnSpc>
                        <a:spcAft>
                          <a:spcPts val="0"/>
                        </a:spcAft>
                      </a:pPr>
                      <a:r>
                        <a:rPr lang="en-IN" sz="1800">
                          <a:effectLst/>
                        </a:rPr>
                        <a:t>200</a:t>
                      </a:r>
                      <a:endParaRPr lang="en-IN" sz="110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B</a:t>
                      </a:r>
                      <a:endParaRPr lang="en-IN" sz="110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IT</a:t>
                      </a:r>
                      <a:endParaRPr lang="en-IN" sz="1100">
                        <a:effectLst/>
                        <a:latin typeface="Calibri"/>
                        <a:ea typeface="Calibri"/>
                        <a:cs typeface="Times New Roman"/>
                      </a:endParaRPr>
                    </a:p>
                  </a:txBody>
                  <a:tcPr marL="68580" marR="68580" marT="0" marB="0"/>
                </a:tc>
              </a:tr>
              <a:tr h="0">
                <a:tc>
                  <a:txBody>
                    <a:bodyPr/>
                    <a:lstStyle/>
                    <a:p>
                      <a:pPr fontAlgn="base">
                        <a:lnSpc>
                          <a:spcPct val="115000"/>
                        </a:lnSpc>
                        <a:spcAft>
                          <a:spcPts val="0"/>
                        </a:spcAft>
                      </a:pPr>
                      <a:r>
                        <a:rPr lang="en-IN" sz="1800">
                          <a:effectLst/>
                        </a:rPr>
                        <a:t>300</a:t>
                      </a:r>
                      <a:endParaRPr lang="en-IN" sz="110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C</a:t>
                      </a:r>
                      <a:endParaRPr lang="en-IN" sz="110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CSE</a:t>
                      </a:r>
                      <a:endParaRPr lang="en-IN" sz="1100">
                        <a:effectLst/>
                        <a:latin typeface="Calibri"/>
                        <a:ea typeface="Calibri"/>
                        <a:cs typeface="Times New Roman"/>
                      </a:endParaRPr>
                    </a:p>
                  </a:txBody>
                  <a:tcPr marL="68580" marR="68580" marT="0" marB="0"/>
                </a:tc>
              </a:tr>
              <a:tr h="0">
                <a:tc>
                  <a:txBody>
                    <a:bodyPr/>
                    <a:lstStyle/>
                    <a:p>
                      <a:pPr fontAlgn="base">
                        <a:lnSpc>
                          <a:spcPct val="115000"/>
                        </a:lnSpc>
                        <a:spcAft>
                          <a:spcPts val="0"/>
                        </a:spcAft>
                      </a:pPr>
                      <a:r>
                        <a:rPr lang="en-IN" sz="1800">
                          <a:effectLst/>
                        </a:rPr>
                        <a:t>400</a:t>
                      </a:r>
                      <a:endParaRPr lang="en-IN" sz="110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D</a:t>
                      </a:r>
                      <a:endParaRPr lang="en-IN" sz="110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a:effectLst/>
                        </a:rPr>
                        <a:t>IT</a:t>
                      </a:r>
                      <a:endParaRPr lang="en-IN" sz="1100">
                        <a:effectLst/>
                        <a:latin typeface="Calibri"/>
                        <a:ea typeface="Calibri"/>
                        <a:cs typeface="Times New Roman"/>
                      </a:endParaRPr>
                    </a:p>
                  </a:txBody>
                  <a:tcPr marL="68580" marR="68580" marT="0" marB="0"/>
                </a:tc>
              </a:tr>
              <a:tr h="564896">
                <a:tc>
                  <a:txBody>
                    <a:bodyPr/>
                    <a:lstStyle/>
                    <a:p>
                      <a:pPr fontAlgn="base">
                        <a:lnSpc>
                          <a:spcPct val="115000"/>
                        </a:lnSpc>
                        <a:spcAft>
                          <a:spcPts val="0"/>
                        </a:spcAft>
                      </a:pPr>
                      <a:r>
                        <a:rPr lang="en-IN" sz="1800" dirty="0">
                          <a:effectLst/>
                        </a:rPr>
                        <a:t>500</a:t>
                      </a:r>
                      <a:endParaRPr lang="en-IN" sz="1100" dirty="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dirty="0">
                          <a:effectLst/>
                        </a:rPr>
                        <a:t>E</a:t>
                      </a:r>
                      <a:endParaRPr lang="en-IN" sz="1100" dirty="0">
                        <a:effectLst/>
                        <a:latin typeface="Calibri"/>
                        <a:ea typeface="Calibri"/>
                        <a:cs typeface="Times New Roman"/>
                      </a:endParaRPr>
                    </a:p>
                  </a:txBody>
                  <a:tcPr marL="68580" marR="68580" marT="0" marB="0"/>
                </a:tc>
                <a:tc>
                  <a:txBody>
                    <a:bodyPr/>
                    <a:lstStyle/>
                    <a:p>
                      <a:pPr algn="ctr" fontAlgn="base">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bl>
          </a:graphicData>
        </a:graphic>
      </p:graphicFrame>
      <p:sp>
        <p:nvSpPr>
          <p:cNvPr id="9" name="Rectangle 3"/>
          <p:cNvSpPr>
            <a:spLocks noChangeArrowheads="1"/>
          </p:cNvSpPr>
          <p:nvPr/>
        </p:nvSpPr>
        <p:spPr bwMode="auto">
          <a:xfrm>
            <a:off x="2647950" y="30749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2254098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Union </a:t>
            </a:r>
            <a:endParaRPr lang="en-IN" dirty="0"/>
          </a:p>
        </p:txBody>
      </p:sp>
      <p:sp>
        <p:nvSpPr>
          <p:cNvPr id="3" name="Content Placeholder 2"/>
          <p:cNvSpPr>
            <a:spLocks noGrp="1"/>
          </p:cNvSpPr>
          <p:nvPr>
            <p:ph idx="1"/>
          </p:nvPr>
        </p:nvSpPr>
        <p:spPr>
          <a:xfrm>
            <a:off x="435128" y="1600200"/>
            <a:ext cx="8229600" cy="4525963"/>
          </a:xfrm>
        </p:spPr>
        <p:txBody>
          <a:bodyPr/>
          <a:lstStyle/>
          <a:p>
            <a:pPr marL="0" indent="0">
              <a:buNone/>
            </a:pPr>
            <a:r>
              <a:rPr lang="en-IN" dirty="0" smtClean="0"/>
              <a:t>R1                                   R2</a:t>
            </a:r>
          </a:p>
          <a:p>
            <a:endParaRPr lang="en-IN" dirty="0" smtClean="0"/>
          </a:p>
          <a:p>
            <a:endParaRPr lang="en-IN" dirty="0" smtClean="0"/>
          </a:p>
          <a:p>
            <a:pPr marL="0" indent="0">
              <a:buNone/>
            </a:pPr>
            <a:endParaRPr lang="en-IN"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19403" y="4724400"/>
            <a:ext cx="5861050"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1111" y="2205630"/>
            <a:ext cx="586105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65262" y="2209799"/>
            <a:ext cx="586105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0600" y="4114800"/>
            <a:ext cx="57181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15511960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Intersection (</a:t>
            </a:r>
            <a:r>
              <a:rPr lang="en-IN" b="1" dirty="0" smtClean="0"/>
              <a:t>∩)</a:t>
            </a:r>
            <a:endParaRPr lang="en-IN" dirty="0"/>
          </a:p>
        </p:txBody>
      </p:sp>
      <p:sp>
        <p:nvSpPr>
          <p:cNvPr id="3" name="Content Placeholder 2"/>
          <p:cNvSpPr>
            <a:spLocks noGrp="1"/>
          </p:cNvSpPr>
          <p:nvPr>
            <p:ph idx="1"/>
          </p:nvPr>
        </p:nvSpPr>
        <p:spPr>
          <a:xfrm>
            <a:off x="435128" y="1600200"/>
            <a:ext cx="8229600" cy="4525963"/>
          </a:xfrm>
        </p:spPr>
        <p:txBody>
          <a:bodyPr/>
          <a:lstStyle/>
          <a:p>
            <a:pPr marL="0" indent="0">
              <a:buNone/>
            </a:pPr>
            <a:r>
              <a:rPr lang="en-IN" dirty="0" smtClean="0"/>
              <a:t>R1                                   R2</a:t>
            </a:r>
          </a:p>
          <a:p>
            <a:endParaRPr lang="en-IN" dirty="0" smtClean="0"/>
          </a:p>
          <a:p>
            <a:endParaRPr lang="en-IN" dirty="0" smtClean="0"/>
          </a:p>
          <a:p>
            <a:pPr marL="0" indent="0">
              <a:buNone/>
            </a:pPr>
            <a:endParaRPr lang="en-IN" dirty="0"/>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1111" y="2205630"/>
            <a:ext cx="586105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5262" y="2209799"/>
            <a:ext cx="586105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pic>
        <p:nvPicPr>
          <p:cNvPr id="307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24000" y="4876800"/>
            <a:ext cx="586105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4000" y="4267200"/>
            <a:ext cx="5718175"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1196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Difference</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pic>
        <p:nvPicPr>
          <p:cNvPr id="8194"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447800"/>
            <a:ext cx="5875654" cy="2105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7200" y="1524000"/>
            <a:ext cx="5861050" cy="210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5800" y="4038600"/>
            <a:ext cx="5861050" cy="167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8"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67200" y="3995530"/>
            <a:ext cx="5861050" cy="167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52721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Cartesian Product (</a:t>
            </a:r>
            <a:r>
              <a:rPr lang="en-IN" b="1" dirty="0"/>
              <a:t>× </a:t>
            </a:r>
            <a:r>
              <a:rPr lang="en-IN" b="1" dirty="0" smtClean="0"/>
              <a:t>)</a:t>
            </a:r>
            <a:r>
              <a:rPr lang="en-IN" dirty="0" smtClean="0"/>
              <a:t/>
            </a:r>
            <a:br>
              <a:rPr lang="en-IN" dirty="0" smtClean="0"/>
            </a:b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pic>
        <p:nvPicPr>
          <p:cNvPr id="4097" name="Picture 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2015128"/>
            <a:ext cx="5875654" cy="1407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800" y="19812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6800" y="3657600"/>
            <a:ext cx="5861050" cy="313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295400" y="3272261"/>
            <a:ext cx="1409360" cy="369332"/>
          </a:xfrm>
          <a:prstGeom prst="rect">
            <a:avLst/>
          </a:prstGeom>
        </p:spPr>
        <p:txBody>
          <a:bodyPr wrap="none">
            <a:spAutoFit/>
          </a:bodyPr>
          <a:lstStyle/>
          <a:p>
            <a:r>
              <a:rPr lang="en-IN" b="1" dirty="0"/>
              <a:t>R = R1  ×   R2</a:t>
            </a:r>
            <a:endParaRPr lang="en-IN" dirty="0"/>
          </a:p>
        </p:txBody>
      </p:sp>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487" y="1295400"/>
            <a:ext cx="11398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4605056" y="1500274"/>
            <a:ext cx="561372" cy="461665"/>
          </a:xfrm>
          <a:prstGeom prst="rect">
            <a:avLst/>
          </a:prstGeom>
        </p:spPr>
        <p:txBody>
          <a:bodyPr wrap="none">
            <a:spAutoFit/>
          </a:bodyPr>
          <a:lstStyle/>
          <a:p>
            <a:r>
              <a:rPr lang="en-IN" sz="2400" b="1" dirty="0" smtClean="0">
                <a:latin typeface="Times New Roman" pitchFamily="18" charset="0"/>
                <a:cs typeface="Times New Roman" pitchFamily="18" charset="0"/>
              </a:rPr>
              <a:t>R2</a:t>
            </a:r>
            <a:endParaRPr lang="en-IN"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9698303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Tables   - Relations</a:t>
            </a:r>
          </a:p>
          <a:p>
            <a:r>
              <a:rPr lang="en-IN" dirty="0" smtClean="0"/>
              <a:t>Rows -  Tuples</a:t>
            </a:r>
          </a:p>
          <a:p>
            <a:r>
              <a:rPr lang="en-IN" dirty="0" smtClean="0"/>
              <a:t>Columns - Attributes</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59618856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Selection(</a:t>
            </a:r>
            <a:r>
              <a:rPr lang="en-US" dirty="0" smtClean="0"/>
              <a:t>σ)</a:t>
            </a:r>
            <a:endParaRPr lang="en-IN" dirty="0"/>
          </a:p>
        </p:txBody>
      </p:sp>
      <p:sp>
        <p:nvSpPr>
          <p:cNvPr id="3" name="Content Placeholder 2"/>
          <p:cNvSpPr>
            <a:spLocks noGrp="1"/>
          </p:cNvSpPr>
          <p:nvPr>
            <p:ph idx="1"/>
          </p:nvPr>
        </p:nvSpPr>
        <p:spPr/>
        <p:txBody>
          <a:bodyPr/>
          <a:lstStyle/>
          <a:p>
            <a:r>
              <a:rPr lang="en-US" dirty="0"/>
              <a:t>The SELECT operation is used for selecting a subset of the tuples according to a given selection condition. </a:t>
            </a:r>
            <a:endParaRPr lang="en-US" dirty="0" smtClean="0"/>
          </a:p>
          <a:p>
            <a:r>
              <a:rPr lang="en-US" dirty="0" smtClean="0"/>
              <a:t>Sigma(σ)Symbol </a:t>
            </a:r>
            <a:r>
              <a:rPr lang="en-US" dirty="0"/>
              <a:t>denotes it. It is used as </a:t>
            </a:r>
            <a:r>
              <a:rPr lang="en-US" b="1" dirty="0"/>
              <a:t>an expression to choose tuples which</a:t>
            </a:r>
            <a:r>
              <a:rPr lang="en-US" dirty="0"/>
              <a:t> meet the selection condition</a:t>
            </a:r>
            <a:r>
              <a:rPr lang="en-US" dirty="0" smtClean="0"/>
              <a:t>.</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24585686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a:defRPr/>
            </a:pPr>
            <a:r>
              <a:rPr lang="en-US" smtClean="0"/>
              <a:t>Select Operation – Example</a:t>
            </a:r>
          </a:p>
        </p:txBody>
      </p:sp>
      <p:sp>
        <p:nvSpPr>
          <p:cNvPr id="19459" name="Text Box 3"/>
          <p:cNvSpPr txBox="1">
            <a:spLocks noChangeArrowheads="1"/>
          </p:cNvSpPr>
          <p:nvPr/>
        </p:nvSpPr>
        <p:spPr bwMode="auto">
          <a:xfrm>
            <a:off x="976313" y="1706563"/>
            <a:ext cx="150177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30188" indent="-230188">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buSzPct val="125000"/>
              <a:buFontTx/>
              <a:buChar char="•"/>
            </a:pPr>
            <a:r>
              <a:rPr kumimoji="0" lang="en-US" sz="2000" i="0" smtClean="0">
                <a:solidFill>
                  <a:srgbClr val="000000"/>
                </a:solidFill>
              </a:rPr>
              <a:t>Relation</a:t>
            </a:r>
            <a:r>
              <a:rPr kumimoji="0" lang="en-US" sz="2000" smtClean="0">
                <a:solidFill>
                  <a:srgbClr val="000000"/>
                </a:solidFill>
              </a:rPr>
              <a:t> r</a:t>
            </a:r>
            <a:endParaRPr kumimoji="0" lang="en-US" sz="2000" i="0" smtClean="0">
              <a:solidFill>
                <a:srgbClr val="000000"/>
              </a:solidFill>
            </a:endParaRPr>
          </a:p>
        </p:txBody>
      </p:sp>
      <p:sp>
        <p:nvSpPr>
          <p:cNvPr id="19460" name="Rectangle 4"/>
          <p:cNvSpPr>
            <a:spLocks noChangeArrowheads="1"/>
          </p:cNvSpPr>
          <p:nvPr/>
        </p:nvSpPr>
        <p:spPr bwMode="auto">
          <a:xfrm>
            <a:off x="30480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A</a:t>
            </a:r>
          </a:p>
        </p:txBody>
      </p:sp>
      <p:sp>
        <p:nvSpPr>
          <p:cNvPr id="19461" name="Rectangle 5"/>
          <p:cNvSpPr>
            <a:spLocks noChangeArrowheads="1"/>
          </p:cNvSpPr>
          <p:nvPr/>
        </p:nvSpPr>
        <p:spPr bwMode="auto">
          <a:xfrm>
            <a:off x="35052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B</a:t>
            </a:r>
          </a:p>
        </p:txBody>
      </p:sp>
      <p:sp>
        <p:nvSpPr>
          <p:cNvPr id="19462" name="Rectangle 6"/>
          <p:cNvSpPr>
            <a:spLocks noChangeArrowheads="1"/>
          </p:cNvSpPr>
          <p:nvPr/>
        </p:nvSpPr>
        <p:spPr bwMode="auto">
          <a:xfrm>
            <a:off x="39624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C</a:t>
            </a:r>
          </a:p>
        </p:txBody>
      </p:sp>
      <p:sp>
        <p:nvSpPr>
          <p:cNvPr id="19463" name="Rectangle 7"/>
          <p:cNvSpPr>
            <a:spLocks noChangeArrowheads="1"/>
          </p:cNvSpPr>
          <p:nvPr/>
        </p:nvSpPr>
        <p:spPr bwMode="auto">
          <a:xfrm>
            <a:off x="44196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D</a:t>
            </a:r>
          </a:p>
        </p:txBody>
      </p:sp>
      <p:sp>
        <p:nvSpPr>
          <p:cNvPr id="19464" name="Rectangle 8"/>
          <p:cNvSpPr>
            <a:spLocks noChangeArrowheads="1"/>
          </p:cNvSpPr>
          <p:nvPr/>
        </p:nvSpPr>
        <p:spPr bwMode="auto">
          <a:xfrm>
            <a:off x="30480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19465" name="Rectangle 9"/>
          <p:cNvSpPr>
            <a:spLocks noChangeArrowheads="1"/>
          </p:cNvSpPr>
          <p:nvPr/>
        </p:nvSpPr>
        <p:spPr bwMode="auto">
          <a:xfrm>
            <a:off x="35052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19466" name="Rectangle 10"/>
          <p:cNvSpPr>
            <a:spLocks noChangeArrowheads="1"/>
          </p:cNvSpPr>
          <p:nvPr/>
        </p:nvSpPr>
        <p:spPr bwMode="auto">
          <a:xfrm>
            <a:off x="39624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5</a:t>
            </a:r>
          </a:p>
          <a:p>
            <a:pPr algn="ctr" eaLnBrk="0" fontAlgn="base" hangingPunct="0">
              <a:lnSpc>
                <a:spcPct val="150000"/>
              </a:lnSpc>
              <a:spcBef>
                <a:spcPct val="0"/>
              </a:spcBef>
              <a:spcAft>
                <a:spcPct val="0"/>
              </a:spcAft>
            </a:pPr>
            <a:r>
              <a:rPr lang="en-US" i="1" smtClean="0">
                <a:solidFill>
                  <a:srgbClr val="000000"/>
                </a:solidFill>
                <a:sym typeface="Symbol" pitchFamily="18" charset="2"/>
              </a:rPr>
              <a:t>12</a:t>
            </a:r>
          </a:p>
          <a:p>
            <a:pPr algn="ctr" eaLnBrk="0" fontAlgn="base" hangingPunct="0">
              <a:lnSpc>
                <a:spcPct val="150000"/>
              </a:lnSpc>
              <a:spcBef>
                <a:spcPct val="0"/>
              </a:spcBef>
              <a:spcAft>
                <a:spcPct val="0"/>
              </a:spcAft>
            </a:pPr>
            <a:r>
              <a:rPr lang="en-US" i="1" smtClean="0">
                <a:solidFill>
                  <a:srgbClr val="000000"/>
                </a:solidFill>
                <a:sym typeface="Symbol" pitchFamily="18" charset="2"/>
              </a:rPr>
              <a:t>23</a:t>
            </a:r>
          </a:p>
        </p:txBody>
      </p:sp>
      <p:sp>
        <p:nvSpPr>
          <p:cNvPr id="19467" name="Rectangle 11"/>
          <p:cNvSpPr>
            <a:spLocks noChangeArrowheads="1"/>
          </p:cNvSpPr>
          <p:nvPr/>
        </p:nvSpPr>
        <p:spPr bwMode="auto">
          <a:xfrm>
            <a:off x="44196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7</a:t>
            </a:r>
          </a:p>
          <a:p>
            <a:pPr algn="ctr" eaLnBrk="0" fontAlgn="base" hangingPunct="0">
              <a:lnSpc>
                <a:spcPct val="150000"/>
              </a:lnSpc>
              <a:spcBef>
                <a:spcPct val="0"/>
              </a:spcBef>
              <a:spcAft>
                <a:spcPct val="0"/>
              </a:spcAft>
            </a:pPr>
            <a:r>
              <a:rPr lang="en-US" i="1" smtClean="0">
                <a:solidFill>
                  <a:srgbClr val="000000"/>
                </a:solidFill>
                <a:sym typeface="Symbol" pitchFamily="18" charset="2"/>
              </a:rPr>
              <a:t>7</a:t>
            </a:r>
          </a:p>
          <a:p>
            <a:pPr algn="ctr" eaLnBrk="0" fontAlgn="base" hangingPunct="0">
              <a:lnSpc>
                <a:spcPct val="150000"/>
              </a:lnSpc>
              <a:spcBef>
                <a:spcPct val="0"/>
              </a:spcBef>
              <a:spcAft>
                <a:spcPct val="0"/>
              </a:spcAft>
            </a:pPr>
            <a:r>
              <a:rPr lang="en-US" i="1" smtClean="0">
                <a:solidFill>
                  <a:srgbClr val="000000"/>
                </a:solidFill>
                <a:sym typeface="Symbol" pitchFamily="18" charset="2"/>
              </a:rPr>
              <a:t>3</a:t>
            </a:r>
          </a:p>
          <a:p>
            <a:pPr algn="ctr" eaLnBrk="0" fontAlgn="base" hangingPunct="0">
              <a:lnSpc>
                <a:spcPct val="150000"/>
              </a:lnSpc>
              <a:spcBef>
                <a:spcPct val="0"/>
              </a:spcBef>
              <a:spcAft>
                <a:spcPct val="0"/>
              </a:spcAft>
            </a:pPr>
            <a:r>
              <a:rPr lang="en-US" i="1" smtClean="0">
                <a:solidFill>
                  <a:srgbClr val="000000"/>
                </a:solidFill>
                <a:sym typeface="Symbol" pitchFamily="18" charset="2"/>
              </a:rPr>
              <a:t>10</a:t>
            </a:r>
          </a:p>
        </p:txBody>
      </p:sp>
      <p:sp>
        <p:nvSpPr>
          <p:cNvPr id="19468" name="Text Box 12"/>
          <p:cNvSpPr txBox="1">
            <a:spLocks noChangeArrowheads="1"/>
          </p:cNvSpPr>
          <p:nvPr/>
        </p:nvSpPr>
        <p:spPr bwMode="auto">
          <a:xfrm>
            <a:off x="810712" y="4490393"/>
            <a:ext cx="2336216"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30188" indent="-230188">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buSzPct val="125000"/>
              <a:buFontTx/>
              <a:buChar char="•"/>
            </a:pPr>
            <a:r>
              <a:rPr kumimoji="0" lang="en-US" sz="2400" i="0" dirty="0" smtClean="0">
                <a:solidFill>
                  <a:srgbClr val="000000"/>
                </a:solidFill>
              </a:rPr>
              <a:t></a:t>
            </a:r>
            <a:r>
              <a:rPr kumimoji="0" lang="en-US" sz="2400" i="0" baseline="-25000" dirty="0" smtClean="0">
                <a:solidFill>
                  <a:srgbClr val="000000"/>
                </a:solidFill>
              </a:rPr>
              <a:t>(A=B) ^ (D &gt; 5)</a:t>
            </a:r>
            <a:r>
              <a:rPr kumimoji="0" lang="en-US" sz="2000" i="0" baseline="-25000" dirty="0" smtClean="0">
                <a:solidFill>
                  <a:srgbClr val="000000"/>
                </a:solidFill>
              </a:rPr>
              <a:t> </a:t>
            </a:r>
            <a:r>
              <a:rPr kumimoji="0" lang="en-US" sz="2400" i="0" dirty="0" smtClean="0">
                <a:solidFill>
                  <a:srgbClr val="000000"/>
                </a:solidFill>
              </a:rPr>
              <a:t>(r)</a:t>
            </a:r>
          </a:p>
        </p:txBody>
      </p:sp>
      <p:sp>
        <p:nvSpPr>
          <p:cNvPr id="19469" name="Rectangle 13"/>
          <p:cNvSpPr>
            <a:spLocks noChangeArrowheads="1"/>
          </p:cNvSpPr>
          <p:nvPr/>
        </p:nvSpPr>
        <p:spPr bwMode="auto">
          <a:xfrm>
            <a:off x="3124200" y="4800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A</a:t>
            </a:r>
          </a:p>
        </p:txBody>
      </p:sp>
      <p:sp>
        <p:nvSpPr>
          <p:cNvPr id="19470" name="Rectangle 14"/>
          <p:cNvSpPr>
            <a:spLocks noChangeArrowheads="1"/>
          </p:cNvSpPr>
          <p:nvPr/>
        </p:nvSpPr>
        <p:spPr bwMode="auto">
          <a:xfrm>
            <a:off x="3581400" y="4800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B</a:t>
            </a:r>
          </a:p>
        </p:txBody>
      </p:sp>
      <p:sp>
        <p:nvSpPr>
          <p:cNvPr id="19471" name="Rectangle 15"/>
          <p:cNvSpPr>
            <a:spLocks noChangeArrowheads="1"/>
          </p:cNvSpPr>
          <p:nvPr/>
        </p:nvSpPr>
        <p:spPr bwMode="auto">
          <a:xfrm>
            <a:off x="4038600" y="4800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C</a:t>
            </a:r>
          </a:p>
        </p:txBody>
      </p:sp>
      <p:sp>
        <p:nvSpPr>
          <p:cNvPr id="19472" name="Rectangle 16"/>
          <p:cNvSpPr>
            <a:spLocks noChangeArrowheads="1"/>
          </p:cNvSpPr>
          <p:nvPr/>
        </p:nvSpPr>
        <p:spPr bwMode="auto">
          <a:xfrm>
            <a:off x="4495800" y="4800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D</a:t>
            </a:r>
          </a:p>
        </p:txBody>
      </p:sp>
      <p:sp>
        <p:nvSpPr>
          <p:cNvPr id="19473" name="Rectangle 17"/>
          <p:cNvSpPr>
            <a:spLocks noChangeArrowheads="1"/>
          </p:cNvSpPr>
          <p:nvPr/>
        </p:nvSpPr>
        <p:spPr bwMode="auto">
          <a:xfrm>
            <a:off x="3124200" y="5334000"/>
            <a:ext cx="457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19474" name="Rectangle 18"/>
          <p:cNvSpPr>
            <a:spLocks noChangeArrowheads="1"/>
          </p:cNvSpPr>
          <p:nvPr/>
        </p:nvSpPr>
        <p:spPr bwMode="auto">
          <a:xfrm>
            <a:off x="3581400" y="5334000"/>
            <a:ext cx="457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19475" name="Rectangle 19"/>
          <p:cNvSpPr>
            <a:spLocks noChangeArrowheads="1"/>
          </p:cNvSpPr>
          <p:nvPr/>
        </p:nvSpPr>
        <p:spPr bwMode="auto">
          <a:xfrm>
            <a:off x="4038600" y="5334000"/>
            <a:ext cx="457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23</a:t>
            </a:r>
          </a:p>
        </p:txBody>
      </p:sp>
      <p:sp>
        <p:nvSpPr>
          <p:cNvPr id="19476" name="Rectangle 20"/>
          <p:cNvSpPr>
            <a:spLocks noChangeArrowheads="1"/>
          </p:cNvSpPr>
          <p:nvPr/>
        </p:nvSpPr>
        <p:spPr bwMode="auto">
          <a:xfrm>
            <a:off x="4495800" y="5334000"/>
            <a:ext cx="457200" cy="91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7</a:t>
            </a:r>
          </a:p>
          <a:p>
            <a:pPr algn="ctr" eaLnBrk="0" fontAlgn="base" hangingPunct="0">
              <a:lnSpc>
                <a:spcPct val="150000"/>
              </a:lnSpc>
              <a:spcBef>
                <a:spcPct val="0"/>
              </a:spcBef>
              <a:spcAft>
                <a:spcPct val="0"/>
              </a:spcAft>
            </a:pPr>
            <a:r>
              <a:rPr lang="en-US" i="1" smtClean="0">
                <a:solidFill>
                  <a:srgbClr val="000000"/>
                </a:solidFill>
                <a:sym typeface="Symbol" pitchFamily="18" charset="2"/>
              </a:rPr>
              <a:t>10</a:t>
            </a:r>
          </a:p>
        </p:txBody>
      </p:sp>
    </p:spTree>
    <p:extLst>
      <p:ext uri="{BB962C8B-B14F-4D97-AF65-F5344CB8AC3E}">
        <p14:creationId xmlns:p14="http://schemas.microsoft.com/office/powerpoint/2010/main" val="21018399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Selection with &gt;=</a:t>
            </a:r>
            <a:endParaRPr lang="en-IN" dirty="0"/>
          </a:p>
        </p:txBody>
      </p:sp>
      <p:sp>
        <p:nvSpPr>
          <p:cNvPr id="3" name="Content Placeholder 2"/>
          <p:cNvSpPr>
            <a:spLocks noGrp="1"/>
          </p:cNvSpPr>
          <p:nvPr>
            <p:ph idx="1"/>
          </p:nvPr>
        </p:nvSpPr>
        <p:spPr/>
        <p:txBody>
          <a:bodyPr/>
          <a:lstStyle/>
          <a:p>
            <a:r>
              <a:rPr lang="en-IN" sz="2800" dirty="0" smtClean="0"/>
              <a:t>Example: Pick The Rows (Tuples)  belonging to CSE Students from the Following Student Table (Relation).</a:t>
            </a:r>
          </a:p>
          <a:p>
            <a:pPr lvl="0"/>
            <a:r>
              <a:rPr lang="en-IN" sz="2800" b="1" dirty="0"/>
              <a:t>Select the tuples </a:t>
            </a:r>
            <a:r>
              <a:rPr lang="en-IN" sz="2800" b="1" dirty="0" smtClean="0"/>
              <a:t>of students with </a:t>
            </a:r>
            <a:r>
              <a:rPr lang="en-IN" sz="2800" b="1" dirty="0"/>
              <a:t>Marks &gt;= 65.</a:t>
            </a:r>
            <a:endParaRPr lang="en-IN" sz="2800" dirty="0"/>
          </a:p>
          <a:p>
            <a:r>
              <a:rPr lang="en-IN" dirty="0"/>
              <a:t>Result = σ</a:t>
            </a:r>
            <a:r>
              <a:rPr lang="en-IN" baseline="-25000" dirty="0"/>
              <a:t> marks &gt;= 65 </a:t>
            </a:r>
            <a:r>
              <a:rPr lang="en-IN" dirty="0"/>
              <a:t> (</a:t>
            </a:r>
            <a:r>
              <a:rPr lang="en-IN" dirty="0" smtClean="0"/>
              <a:t>Student)</a:t>
            </a:r>
          </a:p>
          <a:p>
            <a:r>
              <a:rPr lang="en-IN" baseline="-25000" dirty="0" smtClean="0"/>
              <a:t>Student </a:t>
            </a:r>
            <a:endParaRPr lang="en-IN" dirty="0"/>
          </a:p>
          <a:p>
            <a:endParaRPr lang="en-IN" dirty="0" smtClean="0"/>
          </a:p>
          <a:p>
            <a:endParaRPr lang="en-IN" dirty="0"/>
          </a:p>
          <a:p>
            <a:endParaRPr lang="en-IN" dirty="0" smtClean="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0" y="4192073"/>
            <a:ext cx="586105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84253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Selection</a:t>
            </a:r>
            <a:endParaRPr lang="en-IN" dirty="0"/>
          </a:p>
        </p:txBody>
      </p:sp>
      <p:sp>
        <p:nvSpPr>
          <p:cNvPr id="3" name="Content Placeholder 2"/>
          <p:cNvSpPr>
            <a:spLocks noGrp="1"/>
          </p:cNvSpPr>
          <p:nvPr>
            <p:ph idx="1"/>
          </p:nvPr>
        </p:nvSpPr>
        <p:spPr/>
        <p:txBody>
          <a:bodyPr/>
          <a:lstStyle/>
          <a:p>
            <a:r>
              <a:rPr lang="en-IN" dirty="0" smtClean="0"/>
              <a:t>Result of </a:t>
            </a:r>
            <a:r>
              <a:rPr lang="en-IN" dirty="0"/>
              <a:t>= σ</a:t>
            </a:r>
            <a:r>
              <a:rPr lang="en-IN" baseline="-25000" dirty="0"/>
              <a:t> marks &gt;= 65 </a:t>
            </a:r>
            <a:r>
              <a:rPr lang="en-IN" dirty="0"/>
              <a:t> (Student)</a:t>
            </a:r>
            <a:r>
              <a:rPr lang="en-IN" baseline="-25000" dirty="0"/>
              <a:t> </a:t>
            </a:r>
            <a:endParaRPr lang="en-IN" dirty="0" smtClean="0"/>
          </a:p>
          <a:p>
            <a:r>
              <a:rPr lang="en-IN" dirty="0" smtClean="0"/>
              <a:t>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41475" y="2324100"/>
            <a:ext cx="5861050" cy="221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26473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Selection with =</a:t>
            </a:r>
            <a:endParaRPr lang="en-IN" dirty="0"/>
          </a:p>
        </p:txBody>
      </p:sp>
      <p:sp>
        <p:nvSpPr>
          <p:cNvPr id="3" name="Content Placeholder 2"/>
          <p:cNvSpPr>
            <a:spLocks noGrp="1"/>
          </p:cNvSpPr>
          <p:nvPr>
            <p:ph idx="1"/>
          </p:nvPr>
        </p:nvSpPr>
        <p:spPr/>
        <p:txBody>
          <a:bodyPr/>
          <a:lstStyle/>
          <a:p>
            <a:r>
              <a:rPr lang="en-IN" dirty="0"/>
              <a:t>Result of = σ</a:t>
            </a:r>
            <a:r>
              <a:rPr lang="en-IN" baseline="-25000" dirty="0"/>
              <a:t> </a:t>
            </a:r>
            <a:r>
              <a:rPr lang="en-IN" baseline="-25000" dirty="0" smtClean="0"/>
              <a:t>branch = ‘CSE’</a:t>
            </a:r>
            <a:r>
              <a:rPr lang="en-IN" dirty="0" smtClean="0"/>
              <a:t> </a:t>
            </a:r>
            <a:r>
              <a:rPr lang="en-IN" baseline="-25000" dirty="0" smtClean="0"/>
              <a:t> </a:t>
            </a:r>
            <a:r>
              <a:rPr lang="en-IN" dirty="0" smtClean="0"/>
              <a:t> </a:t>
            </a:r>
            <a:r>
              <a:rPr lang="en-IN" dirty="0"/>
              <a:t>(</a:t>
            </a:r>
            <a:r>
              <a:rPr lang="en-IN" dirty="0" smtClean="0"/>
              <a:t>Student1)</a:t>
            </a:r>
            <a:r>
              <a:rPr lang="en-IN" baseline="-25000" dirty="0" smtClean="0"/>
              <a:t> </a:t>
            </a:r>
          </a:p>
          <a:p>
            <a:endParaRPr lang="en-IN" baseline="-25000" dirty="0"/>
          </a:p>
          <a:p>
            <a:r>
              <a:rPr lang="en-IN" dirty="0" smtClean="0"/>
              <a:t>Student1                                  </a:t>
            </a:r>
          </a:p>
          <a:p>
            <a:r>
              <a:rPr lang="en-IN" dirty="0"/>
              <a:t> </a:t>
            </a:r>
            <a:r>
              <a:rPr lang="en-IN" dirty="0" smtClean="0"/>
              <a:t>                                           Result of Query</a:t>
            </a:r>
            <a:endParaRPr lang="en-IN" dirty="0"/>
          </a:p>
          <a:p>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93315093"/>
              </p:ext>
            </p:extLst>
          </p:nvPr>
        </p:nvGraphicFramePr>
        <p:xfrm>
          <a:off x="685800" y="3352800"/>
          <a:ext cx="3211830" cy="2208276"/>
        </p:xfrm>
        <a:graphic>
          <a:graphicData uri="http://schemas.openxmlformats.org/drawingml/2006/table">
            <a:tbl>
              <a:tblPr firstRow="1" firstCol="1" bandRow="1">
                <a:tableStyleId>{5C22544A-7EE6-4342-B048-85BDC9FD1C3A}</a:tableStyleId>
              </a:tblPr>
              <a:tblGrid>
                <a:gridCol w="1059180"/>
                <a:gridCol w="1076325"/>
                <a:gridCol w="1076325"/>
              </a:tblGrid>
              <a:tr h="160369">
                <a:tc>
                  <a:txBody>
                    <a:bodyPr/>
                    <a:lstStyle/>
                    <a:p>
                      <a:pPr>
                        <a:lnSpc>
                          <a:spcPct val="115000"/>
                        </a:lnSpc>
                        <a:spcAft>
                          <a:spcPts val="0"/>
                        </a:spcAft>
                      </a:pPr>
                      <a:r>
                        <a:rPr lang="en-IN" sz="1800" dirty="0" err="1">
                          <a:effectLst/>
                        </a:rPr>
                        <a:t>Rollno</a:t>
                      </a:r>
                      <a:endParaRPr lang="en-IN"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Name</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Branch</a:t>
                      </a:r>
                      <a:endParaRPr lang="en-IN" sz="1100" dirty="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100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A</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200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B</a:t>
                      </a:r>
                      <a:endParaRPr lang="en-IN"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IT</a:t>
                      </a:r>
                      <a:endParaRPr lang="en-IN" sz="1100" dirty="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300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C</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1000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K</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IT</a:t>
                      </a:r>
                      <a:endParaRPr lang="en-IN" sz="1100">
                        <a:effectLst/>
                        <a:latin typeface="Calibri"/>
                        <a:ea typeface="Calibri"/>
                        <a:cs typeface="Times New Roman"/>
                      </a:endParaRPr>
                    </a:p>
                  </a:txBody>
                  <a:tcPr marL="68580" marR="68580" marT="0" marB="0"/>
                </a:tc>
              </a:tr>
              <a:tr h="0">
                <a:tc>
                  <a:txBody>
                    <a:bodyPr/>
                    <a:lstStyle/>
                    <a:p>
                      <a:pPr fontAlgn="base">
                        <a:lnSpc>
                          <a:spcPct val="115000"/>
                        </a:lnSpc>
                        <a:spcAft>
                          <a:spcPts val="0"/>
                        </a:spcAft>
                      </a:pPr>
                      <a:r>
                        <a:rPr lang="en-IN" sz="1800">
                          <a:effectLst/>
                        </a:rPr>
                        <a:t>400</a:t>
                      </a:r>
                      <a:endParaRPr lang="en-IN" sz="1100">
                        <a:effectLst/>
                        <a:latin typeface="Calibri"/>
                        <a:ea typeface="Calibri"/>
                        <a:cs typeface="Times New Roman"/>
                      </a:endParaRPr>
                    </a:p>
                  </a:txBody>
                  <a:tcPr marL="68580" marR="68580" marT="0" marB="0"/>
                </a:tc>
                <a:tc>
                  <a:txBody>
                    <a:bodyPr/>
                    <a:lstStyle/>
                    <a:p>
                      <a:pPr fontAlgn="base">
                        <a:lnSpc>
                          <a:spcPct val="115000"/>
                        </a:lnSpc>
                        <a:spcAft>
                          <a:spcPts val="0"/>
                        </a:spcAft>
                      </a:pPr>
                      <a:r>
                        <a:rPr lang="en-IN" sz="1800">
                          <a:effectLst/>
                        </a:rPr>
                        <a:t>D</a:t>
                      </a:r>
                      <a:endParaRPr lang="en-IN" sz="1100">
                        <a:effectLst/>
                        <a:latin typeface="Calibri"/>
                        <a:ea typeface="Calibri"/>
                        <a:cs typeface="Times New Roman"/>
                      </a:endParaRPr>
                    </a:p>
                  </a:txBody>
                  <a:tcPr marL="68580" marR="68580" marT="0" marB="0"/>
                </a:tc>
                <a:tc>
                  <a:txBody>
                    <a:bodyPr/>
                    <a:lstStyle/>
                    <a:p>
                      <a:pPr fontAlgn="base">
                        <a:lnSpc>
                          <a:spcPct val="115000"/>
                        </a:lnSpc>
                        <a:spcAft>
                          <a:spcPts val="0"/>
                        </a:spcAft>
                      </a:pPr>
                      <a:r>
                        <a:rPr lang="en-IN" sz="1800">
                          <a:effectLst/>
                        </a:rPr>
                        <a:t>IT</a:t>
                      </a:r>
                      <a:endParaRPr lang="en-IN" sz="1100">
                        <a:effectLst/>
                        <a:latin typeface="Calibri"/>
                        <a:ea typeface="Calibri"/>
                        <a:cs typeface="Times New Roman"/>
                      </a:endParaRPr>
                    </a:p>
                  </a:txBody>
                  <a:tcPr marL="68580" marR="68580" marT="0" marB="0"/>
                </a:tc>
              </a:tr>
              <a:tr h="0">
                <a:tc>
                  <a:txBody>
                    <a:bodyPr/>
                    <a:lstStyle/>
                    <a:p>
                      <a:pPr fontAlgn="base">
                        <a:lnSpc>
                          <a:spcPct val="115000"/>
                        </a:lnSpc>
                        <a:spcAft>
                          <a:spcPts val="0"/>
                        </a:spcAft>
                      </a:pPr>
                      <a:r>
                        <a:rPr lang="en-IN" sz="1800" dirty="0">
                          <a:effectLst/>
                        </a:rPr>
                        <a:t>500</a:t>
                      </a:r>
                      <a:endParaRPr lang="en-IN" sz="1100" dirty="0">
                        <a:effectLst/>
                        <a:latin typeface="Calibri"/>
                        <a:ea typeface="Calibri"/>
                        <a:cs typeface="Times New Roman"/>
                      </a:endParaRPr>
                    </a:p>
                  </a:txBody>
                  <a:tcPr marL="68580" marR="68580" marT="0" marB="0"/>
                </a:tc>
                <a:tc>
                  <a:txBody>
                    <a:bodyPr/>
                    <a:lstStyle/>
                    <a:p>
                      <a:pPr fontAlgn="base">
                        <a:lnSpc>
                          <a:spcPct val="115000"/>
                        </a:lnSpc>
                        <a:spcAft>
                          <a:spcPts val="0"/>
                        </a:spcAft>
                      </a:pPr>
                      <a:r>
                        <a:rPr lang="en-IN" sz="1800">
                          <a:effectLst/>
                        </a:rPr>
                        <a:t>E</a:t>
                      </a:r>
                      <a:endParaRPr lang="en-IN" sz="1100">
                        <a:effectLst/>
                        <a:latin typeface="Calibri"/>
                        <a:ea typeface="Calibri"/>
                        <a:cs typeface="Times New Roman"/>
                      </a:endParaRPr>
                    </a:p>
                  </a:txBody>
                  <a:tcPr marL="68580" marR="68580" marT="0" marB="0"/>
                </a:tc>
                <a:tc>
                  <a:txBody>
                    <a:bodyPr/>
                    <a:lstStyle/>
                    <a:p>
                      <a:pPr fontAlgn="base">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927543514"/>
              </p:ext>
            </p:extLst>
          </p:nvPr>
        </p:nvGraphicFramePr>
        <p:xfrm>
          <a:off x="4724400" y="4114800"/>
          <a:ext cx="3211830" cy="1261872"/>
        </p:xfrm>
        <a:graphic>
          <a:graphicData uri="http://schemas.openxmlformats.org/drawingml/2006/table">
            <a:tbl>
              <a:tblPr firstRow="1" firstCol="1" bandRow="1">
                <a:tableStyleId>{5C22544A-7EE6-4342-B048-85BDC9FD1C3A}</a:tableStyleId>
              </a:tblPr>
              <a:tblGrid>
                <a:gridCol w="1059180"/>
                <a:gridCol w="1076325"/>
                <a:gridCol w="1076325"/>
              </a:tblGrid>
              <a:tr h="0">
                <a:tc>
                  <a:txBody>
                    <a:bodyPr/>
                    <a:lstStyle/>
                    <a:p>
                      <a:pPr>
                        <a:lnSpc>
                          <a:spcPct val="115000"/>
                        </a:lnSpc>
                        <a:spcAft>
                          <a:spcPts val="0"/>
                        </a:spcAft>
                      </a:pPr>
                      <a:r>
                        <a:rPr lang="en-IN" sz="1800">
                          <a:effectLst/>
                        </a:rPr>
                        <a:t>Rollno</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Name</a:t>
                      </a:r>
                      <a:endParaRPr lang="en-IN" sz="1100" dirty="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Branch</a:t>
                      </a:r>
                      <a:endParaRPr lang="en-IN" sz="110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100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A</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r h="0">
                <a:tc>
                  <a:txBody>
                    <a:bodyPr/>
                    <a:lstStyle/>
                    <a:p>
                      <a:pPr>
                        <a:lnSpc>
                          <a:spcPct val="115000"/>
                        </a:lnSpc>
                        <a:spcAft>
                          <a:spcPts val="0"/>
                        </a:spcAft>
                      </a:pPr>
                      <a:r>
                        <a:rPr lang="en-IN" sz="1800">
                          <a:effectLst/>
                        </a:rPr>
                        <a:t>300</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a:effectLst/>
                        </a:rPr>
                        <a:t>C</a:t>
                      </a:r>
                      <a:endParaRPr lang="en-IN" sz="1100">
                        <a:effectLst/>
                        <a:latin typeface="Calibri"/>
                        <a:ea typeface="Calibri"/>
                        <a:cs typeface="Times New Roman"/>
                      </a:endParaRPr>
                    </a:p>
                  </a:txBody>
                  <a:tcPr marL="68580" marR="68580" marT="0" marB="0"/>
                </a:tc>
                <a:tc>
                  <a:txBody>
                    <a:bodyPr/>
                    <a:lstStyle/>
                    <a:p>
                      <a:pPr>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r h="0">
                <a:tc>
                  <a:txBody>
                    <a:bodyPr/>
                    <a:lstStyle/>
                    <a:p>
                      <a:pPr fontAlgn="base">
                        <a:lnSpc>
                          <a:spcPct val="115000"/>
                        </a:lnSpc>
                        <a:spcAft>
                          <a:spcPts val="0"/>
                        </a:spcAft>
                      </a:pPr>
                      <a:r>
                        <a:rPr lang="en-IN" sz="1800">
                          <a:effectLst/>
                        </a:rPr>
                        <a:t>500</a:t>
                      </a:r>
                      <a:endParaRPr lang="en-IN" sz="1100">
                        <a:effectLst/>
                        <a:latin typeface="Calibri"/>
                        <a:ea typeface="Calibri"/>
                        <a:cs typeface="Times New Roman"/>
                      </a:endParaRPr>
                    </a:p>
                  </a:txBody>
                  <a:tcPr marL="68580" marR="68580" marT="0" marB="0"/>
                </a:tc>
                <a:tc>
                  <a:txBody>
                    <a:bodyPr/>
                    <a:lstStyle/>
                    <a:p>
                      <a:pPr fontAlgn="base">
                        <a:lnSpc>
                          <a:spcPct val="115000"/>
                        </a:lnSpc>
                        <a:spcAft>
                          <a:spcPts val="0"/>
                        </a:spcAft>
                      </a:pPr>
                      <a:r>
                        <a:rPr lang="en-IN" sz="1800">
                          <a:effectLst/>
                        </a:rPr>
                        <a:t>E</a:t>
                      </a:r>
                      <a:endParaRPr lang="en-IN" sz="1100">
                        <a:effectLst/>
                        <a:latin typeface="Calibri"/>
                        <a:ea typeface="Calibri"/>
                        <a:cs typeface="Times New Roman"/>
                      </a:endParaRPr>
                    </a:p>
                  </a:txBody>
                  <a:tcPr marL="68580" marR="68580" marT="0" marB="0"/>
                </a:tc>
                <a:tc>
                  <a:txBody>
                    <a:bodyPr/>
                    <a:lstStyle/>
                    <a:p>
                      <a:pPr fontAlgn="base">
                        <a:lnSpc>
                          <a:spcPct val="115000"/>
                        </a:lnSpc>
                        <a:spcAft>
                          <a:spcPts val="0"/>
                        </a:spcAft>
                      </a:pPr>
                      <a:r>
                        <a:rPr lang="en-IN" sz="1800" dirty="0">
                          <a:effectLst/>
                        </a:rPr>
                        <a:t>CSE</a:t>
                      </a:r>
                      <a:endParaRPr lang="en-IN" sz="11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117953882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Projection</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smtClean="0"/>
                  <a:t>Projection is used to Pick Columns  of a Table (Attributes of a Relation).</a:t>
                </a:r>
              </a:p>
              <a:p>
                <a:r>
                  <a:rPr lang="en-IN" dirty="0" smtClean="0"/>
                  <a:t>It uses the symbol (</a:t>
                </a:r>
                <a:r>
                  <a:rPr lang="el-GR" dirty="0" smtClean="0"/>
                  <a:t>π</a:t>
                </a:r>
                <a:r>
                  <a:rPr lang="en-IN" dirty="0" smtClean="0"/>
                  <a:t>).</a:t>
                </a:r>
              </a:p>
              <a:p>
                <a:r>
                  <a:rPr lang="en-IN" dirty="0" smtClean="0"/>
                  <a:t>For Example, the Query namely, </a:t>
                </a:r>
                <a:endParaRPr lang="en-IN" dirty="0"/>
              </a:p>
              <a:p>
                <a:pPr marL="0" indent="0">
                  <a:buNone/>
                </a:pPr>
                <a14:m>
                  <m:oMath xmlns:m="http://schemas.openxmlformats.org/officeDocument/2006/math">
                    <m:r>
                      <a:rPr lang="en-IN" b="0" i="1" smtClean="0">
                        <a:latin typeface="Cambria Math"/>
                      </a:rPr>
                      <m:t>              </m:t>
                    </m:r>
                    <m:r>
                      <a:rPr lang="en-IN" i="1">
                        <a:latin typeface="Cambria Math"/>
                      </a:rPr>
                      <m:t>𝛱</m:t>
                    </m:r>
                  </m:oMath>
                </a14:m>
                <a:r>
                  <a:rPr lang="en-IN" dirty="0"/>
                  <a:t> </a:t>
                </a:r>
                <a:r>
                  <a:rPr lang="en-IN" baseline="-25000" dirty="0" err="1"/>
                  <a:t>Rollno</a:t>
                </a:r>
                <a:r>
                  <a:rPr lang="en-IN" baseline="-25000" dirty="0"/>
                  <a:t>, Name </a:t>
                </a:r>
                <a:r>
                  <a:rPr lang="en-IN" dirty="0"/>
                  <a:t> (Student</a:t>
                </a:r>
                <a:r>
                  <a:rPr lang="en-IN" dirty="0" smtClean="0"/>
                  <a:t>)</a:t>
                </a:r>
              </a:p>
              <a:p>
                <a:pPr marL="0" indent="0">
                  <a:buNone/>
                </a:pPr>
                <a:r>
                  <a:rPr lang="en-IN" dirty="0" smtClean="0"/>
                  <a:t>will provide the </a:t>
                </a:r>
                <a:r>
                  <a:rPr lang="en-IN" smtClean="0"/>
                  <a:t>following answer</a:t>
                </a:r>
                <a:r>
                  <a:rPr lang="en-IN" dirty="0" smtClean="0"/>
                  <a:t>.</a:t>
                </a:r>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852" t="-1752"/>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27637349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Projection </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smtClean="0"/>
                  <a:t>The Query </a:t>
                </a:r>
                <a14:m>
                  <m:oMath xmlns:m="http://schemas.openxmlformats.org/officeDocument/2006/math">
                    <m:r>
                      <a:rPr lang="en-IN" i="1">
                        <a:latin typeface="Cambria Math"/>
                      </a:rPr>
                      <m:t>𝛱</m:t>
                    </m:r>
                  </m:oMath>
                </a14:m>
                <a:r>
                  <a:rPr lang="en-IN" dirty="0"/>
                  <a:t> </a:t>
                </a:r>
                <a:r>
                  <a:rPr lang="en-IN" baseline="-25000" dirty="0" err="1"/>
                  <a:t>Rollno</a:t>
                </a:r>
                <a:r>
                  <a:rPr lang="en-IN" baseline="-25000" dirty="0"/>
                  <a:t>, Name </a:t>
                </a:r>
                <a:r>
                  <a:rPr lang="en-IN" dirty="0"/>
                  <a:t> (Student)</a:t>
                </a:r>
              </a:p>
              <a:p>
                <a:pPr marL="0" indent="0">
                  <a:buNone/>
                </a:pPr>
                <a:endParaRPr lang="en-IN" dirty="0" smtClean="0"/>
              </a:p>
              <a:p>
                <a:pPr marL="0" indent="0">
                  <a:buNone/>
                </a:pPr>
                <a:r>
                  <a:rPr lang="en-IN" dirty="0" smtClean="0"/>
                  <a:t>     Student                            </a:t>
                </a:r>
                <a14:m>
                  <m:oMath xmlns:m="http://schemas.openxmlformats.org/officeDocument/2006/math">
                    <m:r>
                      <a:rPr lang="en-IN" i="1">
                        <a:latin typeface="Cambria Math"/>
                      </a:rPr>
                      <m:t>𝛱</m:t>
                    </m:r>
                  </m:oMath>
                </a14:m>
                <a:r>
                  <a:rPr lang="en-IN" dirty="0"/>
                  <a:t> </a:t>
                </a:r>
                <a:r>
                  <a:rPr lang="en-IN" baseline="-25000" dirty="0" err="1"/>
                  <a:t>Rollno</a:t>
                </a:r>
                <a:r>
                  <a:rPr lang="en-IN" baseline="-25000" dirty="0"/>
                  <a:t>, Name </a:t>
                </a:r>
                <a:r>
                  <a:rPr lang="en-IN" dirty="0"/>
                  <a:t> (Student)</a:t>
                </a:r>
              </a:p>
              <a:p>
                <a:pPr marL="0" indent="0">
                  <a:buNone/>
                </a:pPr>
                <a:r>
                  <a:rPr lang="en-IN" dirty="0" smtClean="0"/>
                  <a:t>                             </a:t>
                </a:r>
              </a:p>
              <a:p>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pic>
        <p:nvPicPr>
          <p:cNvPr id="5121"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397060"/>
            <a:ext cx="586105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05400" y="3657600"/>
            <a:ext cx="5861050" cy="232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06848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Projection </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IN" dirty="0" smtClean="0"/>
                  <a:t>The Query </a:t>
                </a:r>
                <a14:m>
                  <m:oMath xmlns:m="http://schemas.openxmlformats.org/officeDocument/2006/math">
                    <m:r>
                      <a:rPr lang="en-IN" i="1">
                        <a:latin typeface="Cambria Math"/>
                      </a:rPr>
                      <m:t>𝛱</m:t>
                    </m:r>
                  </m:oMath>
                </a14:m>
                <a:r>
                  <a:rPr lang="en-IN" baseline="-25000" dirty="0" smtClean="0"/>
                  <a:t>Name , Branch </a:t>
                </a:r>
                <a:r>
                  <a:rPr lang="en-IN" dirty="0" smtClean="0"/>
                  <a:t> </a:t>
                </a:r>
                <a:r>
                  <a:rPr lang="en-IN" dirty="0"/>
                  <a:t>(Student)</a:t>
                </a:r>
              </a:p>
              <a:p>
                <a:pPr marL="0" indent="0">
                  <a:buNone/>
                </a:pPr>
                <a:endParaRPr lang="en-IN" dirty="0" smtClean="0"/>
              </a:p>
              <a:p>
                <a:pPr marL="0" indent="0">
                  <a:buNone/>
                </a:pPr>
                <a:r>
                  <a:rPr lang="en-IN" dirty="0" smtClean="0"/>
                  <a:t>     Student                         </a:t>
                </a:r>
                <a14:m>
                  <m:oMath xmlns:m="http://schemas.openxmlformats.org/officeDocument/2006/math">
                    <m:r>
                      <a:rPr lang="en-IN" b="0" i="0" smtClean="0">
                        <a:latin typeface="Cambria Math"/>
                      </a:rPr>
                      <m:t>   </m:t>
                    </m:r>
                    <m:r>
                      <a:rPr lang="en-IN" i="1">
                        <a:latin typeface="Cambria Math"/>
                      </a:rPr>
                      <m:t>𝛱</m:t>
                    </m:r>
                  </m:oMath>
                </a14:m>
                <a:r>
                  <a:rPr lang="en-IN" dirty="0"/>
                  <a:t> </a:t>
                </a:r>
                <a:r>
                  <a:rPr lang="en-IN" baseline="-25000" dirty="0" smtClean="0"/>
                  <a:t>Name, Branch </a:t>
                </a:r>
                <a:r>
                  <a:rPr lang="en-IN" dirty="0" smtClean="0"/>
                  <a:t>(</a:t>
                </a:r>
                <a:r>
                  <a:rPr lang="en-IN" dirty="0"/>
                  <a:t>Student)</a:t>
                </a:r>
              </a:p>
              <a:p>
                <a:pPr marL="0" indent="0">
                  <a:buNone/>
                </a:pPr>
                <a:r>
                  <a:rPr lang="en-IN" dirty="0" smtClean="0"/>
                  <a:t>                             </a:t>
                </a:r>
              </a:p>
              <a:p>
                <a:endParaRPr lang="en-IN" dirty="0"/>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pic>
        <p:nvPicPr>
          <p:cNvPr id="5121" name="Picture 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3397060"/>
            <a:ext cx="586105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5" name="Picture 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4000" y="3581400"/>
            <a:ext cx="586105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17272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a:defRPr/>
            </a:pPr>
            <a:r>
              <a:rPr lang="en-US" smtClean="0"/>
              <a:t>Project Operation – Example</a:t>
            </a:r>
          </a:p>
        </p:txBody>
      </p:sp>
      <p:sp>
        <p:nvSpPr>
          <p:cNvPr id="21507" name="Rectangle 3"/>
          <p:cNvSpPr>
            <a:spLocks noGrp="1" noChangeArrowheads="1"/>
          </p:cNvSpPr>
          <p:nvPr>
            <p:ph type="body" idx="1"/>
          </p:nvPr>
        </p:nvSpPr>
        <p:spPr>
          <a:xfrm>
            <a:off x="666750" y="1724025"/>
            <a:ext cx="7029450" cy="409575"/>
          </a:xfrm>
        </p:spPr>
        <p:txBody>
          <a:bodyPr/>
          <a:lstStyle/>
          <a:p>
            <a:r>
              <a:rPr lang="en-US" smtClean="0"/>
              <a:t>Relation</a:t>
            </a:r>
            <a:r>
              <a:rPr lang="en-US" i="1" smtClean="0"/>
              <a:t> r</a:t>
            </a:r>
            <a:r>
              <a:rPr lang="en-US" smtClean="0"/>
              <a:t>:</a:t>
            </a:r>
          </a:p>
        </p:txBody>
      </p:sp>
      <p:sp>
        <p:nvSpPr>
          <p:cNvPr id="21508" name="Rectangle 4"/>
          <p:cNvSpPr>
            <a:spLocks noChangeArrowheads="1"/>
          </p:cNvSpPr>
          <p:nvPr/>
        </p:nvSpPr>
        <p:spPr bwMode="auto">
          <a:xfrm>
            <a:off x="30480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A</a:t>
            </a:r>
          </a:p>
        </p:txBody>
      </p:sp>
      <p:sp>
        <p:nvSpPr>
          <p:cNvPr id="21509" name="Rectangle 5"/>
          <p:cNvSpPr>
            <a:spLocks noChangeArrowheads="1"/>
          </p:cNvSpPr>
          <p:nvPr/>
        </p:nvSpPr>
        <p:spPr bwMode="auto">
          <a:xfrm>
            <a:off x="35052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B</a:t>
            </a:r>
          </a:p>
        </p:txBody>
      </p:sp>
      <p:sp>
        <p:nvSpPr>
          <p:cNvPr id="21510" name="Rectangle 6"/>
          <p:cNvSpPr>
            <a:spLocks noChangeArrowheads="1"/>
          </p:cNvSpPr>
          <p:nvPr/>
        </p:nvSpPr>
        <p:spPr bwMode="auto">
          <a:xfrm>
            <a:off x="3962400" y="16764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C</a:t>
            </a:r>
          </a:p>
        </p:txBody>
      </p:sp>
      <p:sp>
        <p:nvSpPr>
          <p:cNvPr id="21511" name="Rectangle 7"/>
          <p:cNvSpPr>
            <a:spLocks noChangeArrowheads="1"/>
          </p:cNvSpPr>
          <p:nvPr/>
        </p:nvSpPr>
        <p:spPr bwMode="auto">
          <a:xfrm>
            <a:off x="30480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21512" name="Rectangle 8"/>
          <p:cNvSpPr>
            <a:spLocks noChangeArrowheads="1"/>
          </p:cNvSpPr>
          <p:nvPr/>
        </p:nvSpPr>
        <p:spPr bwMode="auto">
          <a:xfrm>
            <a:off x="35052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10</a:t>
            </a:r>
          </a:p>
          <a:p>
            <a:pPr algn="ctr" eaLnBrk="0" fontAlgn="base" hangingPunct="0">
              <a:lnSpc>
                <a:spcPct val="150000"/>
              </a:lnSpc>
              <a:spcBef>
                <a:spcPct val="0"/>
              </a:spcBef>
              <a:spcAft>
                <a:spcPct val="0"/>
              </a:spcAft>
            </a:pPr>
            <a:r>
              <a:rPr lang="en-US" i="1" smtClean="0">
                <a:solidFill>
                  <a:srgbClr val="000000"/>
                </a:solidFill>
                <a:sym typeface="Symbol" pitchFamily="18" charset="2"/>
              </a:rPr>
              <a:t>20</a:t>
            </a:r>
          </a:p>
          <a:p>
            <a:pPr algn="ctr" eaLnBrk="0" fontAlgn="base" hangingPunct="0">
              <a:lnSpc>
                <a:spcPct val="150000"/>
              </a:lnSpc>
              <a:spcBef>
                <a:spcPct val="0"/>
              </a:spcBef>
              <a:spcAft>
                <a:spcPct val="0"/>
              </a:spcAft>
            </a:pPr>
            <a:r>
              <a:rPr lang="en-US" i="1" smtClean="0">
                <a:solidFill>
                  <a:srgbClr val="000000"/>
                </a:solidFill>
                <a:sym typeface="Symbol" pitchFamily="18" charset="2"/>
              </a:rPr>
              <a:t>30</a:t>
            </a:r>
          </a:p>
          <a:p>
            <a:pPr algn="ctr" eaLnBrk="0" fontAlgn="base" hangingPunct="0">
              <a:lnSpc>
                <a:spcPct val="150000"/>
              </a:lnSpc>
              <a:spcBef>
                <a:spcPct val="0"/>
              </a:spcBef>
              <a:spcAft>
                <a:spcPct val="0"/>
              </a:spcAft>
            </a:pPr>
            <a:r>
              <a:rPr lang="en-US" i="1" smtClean="0">
                <a:solidFill>
                  <a:srgbClr val="000000"/>
                </a:solidFill>
                <a:sym typeface="Symbol" pitchFamily="18" charset="2"/>
              </a:rPr>
              <a:t>40</a:t>
            </a:r>
          </a:p>
        </p:txBody>
      </p:sp>
      <p:sp>
        <p:nvSpPr>
          <p:cNvPr id="21513" name="Rectangle 9"/>
          <p:cNvSpPr>
            <a:spLocks noChangeArrowheads="1"/>
          </p:cNvSpPr>
          <p:nvPr/>
        </p:nvSpPr>
        <p:spPr bwMode="auto">
          <a:xfrm>
            <a:off x="3962400" y="22098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2</a:t>
            </a:r>
          </a:p>
        </p:txBody>
      </p:sp>
      <p:sp>
        <p:nvSpPr>
          <p:cNvPr id="21514" name="Rectangle 10"/>
          <p:cNvSpPr>
            <a:spLocks noChangeArrowheads="1"/>
          </p:cNvSpPr>
          <p:nvPr/>
        </p:nvSpPr>
        <p:spPr bwMode="auto">
          <a:xfrm>
            <a:off x="990600" y="4114800"/>
            <a:ext cx="70294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400" smtClean="0">
              <a:solidFill>
                <a:srgbClr val="000000"/>
              </a:solidFill>
              <a:latin typeface="Times New Roman" charset="0"/>
              <a:sym typeface="Symbol" pitchFamily="18" charset="2"/>
            </a:endParaRPr>
          </a:p>
        </p:txBody>
      </p:sp>
      <p:sp>
        <p:nvSpPr>
          <p:cNvPr id="21515" name="Rectangle 12"/>
          <p:cNvSpPr>
            <a:spLocks noChangeArrowheads="1"/>
          </p:cNvSpPr>
          <p:nvPr/>
        </p:nvSpPr>
        <p:spPr bwMode="auto">
          <a:xfrm>
            <a:off x="914400" y="3962400"/>
            <a:ext cx="70294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en-US" sz="2400" smtClean="0">
              <a:solidFill>
                <a:srgbClr val="000000"/>
              </a:solidFill>
              <a:latin typeface="Times New Roman" charset="0"/>
              <a:sym typeface="Symbol" pitchFamily="18" charset="2"/>
            </a:endParaRPr>
          </a:p>
        </p:txBody>
      </p:sp>
      <p:sp>
        <p:nvSpPr>
          <p:cNvPr id="21516" name="Rectangle 13"/>
          <p:cNvSpPr>
            <a:spLocks noChangeArrowheads="1"/>
          </p:cNvSpPr>
          <p:nvPr/>
        </p:nvSpPr>
        <p:spPr bwMode="auto">
          <a:xfrm>
            <a:off x="533400" y="4114800"/>
            <a:ext cx="70294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342900" indent="-342900" eaLnBrk="0" fontAlgn="base" hangingPunct="0">
              <a:spcBef>
                <a:spcPct val="35000"/>
              </a:spcBef>
              <a:spcAft>
                <a:spcPct val="0"/>
              </a:spcAft>
              <a:buClr>
                <a:srgbClr val="CC3300"/>
              </a:buClr>
              <a:buFont typeface="Monotype Sorts" pitchFamily="2" charset="2"/>
              <a:buNone/>
            </a:pPr>
            <a:endParaRPr kumimoji="1" lang="en-US" sz="2000" smtClean="0">
              <a:solidFill>
                <a:srgbClr val="000000"/>
              </a:solidFill>
              <a:latin typeface="Times New Roman" charset="0"/>
              <a:sym typeface="Symbol" pitchFamily="18" charset="2"/>
            </a:endParaRPr>
          </a:p>
        </p:txBody>
      </p:sp>
      <p:sp>
        <p:nvSpPr>
          <p:cNvPr id="21517" name="Rectangle 15"/>
          <p:cNvSpPr>
            <a:spLocks noChangeArrowheads="1"/>
          </p:cNvSpPr>
          <p:nvPr/>
        </p:nvSpPr>
        <p:spPr bwMode="auto">
          <a:xfrm>
            <a:off x="2514600" y="4038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A</a:t>
            </a:r>
          </a:p>
        </p:txBody>
      </p:sp>
      <p:sp>
        <p:nvSpPr>
          <p:cNvPr id="21518" name="Rectangle 16"/>
          <p:cNvSpPr>
            <a:spLocks noChangeArrowheads="1"/>
          </p:cNvSpPr>
          <p:nvPr/>
        </p:nvSpPr>
        <p:spPr bwMode="auto">
          <a:xfrm>
            <a:off x="2971800" y="4038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C</a:t>
            </a:r>
          </a:p>
        </p:txBody>
      </p:sp>
      <p:sp>
        <p:nvSpPr>
          <p:cNvPr id="21519" name="Rectangle 17"/>
          <p:cNvSpPr>
            <a:spLocks noChangeArrowheads="1"/>
          </p:cNvSpPr>
          <p:nvPr/>
        </p:nvSpPr>
        <p:spPr bwMode="auto">
          <a:xfrm>
            <a:off x="2514600" y="45720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21520" name="Rectangle 18"/>
          <p:cNvSpPr>
            <a:spLocks noChangeArrowheads="1"/>
          </p:cNvSpPr>
          <p:nvPr/>
        </p:nvSpPr>
        <p:spPr bwMode="auto">
          <a:xfrm>
            <a:off x="2971800" y="4572000"/>
            <a:ext cx="457200" cy="1676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2</a:t>
            </a:r>
          </a:p>
        </p:txBody>
      </p:sp>
      <p:sp>
        <p:nvSpPr>
          <p:cNvPr id="21521" name="Text Box 21"/>
          <p:cNvSpPr txBox="1">
            <a:spLocks noChangeArrowheads="1"/>
          </p:cNvSpPr>
          <p:nvPr/>
        </p:nvSpPr>
        <p:spPr bwMode="auto">
          <a:xfrm>
            <a:off x="3581400" y="5029200"/>
            <a:ext cx="3175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i="1">
                <a:solidFill>
                  <a:schemeClr val="tx1"/>
                </a:solidFill>
                <a:latin typeface="Helvetica" pitchFamily="34" charset="0"/>
                <a:sym typeface="Symbol" pitchFamily="18" charset="2"/>
              </a:defRPr>
            </a:lvl1pPr>
            <a:lvl2pPr marL="742950" indent="-285750">
              <a:defRPr kumimoji="1" i="1">
                <a:solidFill>
                  <a:schemeClr val="tx1"/>
                </a:solidFill>
                <a:latin typeface="Helvetica" pitchFamily="34" charset="0"/>
                <a:sym typeface="Symbol" pitchFamily="18" charset="2"/>
              </a:defRPr>
            </a:lvl2pPr>
            <a:lvl3pPr marL="1143000" indent="-228600">
              <a:defRPr kumimoji="1" i="1">
                <a:solidFill>
                  <a:schemeClr val="tx1"/>
                </a:solidFill>
                <a:latin typeface="Helvetica" pitchFamily="34" charset="0"/>
                <a:sym typeface="Symbol" pitchFamily="18" charset="2"/>
              </a:defRPr>
            </a:lvl3pPr>
            <a:lvl4pPr marL="1600200" indent="-228600">
              <a:defRPr kumimoji="1" i="1">
                <a:solidFill>
                  <a:schemeClr val="tx1"/>
                </a:solidFill>
                <a:latin typeface="Helvetica" pitchFamily="34" charset="0"/>
                <a:sym typeface="Symbol" pitchFamily="18" charset="2"/>
              </a:defRPr>
            </a:lvl4pPr>
            <a:lvl5pPr marL="2057400" indent="-228600">
              <a:defRPr kumimoji="1" i="1">
                <a:solidFill>
                  <a:schemeClr val="tx1"/>
                </a:solidFill>
                <a:latin typeface="Helvetica" pitchFamily="34" charset="0"/>
                <a:sym typeface="Symbol" pitchFamily="18" charset="2"/>
              </a:defRPr>
            </a:lvl5pPr>
            <a:lvl6pPr marL="25146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6pPr>
            <a:lvl7pPr marL="29718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7pPr>
            <a:lvl8pPr marL="34290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8pPr>
            <a:lvl9pPr marL="3886200" indent="-228600" eaLnBrk="0" fontAlgn="base" hangingPunct="0">
              <a:spcBef>
                <a:spcPct val="35000"/>
              </a:spcBef>
              <a:spcAft>
                <a:spcPct val="0"/>
              </a:spcAft>
              <a:buClr>
                <a:schemeClr val="tx2"/>
              </a:buClr>
              <a:buSzPct val="90000"/>
              <a:buFont typeface="Monotype Sorts" pitchFamily="2" charset="2"/>
              <a:defRPr kumimoji="1" i="1">
                <a:solidFill>
                  <a:schemeClr val="tx1"/>
                </a:solidFill>
                <a:latin typeface="Helvetica" pitchFamily="34" charset="0"/>
                <a:sym typeface="Symbol" pitchFamily="18" charset="2"/>
              </a:defRPr>
            </a:lvl9pPr>
          </a:lstStyle>
          <a:p>
            <a:pPr algn="ctr" eaLnBrk="0" fontAlgn="base" hangingPunct="0">
              <a:spcBef>
                <a:spcPct val="50000"/>
              </a:spcBef>
              <a:spcAft>
                <a:spcPct val="0"/>
              </a:spcAft>
            </a:pPr>
            <a:r>
              <a:rPr kumimoji="0" lang="en-US" i="0" smtClean="0">
                <a:solidFill>
                  <a:srgbClr val="000000"/>
                </a:solidFill>
              </a:rPr>
              <a:t>=</a:t>
            </a:r>
          </a:p>
        </p:txBody>
      </p:sp>
      <p:sp>
        <p:nvSpPr>
          <p:cNvPr id="21522" name="Rectangle 22"/>
          <p:cNvSpPr>
            <a:spLocks noChangeArrowheads="1"/>
          </p:cNvSpPr>
          <p:nvPr/>
        </p:nvSpPr>
        <p:spPr bwMode="auto">
          <a:xfrm>
            <a:off x="4038600" y="4038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A</a:t>
            </a:r>
          </a:p>
        </p:txBody>
      </p:sp>
      <p:sp>
        <p:nvSpPr>
          <p:cNvPr id="21523" name="Rectangle 23"/>
          <p:cNvSpPr>
            <a:spLocks noChangeArrowheads="1"/>
          </p:cNvSpPr>
          <p:nvPr/>
        </p:nvSpPr>
        <p:spPr bwMode="auto">
          <a:xfrm>
            <a:off x="4495800" y="40386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spcBef>
                <a:spcPct val="0"/>
              </a:spcBef>
              <a:spcAft>
                <a:spcPct val="0"/>
              </a:spcAft>
            </a:pPr>
            <a:r>
              <a:rPr lang="en-US" i="1" smtClean="0">
                <a:solidFill>
                  <a:srgbClr val="000000"/>
                </a:solidFill>
                <a:sym typeface="Symbol" pitchFamily="18" charset="2"/>
              </a:rPr>
              <a:t>C</a:t>
            </a:r>
          </a:p>
        </p:txBody>
      </p:sp>
      <p:sp>
        <p:nvSpPr>
          <p:cNvPr id="21524" name="Rectangle 24"/>
          <p:cNvSpPr>
            <a:spLocks noChangeArrowheads="1"/>
          </p:cNvSpPr>
          <p:nvPr/>
        </p:nvSpPr>
        <p:spPr bwMode="auto">
          <a:xfrm>
            <a:off x="4038600" y="4572000"/>
            <a:ext cx="457200" cy="1219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a:p>
            <a:pPr algn="ctr" eaLnBrk="0" fontAlgn="base" hangingPunct="0">
              <a:lnSpc>
                <a:spcPct val="150000"/>
              </a:lnSpc>
              <a:spcBef>
                <a:spcPct val="0"/>
              </a:spcBef>
              <a:spcAft>
                <a:spcPct val="0"/>
              </a:spcAft>
            </a:pPr>
            <a:r>
              <a:rPr lang="en-US" i="1" smtClean="0">
                <a:solidFill>
                  <a:srgbClr val="000000"/>
                </a:solidFill>
                <a:sym typeface="Symbol" pitchFamily="18" charset="2"/>
              </a:rPr>
              <a:t></a:t>
            </a:r>
          </a:p>
        </p:txBody>
      </p:sp>
      <p:sp>
        <p:nvSpPr>
          <p:cNvPr id="21525" name="Rectangle 25"/>
          <p:cNvSpPr>
            <a:spLocks noChangeArrowheads="1"/>
          </p:cNvSpPr>
          <p:nvPr/>
        </p:nvSpPr>
        <p:spPr bwMode="auto">
          <a:xfrm>
            <a:off x="4495800" y="4572000"/>
            <a:ext cx="457200" cy="1219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1</a:t>
            </a:r>
          </a:p>
          <a:p>
            <a:pPr algn="ctr" eaLnBrk="0" fontAlgn="base" hangingPunct="0">
              <a:lnSpc>
                <a:spcPct val="150000"/>
              </a:lnSpc>
              <a:spcBef>
                <a:spcPct val="0"/>
              </a:spcBef>
              <a:spcAft>
                <a:spcPct val="0"/>
              </a:spcAft>
            </a:pPr>
            <a:r>
              <a:rPr lang="en-US" i="1" smtClean="0">
                <a:solidFill>
                  <a:srgbClr val="000000"/>
                </a:solidFill>
                <a:sym typeface="Symbol" pitchFamily="18" charset="2"/>
              </a:rPr>
              <a:t>2</a:t>
            </a:r>
          </a:p>
        </p:txBody>
      </p:sp>
      <p:sp>
        <p:nvSpPr>
          <p:cNvPr id="21526" name="Rectangle 27"/>
          <p:cNvSpPr>
            <a:spLocks noChangeArrowheads="1"/>
          </p:cNvSpPr>
          <p:nvPr/>
        </p:nvSpPr>
        <p:spPr bwMode="auto">
          <a:xfrm>
            <a:off x="407988" y="4140200"/>
            <a:ext cx="702945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0" fontAlgn="base" hangingPunct="0">
              <a:spcBef>
                <a:spcPct val="35000"/>
              </a:spcBef>
              <a:spcAft>
                <a:spcPct val="0"/>
              </a:spcAft>
              <a:buClr>
                <a:srgbClr val="CC3300"/>
              </a:buClr>
              <a:buSzPct val="90000"/>
              <a:buFont typeface="Monotype Sorts" pitchFamily="2" charset="2"/>
              <a:buChar char="n"/>
            </a:pPr>
            <a:endParaRPr kumimoji="1" lang="en-US" sz="2000" smtClean="0">
              <a:solidFill>
                <a:srgbClr val="000000"/>
              </a:solidFill>
              <a:sym typeface="Symbol" pitchFamily="18" charset="2"/>
            </a:endParaRPr>
          </a:p>
        </p:txBody>
      </p:sp>
      <p:sp>
        <p:nvSpPr>
          <p:cNvPr id="21527" name="Rectangle 28"/>
          <p:cNvSpPr>
            <a:spLocks noChangeArrowheads="1"/>
          </p:cNvSpPr>
          <p:nvPr/>
        </p:nvSpPr>
        <p:spPr bwMode="auto">
          <a:xfrm>
            <a:off x="773113" y="4065588"/>
            <a:ext cx="702945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marL="342900" indent="-342900" eaLnBrk="0" fontAlgn="base" hangingPunct="0">
              <a:spcBef>
                <a:spcPct val="35000"/>
              </a:spcBef>
              <a:spcAft>
                <a:spcPct val="0"/>
              </a:spcAft>
              <a:buClr>
                <a:srgbClr val="CC3300"/>
              </a:buClr>
              <a:buSzPct val="90000"/>
              <a:buFont typeface="Monotype Sorts" pitchFamily="2" charset="2"/>
              <a:buChar char="n"/>
            </a:pPr>
            <a:r>
              <a:rPr kumimoji="1" lang="en-US" sz="2000" smtClean="0">
                <a:solidFill>
                  <a:srgbClr val="000000"/>
                </a:solidFill>
                <a:sym typeface="Symbol" pitchFamily="18" charset="2"/>
              </a:rPr>
              <a:t></a:t>
            </a:r>
            <a:r>
              <a:rPr kumimoji="1" lang="en-US" sz="2400" baseline="-25000" smtClean="0">
                <a:solidFill>
                  <a:srgbClr val="000000"/>
                </a:solidFill>
                <a:sym typeface="Symbol" pitchFamily="18" charset="2"/>
              </a:rPr>
              <a:t>A,C</a:t>
            </a:r>
            <a:r>
              <a:rPr kumimoji="1" lang="en-US" sz="2000" smtClean="0">
                <a:solidFill>
                  <a:srgbClr val="000000"/>
                </a:solidFill>
                <a:sym typeface="Symbol" pitchFamily="18" charset="2"/>
              </a:rPr>
              <a:t> (</a:t>
            </a:r>
            <a:r>
              <a:rPr kumimoji="1" lang="en-US" sz="2000" i="1" smtClean="0">
                <a:solidFill>
                  <a:srgbClr val="000000"/>
                </a:solidFill>
                <a:sym typeface="Symbol" pitchFamily="18" charset="2"/>
              </a:rPr>
              <a:t>r</a:t>
            </a:r>
            <a:r>
              <a:rPr kumimoji="1" lang="en-US" sz="2000" smtClean="0">
                <a:solidFill>
                  <a:srgbClr val="000000"/>
                </a:solidFill>
                <a:sym typeface="Symbol" pitchFamily="18" charset="2"/>
              </a:rPr>
              <a:t>)</a:t>
            </a:r>
          </a:p>
        </p:txBody>
      </p:sp>
    </p:spTree>
    <p:extLst>
      <p:ext uri="{BB962C8B-B14F-4D97-AF65-F5344CB8AC3E}">
        <p14:creationId xmlns:p14="http://schemas.microsoft.com/office/powerpoint/2010/main" val="11220966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Equi</a:t>
            </a:r>
            <a:r>
              <a:rPr lang="en-IN" dirty="0" smtClean="0"/>
              <a:t>-join</a:t>
            </a:r>
            <a:endParaRPr lang="en-IN" dirty="0"/>
          </a:p>
        </p:txBody>
      </p:sp>
      <p:sp>
        <p:nvSpPr>
          <p:cNvPr id="3" name="Content Placeholder 2"/>
          <p:cNvSpPr>
            <a:spLocks noGrp="1"/>
          </p:cNvSpPr>
          <p:nvPr>
            <p:ph idx="1"/>
          </p:nvPr>
        </p:nvSpPr>
        <p:spPr/>
        <p:txBody>
          <a:bodyPr>
            <a:normAutofit/>
          </a:bodyPr>
          <a:lstStyle/>
          <a:p>
            <a:r>
              <a:rPr lang="en-IN" dirty="0" smtClean="0"/>
              <a:t>To form the </a:t>
            </a:r>
            <a:r>
              <a:rPr lang="en-IN" dirty="0" err="1" smtClean="0"/>
              <a:t>Equi</a:t>
            </a:r>
            <a:r>
              <a:rPr lang="en-IN" dirty="0" smtClean="0"/>
              <a:t>-Join of two tables R1 and R2 the following operations must be done.</a:t>
            </a:r>
          </a:p>
          <a:p>
            <a:r>
              <a:rPr lang="en-IN" dirty="0" smtClean="0"/>
              <a:t>1. Form the Cartesian Product of R1 and R2</a:t>
            </a:r>
          </a:p>
          <a:p>
            <a:r>
              <a:rPr lang="en-IN" dirty="0" smtClean="0"/>
              <a:t>2. Pick the rows satisfying the condition</a:t>
            </a:r>
          </a:p>
          <a:p>
            <a:pPr marL="0" indent="0">
              <a:buNone/>
            </a:pPr>
            <a:r>
              <a:rPr lang="en-IN" dirty="0"/>
              <a:t> </a:t>
            </a:r>
            <a:r>
              <a:rPr lang="en-IN" dirty="0" smtClean="0"/>
              <a:t>      R1.Common-Column = R2.Cmmon-Column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1977474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Equi</a:t>
            </a:r>
            <a:r>
              <a:rPr lang="en-IN" dirty="0" smtClean="0"/>
              <a:t>-Join</a:t>
            </a:r>
            <a:endParaRPr lang="en-IN" dirty="0"/>
          </a:p>
        </p:txBody>
      </p:sp>
      <p:sp>
        <p:nvSpPr>
          <p:cNvPr id="3" name="Content Placeholder 2"/>
          <p:cNvSpPr>
            <a:spLocks noGrp="1"/>
          </p:cNvSpPr>
          <p:nvPr>
            <p:ph idx="1"/>
          </p:nvPr>
        </p:nvSpPr>
        <p:spPr/>
        <p:txBody>
          <a:bodyPr>
            <a:normAutofit/>
          </a:bodyPr>
          <a:lstStyle/>
          <a:p>
            <a:pPr marL="0" indent="0">
              <a:buNone/>
            </a:pPr>
            <a:r>
              <a:rPr lang="en-IN" dirty="0"/>
              <a:t>If R1 has the schema </a:t>
            </a:r>
            <a:endParaRPr lang="en-IN" dirty="0" smtClean="0"/>
          </a:p>
          <a:p>
            <a:pPr marL="0" indent="0">
              <a:buNone/>
            </a:pPr>
            <a:r>
              <a:rPr lang="en-IN" dirty="0" smtClean="0">
                <a:solidFill>
                  <a:srgbClr val="FF0000"/>
                </a:solidFill>
              </a:rPr>
              <a:t>R1(</a:t>
            </a:r>
            <a:r>
              <a:rPr lang="en-IN" dirty="0" err="1" smtClean="0">
                <a:solidFill>
                  <a:srgbClr val="FF0000"/>
                </a:solidFill>
              </a:rPr>
              <a:t>Rollno</a:t>
            </a:r>
            <a:r>
              <a:rPr lang="en-IN" dirty="0">
                <a:solidFill>
                  <a:srgbClr val="FF0000"/>
                </a:solidFill>
              </a:rPr>
              <a:t>, Name, Address)</a:t>
            </a:r>
          </a:p>
          <a:p>
            <a:pPr marL="0" indent="0">
              <a:buNone/>
            </a:pPr>
            <a:r>
              <a:rPr lang="en-IN" dirty="0" smtClean="0"/>
              <a:t>and </a:t>
            </a:r>
            <a:r>
              <a:rPr lang="en-IN" dirty="0"/>
              <a:t>R2 has the schema </a:t>
            </a:r>
            <a:endParaRPr lang="en-IN" dirty="0" smtClean="0"/>
          </a:p>
          <a:p>
            <a:pPr marL="0" indent="0">
              <a:buNone/>
            </a:pPr>
            <a:r>
              <a:rPr lang="en-IN" dirty="0" smtClean="0">
                <a:solidFill>
                  <a:srgbClr val="FF0000"/>
                </a:solidFill>
              </a:rPr>
              <a:t>R2(</a:t>
            </a:r>
            <a:r>
              <a:rPr lang="en-IN" dirty="0" err="1" smtClean="0">
                <a:solidFill>
                  <a:srgbClr val="FF0000"/>
                </a:solidFill>
              </a:rPr>
              <a:t>Rollno</a:t>
            </a:r>
            <a:r>
              <a:rPr lang="en-IN" dirty="0">
                <a:solidFill>
                  <a:srgbClr val="FF0000"/>
                </a:solidFill>
              </a:rPr>
              <a:t>, Branch, </a:t>
            </a:r>
            <a:r>
              <a:rPr lang="en-IN" dirty="0" smtClean="0">
                <a:solidFill>
                  <a:srgbClr val="FF0000"/>
                </a:solidFill>
              </a:rPr>
              <a:t>Marks), </a:t>
            </a:r>
            <a:r>
              <a:rPr lang="en-IN" dirty="0" smtClean="0"/>
              <a:t>then </a:t>
            </a:r>
            <a:r>
              <a:rPr lang="en-IN" dirty="0"/>
              <a:t>the Join Condition will </a:t>
            </a:r>
            <a:r>
              <a:rPr lang="en-IN" dirty="0" smtClean="0"/>
              <a:t>be:</a:t>
            </a:r>
            <a:endParaRPr lang="en-IN" dirty="0"/>
          </a:p>
          <a:p>
            <a:pPr marL="0" indent="0">
              <a:buNone/>
            </a:pPr>
            <a:r>
              <a:rPr lang="en-IN" dirty="0"/>
              <a:t>R1.Rollno = </a:t>
            </a:r>
            <a:r>
              <a:rPr lang="en-IN" dirty="0" smtClean="0"/>
              <a:t>R2.Rollno</a:t>
            </a:r>
          </a:p>
          <a:p>
            <a:pPr marL="0" indent="0">
              <a:buNone/>
            </a:pPr>
            <a:r>
              <a:rPr lang="en-IN" dirty="0" smtClean="0"/>
              <a:t>Here, </a:t>
            </a:r>
            <a:r>
              <a:rPr lang="en-IN" dirty="0" err="1" smtClean="0"/>
              <a:t>Rollno</a:t>
            </a:r>
            <a:r>
              <a:rPr lang="en-IN" dirty="0" smtClean="0"/>
              <a:t> is the common column between the two tables namely R1 and R2.</a:t>
            </a:r>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41407675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err="1" smtClean="0"/>
              <a:t>Equi</a:t>
            </a:r>
            <a:r>
              <a:rPr lang="en-IN" dirty="0" smtClean="0"/>
              <a:t>-Join</a:t>
            </a:r>
            <a:br>
              <a:rPr lang="en-IN" dirty="0" smtClean="0"/>
            </a:br>
            <a:r>
              <a:rPr lang="en-IN" dirty="0" smtClean="0"/>
              <a:t>Step-1: Form the Cartesian Product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pic>
        <p:nvPicPr>
          <p:cNvPr id="4097" name="Picture 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2015128"/>
            <a:ext cx="5875654" cy="1407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800" y="19812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6800" y="3657600"/>
            <a:ext cx="5861050" cy="313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295400" y="3272261"/>
            <a:ext cx="1409360" cy="369332"/>
          </a:xfrm>
          <a:prstGeom prst="rect">
            <a:avLst/>
          </a:prstGeom>
        </p:spPr>
        <p:txBody>
          <a:bodyPr wrap="none">
            <a:spAutoFit/>
          </a:bodyPr>
          <a:lstStyle/>
          <a:p>
            <a:r>
              <a:rPr lang="en-IN" b="1" dirty="0"/>
              <a:t>R = R1  ×   R2</a:t>
            </a:r>
            <a:endParaRPr lang="en-IN" dirty="0"/>
          </a:p>
        </p:txBody>
      </p:sp>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487" y="1295400"/>
            <a:ext cx="11398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4605056" y="1500274"/>
            <a:ext cx="561372" cy="461665"/>
          </a:xfrm>
          <a:prstGeom prst="rect">
            <a:avLst/>
          </a:prstGeom>
        </p:spPr>
        <p:txBody>
          <a:bodyPr wrap="none">
            <a:spAutoFit/>
          </a:bodyPr>
          <a:lstStyle/>
          <a:p>
            <a:r>
              <a:rPr lang="en-IN" sz="2400" b="1" dirty="0" smtClean="0">
                <a:latin typeface="Times New Roman" pitchFamily="18" charset="0"/>
                <a:cs typeface="Times New Roman" pitchFamily="18" charset="0"/>
              </a:rPr>
              <a:t>R2</a:t>
            </a:r>
            <a:endParaRPr lang="en-IN"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15303333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Equi</a:t>
            </a:r>
            <a:r>
              <a:rPr lang="en-IN" dirty="0"/>
              <a:t>-Join</a:t>
            </a:r>
          </a:p>
        </p:txBody>
      </p:sp>
      <p:sp>
        <p:nvSpPr>
          <p:cNvPr id="3" name="Content Placeholder 2"/>
          <p:cNvSpPr>
            <a:spLocks noGrp="1"/>
          </p:cNvSpPr>
          <p:nvPr>
            <p:ph idx="1"/>
          </p:nvPr>
        </p:nvSpPr>
        <p:spPr/>
        <p:txBody>
          <a:bodyPr/>
          <a:lstStyle/>
          <a:p>
            <a:r>
              <a:rPr lang="en-IN" dirty="0" smtClean="0"/>
              <a:t>Pick rows satisfying the condition R1.Rollno = R2.Rollno</a:t>
            </a:r>
          </a:p>
          <a:p>
            <a:r>
              <a:rPr lang="en-IN" dirty="0" smtClean="0"/>
              <a:t>Here,  Result  </a:t>
            </a:r>
            <a:r>
              <a:rPr lang="en-IN" dirty="0" smtClean="0">
                <a:solidFill>
                  <a:srgbClr val="FF0000"/>
                </a:solidFill>
              </a:rPr>
              <a:t>R = </a:t>
            </a:r>
            <a:r>
              <a:rPr lang="en-IN" dirty="0" smtClean="0">
                <a:solidFill>
                  <a:srgbClr val="00B050"/>
                </a:solidFill>
              </a:rPr>
              <a:t>(</a:t>
            </a:r>
            <a:r>
              <a:rPr lang="en-IN" dirty="0" smtClean="0">
                <a:solidFill>
                  <a:srgbClr val="7030A0"/>
                </a:solidFill>
              </a:rPr>
              <a:t>σ</a:t>
            </a:r>
            <a:r>
              <a:rPr lang="en-IN" baseline="-25000" dirty="0" smtClean="0">
                <a:solidFill>
                  <a:srgbClr val="7030A0"/>
                </a:solidFill>
              </a:rPr>
              <a:t> </a:t>
            </a:r>
            <a:r>
              <a:rPr lang="en-IN" baseline="-25000" dirty="0">
                <a:solidFill>
                  <a:srgbClr val="7030A0"/>
                </a:solidFill>
              </a:rPr>
              <a:t>R1.Rollno = R2.Rollno </a:t>
            </a:r>
            <a:r>
              <a:rPr lang="en-IN" dirty="0">
                <a:solidFill>
                  <a:srgbClr val="7030A0"/>
                </a:solidFill>
              </a:rPr>
              <a:t> </a:t>
            </a:r>
            <a:r>
              <a:rPr lang="en-IN" dirty="0">
                <a:solidFill>
                  <a:srgbClr val="00B050"/>
                </a:solidFill>
              </a:rPr>
              <a:t>(R1 x R2</a:t>
            </a:r>
            <a:r>
              <a:rPr lang="en-IN" dirty="0" smtClean="0">
                <a:solidFill>
                  <a:srgbClr val="00B050"/>
                </a:solidFill>
              </a:rPr>
              <a:t>))</a:t>
            </a:r>
          </a:p>
          <a:p>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39624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471782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Natural Join</a:t>
            </a:r>
            <a:endParaRPr lang="en-IN" dirty="0"/>
          </a:p>
        </p:txBody>
      </p:sp>
      <p:sp>
        <p:nvSpPr>
          <p:cNvPr id="3" name="Content Placeholder 2"/>
          <p:cNvSpPr>
            <a:spLocks noGrp="1"/>
          </p:cNvSpPr>
          <p:nvPr>
            <p:ph idx="1"/>
          </p:nvPr>
        </p:nvSpPr>
        <p:spPr/>
        <p:txBody>
          <a:bodyPr/>
          <a:lstStyle/>
          <a:p>
            <a:r>
              <a:rPr lang="en-IN" dirty="0" smtClean="0"/>
              <a:t>Natural Join is also called as the Join of two Tables using a common column.</a:t>
            </a:r>
          </a:p>
          <a:p>
            <a:r>
              <a:rPr lang="en-IN" dirty="0"/>
              <a:t> </a:t>
            </a:r>
            <a:r>
              <a:rPr lang="en-IN" dirty="0" smtClean="0"/>
              <a:t>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3008759"/>
            <a:ext cx="5861050"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3009363"/>
            <a:ext cx="5861050"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41475" y="5449887"/>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27150" y="4514850"/>
            <a:ext cx="5718175" cy="93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11244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Natural Join</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To find the Natural Join of two Relations R1 and R2, we must perform the following operations:</a:t>
            </a:r>
          </a:p>
          <a:p>
            <a:r>
              <a:rPr lang="en-IN" dirty="0" smtClean="0"/>
              <a:t>1. Product: Form the Cartesian product of R1 and R2.</a:t>
            </a:r>
          </a:p>
          <a:p>
            <a:r>
              <a:rPr lang="en-IN" dirty="0" smtClean="0"/>
              <a:t>2. Selection: Pick the rows satisfying the condition </a:t>
            </a:r>
          </a:p>
          <a:p>
            <a:pPr marL="0" indent="0">
              <a:buNone/>
            </a:pPr>
            <a:r>
              <a:rPr lang="en-IN" dirty="0"/>
              <a:t> </a:t>
            </a:r>
            <a:r>
              <a:rPr lang="en-IN" dirty="0" smtClean="0"/>
              <a:t>        R1.Common_col = R2.Common_col</a:t>
            </a:r>
          </a:p>
          <a:p>
            <a:pPr marL="0" indent="0">
              <a:buNone/>
            </a:pPr>
            <a:r>
              <a:rPr lang="en-IN" dirty="0"/>
              <a:t> </a:t>
            </a:r>
            <a:r>
              <a:rPr lang="en-IN" dirty="0" smtClean="0"/>
              <a:t>  3. Projection: Eliminate the duplicating columns by projecting the common column only once.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14908079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Join(</a:t>
            </a:r>
            <a:r>
              <a:rPr lang="en-IN" dirty="0" smtClean="0"/>
              <a:t>⋈)</a:t>
            </a:r>
            <a:endParaRPr lang="en-IN" dirty="0"/>
          </a:p>
        </p:txBody>
      </p:sp>
      <p:sp>
        <p:nvSpPr>
          <p:cNvPr id="3" name="Content Placeholder 2"/>
          <p:cNvSpPr>
            <a:spLocks noGrp="1"/>
          </p:cNvSpPr>
          <p:nvPr>
            <p:ph idx="1"/>
          </p:nvPr>
        </p:nvSpPr>
        <p:spPr>
          <a:xfrm>
            <a:off x="457200" y="1524000"/>
            <a:ext cx="8229600" cy="4525963"/>
          </a:xfrm>
        </p:spPr>
        <p:txBody>
          <a:bodyPr/>
          <a:lstStyle/>
          <a:p>
            <a:r>
              <a:rPr lang="en-IN" dirty="0" smtClean="0"/>
              <a:t> </a:t>
            </a:r>
            <a:r>
              <a:rPr lang="en-IN" sz="4000" baseline="-25000" dirty="0"/>
              <a:t>R = R1 </a:t>
            </a:r>
            <a:r>
              <a:rPr lang="en-IN" sz="4000" baseline="-25000" dirty="0" smtClean="0"/>
              <a:t>⋈ R2</a:t>
            </a:r>
          </a:p>
          <a:p>
            <a:pPr>
              <a:spcAft>
                <a:spcPts val="0"/>
              </a:spcAft>
            </a:pPr>
            <a:r>
              <a:rPr lang="en-IN" sz="4000" dirty="0" smtClean="0"/>
              <a:t> </a:t>
            </a:r>
            <a:r>
              <a:rPr lang="en-IN" sz="4400" dirty="0">
                <a:solidFill>
                  <a:srgbClr val="202124"/>
                </a:solidFill>
                <a:latin typeface="Arial"/>
              </a:rPr>
              <a:t>R = (</a:t>
            </a:r>
            <a:r>
              <a:rPr lang="en-IN" sz="4400" dirty="0" smtClean="0">
                <a:solidFill>
                  <a:srgbClr val="202124"/>
                </a:solidFill>
                <a:latin typeface="Arial"/>
              </a:rPr>
              <a:t>π</a:t>
            </a:r>
            <a:r>
              <a:rPr lang="en-IN" sz="5400" dirty="0" smtClean="0">
                <a:solidFill>
                  <a:srgbClr val="000000"/>
                </a:solidFill>
                <a:ea typeface="Times New Roman"/>
              </a:rPr>
              <a:t> </a:t>
            </a:r>
            <a:r>
              <a:rPr lang="en-IN" sz="4000" b="1" baseline="-25000" dirty="0">
                <a:solidFill>
                  <a:srgbClr val="000000"/>
                </a:solidFill>
                <a:ea typeface="Times New Roman"/>
              </a:rPr>
              <a:t>R1.Rollno, Name, Branch</a:t>
            </a:r>
            <a:r>
              <a:rPr lang="en-IN" sz="5400" dirty="0">
                <a:solidFill>
                  <a:srgbClr val="000000"/>
                </a:solidFill>
                <a:ea typeface="Times New Roman"/>
              </a:rPr>
              <a:t>(σ</a:t>
            </a:r>
            <a:r>
              <a:rPr lang="en-IN" sz="5400" baseline="-25000" dirty="0">
                <a:solidFill>
                  <a:srgbClr val="000000"/>
                </a:solidFill>
                <a:ea typeface="Times New Roman"/>
              </a:rPr>
              <a:t> </a:t>
            </a:r>
            <a:r>
              <a:rPr lang="en-IN" sz="4000" b="1" baseline="-25000" dirty="0">
                <a:solidFill>
                  <a:srgbClr val="000000"/>
                </a:solidFill>
                <a:ea typeface="Times New Roman"/>
              </a:rPr>
              <a:t>R1.Rollno = R2.Rollno</a:t>
            </a:r>
            <a:r>
              <a:rPr lang="en-IN" sz="3600" dirty="0">
                <a:solidFill>
                  <a:srgbClr val="000000"/>
                </a:solidFill>
                <a:ea typeface="Times New Roman"/>
              </a:rPr>
              <a:t>(R1 x R2</a:t>
            </a:r>
            <a:r>
              <a:rPr lang="en-IN" sz="3600" dirty="0" smtClean="0">
                <a:solidFill>
                  <a:srgbClr val="000000"/>
                </a:solidFill>
                <a:ea typeface="Times New Roman"/>
              </a:rPr>
              <a:t>)))</a:t>
            </a:r>
            <a:endParaRPr lang="en-IN" sz="4000" dirty="0"/>
          </a:p>
          <a:p>
            <a:endParaRPr lang="en-IN" sz="4000" dirty="0" smtClean="0"/>
          </a:p>
          <a:p>
            <a:endParaRPr lang="en-IN" sz="4000" dirty="0" smtClean="0"/>
          </a:p>
          <a:p>
            <a:endParaRPr lang="en-IN" sz="4000" dirty="0" smtClean="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pic>
        <p:nvPicPr>
          <p:cNvPr id="1030"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4191000"/>
            <a:ext cx="5718175"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7780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Join</a:t>
            </a:r>
            <a:br>
              <a:rPr lang="en-IN" dirty="0" smtClean="0"/>
            </a:br>
            <a:r>
              <a:rPr lang="en-IN" dirty="0" smtClean="0"/>
              <a:t>Step-1: Form the Cartesian Product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pic>
        <p:nvPicPr>
          <p:cNvPr id="4097" name="Picture 1"/>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2015128"/>
            <a:ext cx="5875654" cy="1407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5800" y="19812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6800" y="3657600"/>
            <a:ext cx="5861050" cy="3132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295400" y="3272261"/>
            <a:ext cx="1409360" cy="369332"/>
          </a:xfrm>
          <a:prstGeom prst="rect">
            <a:avLst/>
          </a:prstGeom>
        </p:spPr>
        <p:txBody>
          <a:bodyPr wrap="none">
            <a:spAutoFit/>
          </a:bodyPr>
          <a:lstStyle/>
          <a:p>
            <a:r>
              <a:rPr lang="en-IN" b="1" dirty="0"/>
              <a:t>R = R1  ×   R2</a:t>
            </a:r>
            <a:endParaRPr lang="en-IN" dirty="0"/>
          </a:p>
        </p:txBody>
      </p:sp>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5487" y="1295400"/>
            <a:ext cx="113982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Rectangle 13"/>
          <p:cNvSpPr/>
          <p:nvPr/>
        </p:nvSpPr>
        <p:spPr>
          <a:xfrm>
            <a:off x="4605056" y="1500274"/>
            <a:ext cx="561372" cy="461665"/>
          </a:xfrm>
          <a:prstGeom prst="rect">
            <a:avLst/>
          </a:prstGeom>
        </p:spPr>
        <p:txBody>
          <a:bodyPr wrap="none">
            <a:spAutoFit/>
          </a:bodyPr>
          <a:lstStyle/>
          <a:p>
            <a:r>
              <a:rPr lang="en-IN" sz="2400" b="1" dirty="0" smtClean="0">
                <a:latin typeface="Times New Roman" pitchFamily="18" charset="0"/>
                <a:cs typeface="Times New Roman" pitchFamily="18" charset="0"/>
              </a:rPr>
              <a:t>R2</a:t>
            </a:r>
            <a:endParaRPr lang="en-IN"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33638918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Join</a:t>
            </a:r>
            <a:endParaRPr lang="en-IN" dirty="0"/>
          </a:p>
        </p:txBody>
      </p:sp>
      <p:sp>
        <p:nvSpPr>
          <p:cNvPr id="3" name="Content Placeholder 2"/>
          <p:cNvSpPr>
            <a:spLocks noGrp="1"/>
          </p:cNvSpPr>
          <p:nvPr>
            <p:ph idx="1"/>
          </p:nvPr>
        </p:nvSpPr>
        <p:spPr/>
        <p:txBody>
          <a:bodyPr/>
          <a:lstStyle/>
          <a:p>
            <a:r>
              <a:rPr lang="en-IN" dirty="0" smtClean="0"/>
              <a:t>Step-2: Pick rows satisfying the condition R1.Rollno = R2.Rollno</a:t>
            </a:r>
          </a:p>
          <a:p>
            <a:r>
              <a:rPr lang="en-IN" dirty="0" smtClean="0"/>
              <a:t>Here,  Result  R = (σ</a:t>
            </a:r>
            <a:r>
              <a:rPr lang="en-IN" baseline="-25000" dirty="0" smtClean="0"/>
              <a:t> </a:t>
            </a:r>
            <a:r>
              <a:rPr lang="en-IN" baseline="-25000" dirty="0"/>
              <a:t>R1.Rollno = R2.Rollno </a:t>
            </a:r>
            <a:r>
              <a:rPr lang="en-IN" dirty="0"/>
              <a:t> (R1 x R2</a:t>
            </a:r>
            <a:r>
              <a:rPr lang="en-IN" dirty="0" smtClean="0"/>
              <a:t>))</a:t>
            </a:r>
          </a:p>
          <a:p>
            <a:endParaRPr lang="en-IN" dirty="0"/>
          </a:p>
          <a:p>
            <a:pPr marL="0" indent="0">
              <a:buNone/>
            </a:pP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pic>
        <p:nvPicPr>
          <p:cNvPr id="81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39624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79237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Join</a:t>
            </a:r>
            <a:endParaRPr lang="en-IN" dirty="0"/>
          </a:p>
        </p:txBody>
      </p:sp>
      <p:sp>
        <p:nvSpPr>
          <p:cNvPr id="3" name="Content Placeholder 2"/>
          <p:cNvSpPr>
            <a:spLocks noGrp="1"/>
          </p:cNvSpPr>
          <p:nvPr>
            <p:ph idx="1"/>
          </p:nvPr>
        </p:nvSpPr>
        <p:spPr/>
        <p:txBody>
          <a:bodyPr/>
          <a:lstStyle/>
          <a:p>
            <a:r>
              <a:rPr lang="en-IN" dirty="0" smtClean="0"/>
              <a:t>Step-3 : Pick columns namely R1.Rollno, Name, Branch from the </a:t>
            </a:r>
            <a:r>
              <a:rPr lang="en-IN" dirty="0" err="1" smtClean="0"/>
              <a:t>Equi</a:t>
            </a:r>
            <a:r>
              <a:rPr lang="en-IN" dirty="0" smtClean="0"/>
              <a:t>-join Result.</a:t>
            </a:r>
          </a:p>
          <a:p>
            <a:r>
              <a:rPr lang="en-IN" dirty="0" smtClean="0">
                <a:solidFill>
                  <a:srgbClr val="FF0000"/>
                </a:solidFill>
              </a:rPr>
              <a:t>NATURAL     JOIN</a:t>
            </a:r>
          </a:p>
          <a:p>
            <a:endParaRPr lang="en-IN" dirty="0" smtClean="0"/>
          </a:p>
          <a:p>
            <a:endParaRPr lang="en-IN" dirty="0" smtClean="0"/>
          </a:p>
          <a:p>
            <a:endParaRPr lang="en-IN" dirty="0"/>
          </a:p>
          <a:p>
            <a:r>
              <a:rPr lang="en-IN" dirty="0" smtClean="0"/>
              <a:t>R = </a:t>
            </a:r>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pic>
        <p:nvPicPr>
          <p:cNvPr id="5"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3124200"/>
            <a:ext cx="5718175" cy="557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42672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56773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Theta Join (</a:t>
            </a:r>
            <a:r>
              <a:rPr lang="el-GR" b="1" dirty="0" smtClean="0"/>
              <a:t>θ</a:t>
            </a:r>
            <a:r>
              <a:rPr lang="en-IN" b="1" dirty="0" smtClean="0"/>
              <a:t>-Join)</a:t>
            </a:r>
            <a:endParaRPr lang="en-IN" dirty="0"/>
          </a:p>
        </p:txBody>
      </p:sp>
      <p:sp>
        <p:nvSpPr>
          <p:cNvPr id="3" name="Content Placeholder 2"/>
          <p:cNvSpPr>
            <a:spLocks noGrp="1"/>
          </p:cNvSpPr>
          <p:nvPr>
            <p:ph idx="1"/>
          </p:nvPr>
        </p:nvSpPr>
        <p:spPr/>
        <p:txBody>
          <a:bodyPr/>
          <a:lstStyle/>
          <a:p>
            <a:r>
              <a:rPr lang="en-IN" dirty="0" smtClean="0"/>
              <a:t>In </a:t>
            </a:r>
            <a:r>
              <a:rPr lang="en-IN" dirty="0" err="1" smtClean="0"/>
              <a:t>Equi</a:t>
            </a:r>
            <a:r>
              <a:rPr lang="en-IN" dirty="0" smtClean="0"/>
              <a:t>-Join, the selection condition uses the = operator. </a:t>
            </a:r>
          </a:p>
          <a:p>
            <a:r>
              <a:rPr lang="en-IN" dirty="0" err="1" smtClean="0"/>
              <a:t>Eg:</a:t>
            </a:r>
            <a:r>
              <a:rPr lang="en-IN" dirty="0" err="1"/>
              <a:t>R</a:t>
            </a:r>
            <a:r>
              <a:rPr lang="en-IN" dirty="0"/>
              <a:t> = </a:t>
            </a:r>
            <a:r>
              <a:rPr lang="en-IN" dirty="0" smtClean="0"/>
              <a:t>(σ</a:t>
            </a:r>
            <a:r>
              <a:rPr lang="en-IN" baseline="-25000" dirty="0" smtClean="0"/>
              <a:t> </a:t>
            </a:r>
            <a:r>
              <a:rPr lang="en-IN" baseline="-25000" dirty="0"/>
              <a:t>R1.Rollno = R2.Rollno </a:t>
            </a:r>
            <a:r>
              <a:rPr lang="en-IN" dirty="0"/>
              <a:t> (R1 x R2</a:t>
            </a:r>
            <a:r>
              <a:rPr lang="en-IN" dirty="0" smtClean="0"/>
              <a:t>))</a:t>
            </a:r>
          </a:p>
          <a:p>
            <a:r>
              <a:rPr lang="en-IN" dirty="0" smtClean="0"/>
              <a:t>However, if we use less than symbol,</a:t>
            </a:r>
          </a:p>
          <a:p>
            <a:r>
              <a:rPr lang="en-IN" dirty="0" smtClean="0"/>
              <a:t>R </a:t>
            </a:r>
            <a:r>
              <a:rPr lang="en-IN" dirty="0"/>
              <a:t>= (σ</a:t>
            </a:r>
            <a:r>
              <a:rPr lang="en-IN" baseline="-25000" dirty="0"/>
              <a:t> R1.Rollno </a:t>
            </a:r>
            <a:r>
              <a:rPr lang="en-IN" baseline="-25000" dirty="0" smtClean="0"/>
              <a:t>&lt;</a:t>
            </a:r>
            <a:r>
              <a:rPr lang="en-IN" dirty="0" smtClean="0"/>
              <a:t> </a:t>
            </a:r>
            <a:r>
              <a:rPr lang="en-IN" baseline="-25000" dirty="0" smtClean="0"/>
              <a:t>R2.Rollno </a:t>
            </a:r>
            <a:r>
              <a:rPr lang="en-IN" dirty="0" smtClean="0"/>
              <a:t> </a:t>
            </a:r>
            <a:r>
              <a:rPr lang="en-IN" dirty="0"/>
              <a:t>(R1 x R2</a:t>
            </a:r>
            <a:r>
              <a:rPr lang="en-IN" dirty="0" smtClean="0"/>
              <a:t>)), we get less than Join.</a:t>
            </a:r>
          </a:p>
          <a:p>
            <a:r>
              <a:rPr lang="en-IN" dirty="0" smtClean="0"/>
              <a:t>If we use &lt;=, we get less than or equal to join.</a:t>
            </a:r>
            <a:endParaRPr lang="en-IN" dirty="0"/>
          </a:p>
          <a:p>
            <a:endParaRPr lang="en-IN" dirty="0" smtClean="0"/>
          </a:p>
          <a:p>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248000953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Theta Join (</a:t>
            </a:r>
            <a:r>
              <a:rPr lang="el-GR" b="1" dirty="0"/>
              <a:t>θ</a:t>
            </a:r>
            <a:r>
              <a:rPr lang="en-IN" b="1" dirty="0"/>
              <a:t>-Join)</a:t>
            </a:r>
            <a:endParaRPr lang="en-IN" dirty="0"/>
          </a:p>
        </p:txBody>
      </p:sp>
      <p:sp>
        <p:nvSpPr>
          <p:cNvPr id="3" name="Content Placeholder 2"/>
          <p:cNvSpPr>
            <a:spLocks noGrp="1"/>
          </p:cNvSpPr>
          <p:nvPr>
            <p:ph idx="1"/>
          </p:nvPr>
        </p:nvSpPr>
        <p:spPr/>
        <p:txBody>
          <a:bodyPr>
            <a:normAutofit lnSpcReduction="10000"/>
          </a:bodyPr>
          <a:lstStyle/>
          <a:p>
            <a:r>
              <a:rPr lang="en-IN" dirty="0"/>
              <a:t>If we use </a:t>
            </a:r>
            <a:r>
              <a:rPr lang="en-IN" dirty="0" smtClean="0"/>
              <a:t>&gt;=, </a:t>
            </a:r>
            <a:r>
              <a:rPr lang="en-IN" dirty="0"/>
              <a:t>we get </a:t>
            </a:r>
            <a:r>
              <a:rPr lang="en-IN" dirty="0" smtClean="0"/>
              <a:t>greater </a:t>
            </a:r>
            <a:r>
              <a:rPr lang="en-IN" dirty="0"/>
              <a:t>than or equal to join</a:t>
            </a:r>
            <a:r>
              <a:rPr lang="en-IN" dirty="0" smtClean="0"/>
              <a:t>.</a:t>
            </a:r>
          </a:p>
          <a:p>
            <a:r>
              <a:rPr lang="en-IN" dirty="0"/>
              <a:t>If we use  </a:t>
            </a:r>
            <a:r>
              <a:rPr lang="en-IN" dirty="0" smtClean="0"/>
              <a:t>&gt; , </a:t>
            </a:r>
            <a:r>
              <a:rPr lang="en-IN" dirty="0"/>
              <a:t>we get </a:t>
            </a:r>
            <a:r>
              <a:rPr lang="en-IN" dirty="0" smtClean="0"/>
              <a:t>greater  </a:t>
            </a:r>
            <a:r>
              <a:rPr lang="en-IN" dirty="0"/>
              <a:t>than </a:t>
            </a:r>
            <a:r>
              <a:rPr lang="en-IN" dirty="0" smtClean="0"/>
              <a:t> </a:t>
            </a:r>
            <a:r>
              <a:rPr lang="en-IN" dirty="0"/>
              <a:t>join</a:t>
            </a:r>
            <a:r>
              <a:rPr lang="en-IN" dirty="0" smtClean="0"/>
              <a:t>.</a:t>
            </a:r>
          </a:p>
          <a:p>
            <a:r>
              <a:rPr lang="en-IN" dirty="0"/>
              <a:t>If we use </a:t>
            </a:r>
            <a:r>
              <a:rPr lang="en-IN" dirty="0" smtClean="0"/>
              <a:t>&lt;&gt;, </a:t>
            </a:r>
            <a:r>
              <a:rPr lang="en-IN" dirty="0"/>
              <a:t>we get </a:t>
            </a:r>
            <a:r>
              <a:rPr lang="en-IN" dirty="0" smtClean="0"/>
              <a:t>not  </a:t>
            </a:r>
            <a:r>
              <a:rPr lang="en-IN" dirty="0"/>
              <a:t>equal to join</a:t>
            </a:r>
            <a:r>
              <a:rPr lang="en-IN" dirty="0" smtClean="0"/>
              <a:t>.</a:t>
            </a:r>
          </a:p>
          <a:p>
            <a:r>
              <a:rPr lang="en-IN" dirty="0" smtClean="0"/>
              <a:t>In general,  if we use the </a:t>
            </a:r>
            <a:r>
              <a:rPr lang="el-GR" dirty="0" smtClean="0"/>
              <a:t>θ</a:t>
            </a:r>
            <a:r>
              <a:rPr lang="en-IN" dirty="0"/>
              <a:t> </a:t>
            </a:r>
            <a:r>
              <a:rPr lang="en-IN" dirty="0" smtClean="0"/>
              <a:t>operator, we get</a:t>
            </a:r>
          </a:p>
          <a:p>
            <a:pPr marL="0" indent="0">
              <a:buNone/>
            </a:pPr>
            <a:r>
              <a:rPr lang="el-GR" dirty="0"/>
              <a:t>θ</a:t>
            </a:r>
            <a:r>
              <a:rPr lang="en-IN" dirty="0" smtClean="0"/>
              <a:t>-Join.</a:t>
            </a:r>
            <a:endParaRPr lang="en-IN" dirty="0"/>
          </a:p>
          <a:p>
            <a:pPr marL="0" indent="0">
              <a:buNone/>
            </a:pPr>
            <a:r>
              <a:rPr lang="en-IN" dirty="0" smtClean="0"/>
              <a:t>Here, theta can be any one of the following:</a:t>
            </a:r>
          </a:p>
          <a:p>
            <a:pPr marL="0" indent="0">
              <a:buNone/>
            </a:pPr>
            <a:r>
              <a:rPr lang="en-IN" dirty="0" smtClean="0"/>
              <a:t>&lt;, &lt;=, =, &lt;&gt;, &gt;, &gt;=</a:t>
            </a:r>
            <a:endParaRPr lang="en-IN" dirty="0"/>
          </a:p>
          <a:p>
            <a:endParaRPr lang="en-IN"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3215012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9221"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9222" name="Rectangle 4"/>
          <p:cNvSpPr>
            <a:spLocks noGrp="1" noChangeArrowheads="1"/>
          </p:cNvSpPr>
          <p:nvPr>
            <p:ph type="title"/>
          </p:nvPr>
        </p:nvSpPr>
        <p:spPr>
          <a:noFill/>
        </p:spPr>
        <p:txBody>
          <a:bodyPr/>
          <a:lstStyle/>
          <a:p>
            <a:r>
              <a:rPr lang="en-US" altLang="zh-CN" smtClean="0">
                <a:ea typeface="宋体" pitchFamily="2" charset="-122"/>
              </a:rPr>
              <a:t>Division</a:t>
            </a:r>
          </a:p>
        </p:txBody>
      </p:sp>
      <p:sp>
        <p:nvSpPr>
          <p:cNvPr id="9223" name="Rectangle 5"/>
          <p:cNvSpPr>
            <a:spLocks noGrp="1" noChangeArrowheads="1"/>
          </p:cNvSpPr>
          <p:nvPr>
            <p:ph type="body" idx="1"/>
          </p:nvPr>
        </p:nvSpPr>
        <p:spPr>
          <a:xfrm>
            <a:off x="76200" y="1600200"/>
            <a:ext cx="8991600" cy="5029200"/>
          </a:xfrm>
          <a:noFill/>
        </p:spPr>
        <p:txBody>
          <a:bodyPr>
            <a:normAutofit fontScale="92500"/>
          </a:bodyPr>
          <a:lstStyle/>
          <a:p>
            <a:r>
              <a:rPr lang="en-US" altLang="zh-CN" dirty="0" smtClean="0">
                <a:ea typeface="宋体" pitchFamily="2" charset="-122"/>
              </a:rPr>
              <a:t>Not supported as a primitive operator, but useful for expressing queries like:                                                                                                      	</a:t>
            </a:r>
            <a:r>
              <a:rPr lang="en-US" altLang="zh-CN" i="1" dirty="0" smtClean="0">
                <a:ea typeface="宋体" pitchFamily="2" charset="-122"/>
              </a:rPr>
              <a:t>Find sailors who have reserved </a:t>
            </a:r>
            <a:r>
              <a:rPr lang="en-US" altLang="zh-CN" b="1" i="1" u="sng" dirty="0" smtClean="0">
                <a:solidFill>
                  <a:schemeClr val="accent2"/>
                </a:solidFill>
                <a:ea typeface="宋体" pitchFamily="2" charset="-122"/>
              </a:rPr>
              <a:t>all</a:t>
            </a:r>
            <a:r>
              <a:rPr lang="en-US" altLang="zh-CN" i="1" dirty="0" smtClean="0">
                <a:solidFill>
                  <a:schemeClr val="accent2"/>
                </a:solidFill>
                <a:ea typeface="宋体" pitchFamily="2" charset="-122"/>
              </a:rPr>
              <a:t> </a:t>
            </a:r>
            <a:r>
              <a:rPr lang="en-US" altLang="zh-CN" i="1" dirty="0" smtClean="0">
                <a:ea typeface="宋体" pitchFamily="2" charset="-122"/>
              </a:rPr>
              <a:t>boats</a:t>
            </a:r>
            <a:r>
              <a:rPr lang="en-US" altLang="zh-CN" dirty="0" smtClean="0">
                <a:ea typeface="宋体" pitchFamily="2" charset="-122"/>
              </a:rPr>
              <a:t>.</a:t>
            </a:r>
          </a:p>
          <a:p>
            <a:r>
              <a:rPr lang="en-US" altLang="zh-CN" dirty="0" smtClean="0">
                <a:ea typeface="宋体" pitchFamily="2" charset="-122"/>
              </a:rPr>
              <a:t>Let </a:t>
            </a:r>
            <a:r>
              <a:rPr lang="en-US" altLang="zh-CN" i="1" dirty="0" smtClean="0">
                <a:ea typeface="宋体" pitchFamily="2" charset="-122"/>
              </a:rPr>
              <a:t>A</a:t>
            </a:r>
            <a:r>
              <a:rPr lang="en-US" altLang="zh-CN" dirty="0" smtClean="0">
                <a:ea typeface="宋体" pitchFamily="2" charset="-122"/>
              </a:rPr>
              <a:t> have 2 fields, </a:t>
            </a:r>
            <a:r>
              <a:rPr lang="en-US" altLang="zh-CN" i="1" dirty="0" smtClean="0">
                <a:ea typeface="宋体" pitchFamily="2" charset="-122"/>
              </a:rPr>
              <a:t>x</a:t>
            </a:r>
            <a:r>
              <a:rPr lang="en-US" altLang="zh-CN" dirty="0" smtClean="0">
                <a:ea typeface="宋体" pitchFamily="2" charset="-122"/>
              </a:rPr>
              <a:t> and </a:t>
            </a:r>
            <a:r>
              <a:rPr lang="en-US" altLang="zh-CN" i="1" dirty="0" smtClean="0">
                <a:ea typeface="宋体" pitchFamily="2" charset="-122"/>
              </a:rPr>
              <a:t>y</a:t>
            </a:r>
            <a:r>
              <a:rPr lang="en-US" altLang="zh-CN" dirty="0" smtClean="0">
                <a:ea typeface="宋体" pitchFamily="2" charset="-122"/>
              </a:rPr>
              <a:t>; </a:t>
            </a:r>
            <a:r>
              <a:rPr lang="en-US" altLang="zh-CN" i="1" dirty="0" smtClean="0">
                <a:ea typeface="宋体" pitchFamily="2" charset="-122"/>
              </a:rPr>
              <a:t>B</a:t>
            </a:r>
            <a:r>
              <a:rPr lang="en-US" altLang="zh-CN" dirty="0" smtClean="0">
                <a:ea typeface="宋体" pitchFamily="2" charset="-122"/>
              </a:rPr>
              <a:t> have only field </a:t>
            </a:r>
            <a:r>
              <a:rPr lang="en-US" altLang="zh-CN" i="1" dirty="0" smtClean="0">
                <a:ea typeface="宋体" pitchFamily="2" charset="-122"/>
              </a:rPr>
              <a:t>y</a:t>
            </a:r>
            <a:r>
              <a:rPr lang="en-US" altLang="zh-CN" dirty="0" smtClean="0">
                <a:ea typeface="宋体" pitchFamily="2" charset="-122"/>
              </a:rPr>
              <a:t>:</a:t>
            </a:r>
          </a:p>
          <a:p>
            <a:endParaRPr lang="en-US" altLang="zh-CN" dirty="0" smtClean="0">
              <a:ea typeface="宋体" pitchFamily="2" charset="-122"/>
            </a:endParaRPr>
          </a:p>
          <a:p>
            <a:pPr lvl="1">
              <a:buSzPct val="75000"/>
            </a:pPr>
            <a:r>
              <a:rPr lang="en-US" altLang="zh-CN" sz="2800" i="1" dirty="0" smtClean="0">
                <a:ea typeface="宋体" pitchFamily="2" charset="-122"/>
              </a:rPr>
              <a:t>A/B </a:t>
            </a:r>
            <a:r>
              <a:rPr lang="en-US" altLang="zh-CN" dirty="0" smtClean="0">
                <a:ea typeface="宋体" pitchFamily="2" charset="-122"/>
              </a:rPr>
              <a:t>= </a:t>
            </a:r>
          </a:p>
          <a:p>
            <a:pPr lvl="1">
              <a:buSzPct val="75000"/>
            </a:pPr>
            <a:r>
              <a:rPr lang="en-US" altLang="zh-CN" dirty="0" smtClean="0">
                <a:ea typeface="宋体" pitchFamily="2" charset="-122"/>
              </a:rPr>
              <a:t>i.e., </a:t>
            </a:r>
            <a:r>
              <a:rPr lang="en-US" altLang="zh-CN" b="1" i="1" dirty="0" smtClean="0">
                <a:solidFill>
                  <a:schemeClr val="accent2"/>
                </a:solidFill>
                <a:ea typeface="宋体" pitchFamily="2" charset="-122"/>
              </a:rPr>
              <a:t>A/B </a:t>
            </a:r>
            <a:r>
              <a:rPr lang="en-US" altLang="zh-CN" b="1" dirty="0" smtClean="0">
                <a:solidFill>
                  <a:schemeClr val="accent2"/>
                </a:solidFill>
                <a:ea typeface="宋体" pitchFamily="2" charset="-122"/>
              </a:rPr>
              <a:t>contains all </a:t>
            </a:r>
            <a:r>
              <a:rPr lang="en-US" altLang="zh-CN" b="1" i="1" dirty="0" smtClean="0">
                <a:solidFill>
                  <a:schemeClr val="accent2"/>
                </a:solidFill>
                <a:ea typeface="宋体" pitchFamily="2" charset="-122"/>
              </a:rPr>
              <a:t>x</a:t>
            </a:r>
            <a:r>
              <a:rPr lang="en-US" altLang="zh-CN" b="1" dirty="0" smtClean="0">
                <a:solidFill>
                  <a:schemeClr val="accent2"/>
                </a:solidFill>
                <a:ea typeface="宋体" pitchFamily="2" charset="-122"/>
              </a:rPr>
              <a:t> tuples (sailors) such that for </a:t>
            </a:r>
            <a:r>
              <a:rPr lang="en-US" altLang="zh-CN" b="1" i="1" u="sng" dirty="0" smtClean="0">
                <a:solidFill>
                  <a:schemeClr val="accent2"/>
                </a:solidFill>
                <a:ea typeface="宋体" pitchFamily="2" charset="-122"/>
              </a:rPr>
              <a:t>every</a:t>
            </a:r>
            <a:r>
              <a:rPr lang="en-US" altLang="zh-CN" b="1" dirty="0" smtClean="0">
                <a:solidFill>
                  <a:schemeClr val="accent2"/>
                </a:solidFill>
                <a:ea typeface="宋体" pitchFamily="2" charset="-122"/>
              </a:rPr>
              <a:t> </a:t>
            </a:r>
            <a:r>
              <a:rPr lang="en-US" altLang="zh-CN" b="1" i="1" dirty="0" smtClean="0">
                <a:solidFill>
                  <a:schemeClr val="accent2"/>
                </a:solidFill>
                <a:ea typeface="宋体" pitchFamily="2" charset="-122"/>
              </a:rPr>
              <a:t>y</a:t>
            </a:r>
            <a:r>
              <a:rPr lang="en-US" altLang="zh-CN" b="1" dirty="0" smtClean="0">
                <a:solidFill>
                  <a:schemeClr val="accent2"/>
                </a:solidFill>
                <a:ea typeface="宋体" pitchFamily="2" charset="-122"/>
              </a:rPr>
              <a:t> tuple (boat) in </a:t>
            </a:r>
            <a:r>
              <a:rPr lang="en-US" altLang="zh-CN" b="1" i="1" dirty="0" smtClean="0">
                <a:solidFill>
                  <a:schemeClr val="accent2"/>
                </a:solidFill>
                <a:ea typeface="宋体" pitchFamily="2" charset="-122"/>
              </a:rPr>
              <a:t>B</a:t>
            </a:r>
            <a:r>
              <a:rPr lang="en-US" altLang="zh-CN" b="1" dirty="0" smtClean="0">
                <a:solidFill>
                  <a:schemeClr val="accent2"/>
                </a:solidFill>
                <a:ea typeface="宋体" pitchFamily="2" charset="-122"/>
              </a:rPr>
              <a:t>, there is an </a:t>
            </a:r>
            <a:r>
              <a:rPr lang="en-US" altLang="zh-CN" b="1" i="1" dirty="0" err="1" smtClean="0">
                <a:solidFill>
                  <a:schemeClr val="accent2"/>
                </a:solidFill>
                <a:ea typeface="宋体" pitchFamily="2" charset="-122"/>
              </a:rPr>
              <a:t>xy</a:t>
            </a:r>
            <a:r>
              <a:rPr lang="en-US" altLang="zh-CN" b="1" dirty="0" smtClean="0">
                <a:solidFill>
                  <a:schemeClr val="accent2"/>
                </a:solidFill>
                <a:ea typeface="宋体" pitchFamily="2" charset="-122"/>
              </a:rPr>
              <a:t> tuple in </a:t>
            </a:r>
            <a:r>
              <a:rPr lang="en-US" altLang="zh-CN" b="1" i="1" dirty="0" smtClean="0">
                <a:solidFill>
                  <a:schemeClr val="accent2"/>
                </a:solidFill>
                <a:ea typeface="宋体" pitchFamily="2" charset="-122"/>
              </a:rPr>
              <a:t>A</a:t>
            </a:r>
            <a:r>
              <a:rPr lang="en-US" altLang="zh-CN" b="1" dirty="0" smtClean="0">
                <a:ea typeface="宋体" pitchFamily="2" charset="-122"/>
              </a:rPr>
              <a:t>.</a:t>
            </a:r>
            <a:endParaRPr lang="en-US" altLang="zh-CN" dirty="0" smtClean="0">
              <a:ea typeface="宋体" pitchFamily="2" charset="-122"/>
            </a:endParaRPr>
          </a:p>
          <a:p>
            <a:pPr lvl="1">
              <a:buSzPct val="75000"/>
            </a:pPr>
            <a:r>
              <a:rPr lang="en-US" altLang="zh-CN" i="1" dirty="0" smtClean="0">
                <a:ea typeface="宋体" pitchFamily="2" charset="-122"/>
              </a:rPr>
              <a:t>Or</a:t>
            </a:r>
            <a:r>
              <a:rPr lang="en-US" altLang="zh-CN" dirty="0" smtClean="0">
                <a:ea typeface="宋体" pitchFamily="2" charset="-122"/>
              </a:rPr>
              <a:t>:  If the set of </a:t>
            </a:r>
            <a:r>
              <a:rPr lang="en-US" altLang="zh-CN" i="1" dirty="0" smtClean="0">
                <a:ea typeface="宋体" pitchFamily="2" charset="-122"/>
              </a:rPr>
              <a:t>y</a:t>
            </a:r>
            <a:r>
              <a:rPr lang="en-US" altLang="zh-CN" dirty="0" smtClean="0">
                <a:ea typeface="宋体" pitchFamily="2" charset="-122"/>
              </a:rPr>
              <a:t> values (boats) associated with an </a:t>
            </a:r>
            <a:r>
              <a:rPr lang="en-US" altLang="zh-CN" i="1" dirty="0" smtClean="0">
                <a:ea typeface="宋体" pitchFamily="2" charset="-122"/>
              </a:rPr>
              <a:t>x </a:t>
            </a:r>
            <a:r>
              <a:rPr lang="en-US" altLang="zh-CN" dirty="0" smtClean="0">
                <a:ea typeface="宋体" pitchFamily="2" charset="-122"/>
              </a:rPr>
              <a:t>value (sailor) in </a:t>
            </a:r>
            <a:r>
              <a:rPr lang="en-US" altLang="zh-CN" i="1" dirty="0" smtClean="0">
                <a:ea typeface="宋体" pitchFamily="2" charset="-122"/>
              </a:rPr>
              <a:t>A</a:t>
            </a:r>
            <a:r>
              <a:rPr lang="en-US" altLang="zh-CN" dirty="0" smtClean="0">
                <a:ea typeface="宋体" pitchFamily="2" charset="-122"/>
              </a:rPr>
              <a:t> contains all </a:t>
            </a:r>
            <a:r>
              <a:rPr lang="en-US" altLang="zh-CN" i="1" dirty="0" smtClean="0">
                <a:ea typeface="宋体" pitchFamily="2" charset="-122"/>
              </a:rPr>
              <a:t>y </a:t>
            </a:r>
            <a:r>
              <a:rPr lang="en-US" altLang="zh-CN" dirty="0" smtClean="0">
                <a:ea typeface="宋体" pitchFamily="2" charset="-122"/>
              </a:rPr>
              <a:t>values in </a:t>
            </a:r>
            <a:r>
              <a:rPr lang="en-US" altLang="zh-CN" i="1" dirty="0" smtClean="0">
                <a:ea typeface="宋体" pitchFamily="2" charset="-122"/>
              </a:rPr>
              <a:t>B</a:t>
            </a:r>
            <a:r>
              <a:rPr lang="en-US" altLang="zh-CN" dirty="0" smtClean="0">
                <a:ea typeface="宋体" pitchFamily="2" charset="-122"/>
              </a:rPr>
              <a:t>, the </a:t>
            </a:r>
            <a:r>
              <a:rPr lang="en-US" altLang="zh-CN" i="1" dirty="0" smtClean="0">
                <a:ea typeface="宋体" pitchFamily="2" charset="-122"/>
              </a:rPr>
              <a:t>x </a:t>
            </a:r>
            <a:r>
              <a:rPr lang="en-US" altLang="zh-CN" dirty="0" smtClean="0">
                <a:ea typeface="宋体" pitchFamily="2" charset="-122"/>
              </a:rPr>
              <a:t>value is in </a:t>
            </a:r>
            <a:r>
              <a:rPr lang="en-US" altLang="zh-CN" i="1" dirty="0" smtClean="0">
                <a:ea typeface="宋体" pitchFamily="2" charset="-122"/>
              </a:rPr>
              <a:t>A/B</a:t>
            </a:r>
            <a:r>
              <a:rPr lang="en-US" altLang="zh-CN" dirty="0" smtClean="0">
                <a:ea typeface="宋体" pitchFamily="2" charset="-122"/>
              </a:rPr>
              <a:t>.</a:t>
            </a:r>
          </a:p>
        </p:txBody>
      </p:sp>
      <p:graphicFrame>
        <p:nvGraphicFramePr>
          <p:cNvPr id="9218" name="Object 6">
            <a:hlinkClick r:id="" action="ppaction://ole?verb=0"/>
          </p:cNvPr>
          <p:cNvGraphicFramePr>
            <a:graphicFrameLocks/>
          </p:cNvGraphicFramePr>
          <p:nvPr/>
        </p:nvGraphicFramePr>
        <p:xfrm>
          <a:off x="2078038" y="3429000"/>
          <a:ext cx="5160962" cy="685800"/>
        </p:xfrm>
        <a:graphic>
          <a:graphicData uri="http://schemas.openxmlformats.org/presentationml/2006/ole">
            <mc:AlternateContent xmlns:mc="http://schemas.openxmlformats.org/markup-compatibility/2006">
              <mc:Choice xmlns:v="urn:schemas-microsoft-com:vml" Requires="v">
                <p:oleObj spid="_x0000_s2113" name="Equation" r:id="rId4" imgW="5160600" imgH="685440" progId="Equation.3">
                  <p:embed/>
                </p:oleObj>
              </mc:Choice>
              <mc:Fallback>
                <p:oleObj name="Equation" r:id="rId4" imgW="5160600" imgH="68544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8038" y="3429000"/>
                        <a:ext cx="5160962"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50677908"/>
      </p:ext>
    </p:extLst>
  </p:cSld>
  <p:clrMapOvr>
    <a:masterClrMapping/>
  </p:clrMapOvr>
  <p:transition>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0250"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0251" name="Rectangle 4"/>
          <p:cNvSpPr>
            <a:spLocks noGrp="1" noChangeArrowheads="1"/>
          </p:cNvSpPr>
          <p:nvPr>
            <p:ph type="title"/>
          </p:nvPr>
        </p:nvSpPr>
        <p:spPr>
          <a:noFill/>
        </p:spPr>
        <p:txBody>
          <a:bodyPr/>
          <a:lstStyle/>
          <a:p>
            <a:r>
              <a:rPr lang="en-US" altLang="zh-CN" smtClean="0">
                <a:ea typeface="宋体" pitchFamily="2" charset="-122"/>
              </a:rPr>
              <a:t>Examples of Division A/B</a:t>
            </a:r>
          </a:p>
        </p:txBody>
      </p:sp>
      <p:graphicFrame>
        <p:nvGraphicFramePr>
          <p:cNvPr id="10242" name="Object 5">
            <a:hlinkClick r:id="" action="ppaction://ole?verb=0"/>
          </p:cNvPr>
          <p:cNvGraphicFramePr>
            <a:graphicFrameLocks/>
          </p:cNvGraphicFramePr>
          <p:nvPr/>
        </p:nvGraphicFramePr>
        <p:xfrm>
          <a:off x="831850" y="1746250"/>
          <a:ext cx="2003425" cy="4273550"/>
        </p:xfrm>
        <a:graphic>
          <a:graphicData uri="http://schemas.openxmlformats.org/presentationml/2006/ole">
            <mc:AlternateContent xmlns:mc="http://schemas.openxmlformats.org/markup-compatibility/2006">
              <mc:Choice xmlns:v="urn:schemas-microsoft-com:vml" Requires="v">
                <p:oleObj spid="_x0000_s3508" name="Document" r:id="rId4" imgW="2003400" imgH="4273200" progId="Word.Document.8">
                  <p:embed/>
                </p:oleObj>
              </mc:Choice>
              <mc:Fallback>
                <p:oleObj name="Document" r:id="rId4" imgW="2003400" imgH="4273200" progId="Word.Document.8">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1850" y="1746250"/>
                        <a:ext cx="2003425" cy="427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3" name="Object 6">
            <a:hlinkClick r:id="" action="ppaction://ole?verb=0"/>
          </p:cNvPr>
          <p:cNvGraphicFramePr>
            <a:graphicFrameLocks/>
          </p:cNvGraphicFramePr>
          <p:nvPr/>
        </p:nvGraphicFramePr>
        <p:xfrm>
          <a:off x="3429000" y="1747838"/>
          <a:ext cx="1177925" cy="1047750"/>
        </p:xfrm>
        <a:graphic>
          <a:graphicData uri="http://schemas.openxmlformats.org/presentationml/2006/ole">
            <mc:AlternateContent xmlns:mc="http://schemas.openxmlformats.org/markup-compatibility/2006">
              <mc:Choice xmlns:v="urn:schemas-microsoft-com:vml" Requires="v">
                <p:oleObj spid="_x0000_s3509" name="Document" r:id="rId6" imgW="1177920" imgH="1047600" progId="Word.Document.8">
                  <p:embed/>
                </p:oleObj>
              </mc:Choice>
              <mc:Fallback>
                <p:oleObj name="Document" r:id="rId6" imgW="1177920" imgH="1047600" progId="Word.Document.8">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9000" y="1747838"/>
                        <a:ext cx="117792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4" name="Object 7">
            <a:hlinkClick r:id="" action="ppaction://ole?verb=0"/>
          </p:cNvPr>
          <p:cNvGraphicFramePr>
            <a:graphicFrameLocks/>
          </p:cNvGraphicFramePr>
          <p:nvPr/>
        </p:nvGraphicFramePr>
        <p:xfrm>
          <a:off x="5562600" y="1747838"/>
          <a:ext cx="1339850" cy="1651000"/>
        </p:xfrm>
        <a:graphic>
          <a:graphicData uri="http://schemas.openxmlformats.org/presentationml/2006/ole">
            <mc:AlternateContent xmlns:mc="http://schemas.openxmlformats.org/markup-compatibility/2006">
              <mc:Choice xmlns:v="urn:schemas-microsoft-com:vml" Requires="v">
                <p:oleObj spid="_x0000_s3510" name="Document" r:id="rId8" imgW="1339560" imgH="1650960" progId="Word.Document.8">
                  <p:embed/>
                </p:oleObj>
              </mc:Choice>
              <mc:Fallback>
                <p:oleObj name="Document" r:id="rId8" imgW="1339560" imgH="1650960" progId="Word.Document.8">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2600" y="1747838"/>
                        <a:ext cx="1339850"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5" name="Object 8">
            <a:hlinkClick r:id="" action="ppaction://ole?verb=0"/>
          </p:cNvPr>
          <p:cNvGraphicFramePr>
            <a:graphicFrameLocks/>
          </p:cNvGraphicFramePr>
          <p:nvPr/>
        </p:nvGraphicFramePr>
        <p:xfrm>
          <a:off x="7624763" y="1747838"/>
          <a:ext cx="1339850" cy="2100262"/>
        </p:xfrm>
        <a:graphic>
          <a:graphicData uri="http://schemas.openxmlformats.org/presentationml/2006/ole">
            <mc:AlternateContent xmlns:mc="http://schemas.openxmlformats.org/markup-compatibility/2006">
              <mc:Choice xmlns:v="urn:schemas-microsoft-com:vml" Requires="v">
                <p:oleObj spid="_x0000_s3511" name="Document" r:id="rId10" imgW="1339560" imgH="2100240" progId="Word.Document.8">
                  <p:embed/>
                </p:oleObj>
              </mc:Choice>
              <mc:Fallback>
                <p:oleObj name="Document" r:id="rId10" imgW="1339560" imgH="2100240" progId="Word.Document.8">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624763" y="1747838"/>
                        <a:ext cx="1339850"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6" name="Object 9">
            <a:hlinkClick r:id="" action="ppaction://ole?verb=0"/>
          </p:cNvPr>
          <p:cNvGraphicFramePr>
            <a:graphicFrameLocks/>
          </p:cNvGraphicFramePr>
          <p:nvPr/>
        </p:nvGraphicFramePr>
        <p:xfrm>
          <a:off x="3433763" y="3729038"/>
          <a:ext cx="1339850" cy="2263775"/>
        </p:xfrm>
        <a:graphic>
          <a:graphicData uri="http://schemas.openxmlformats.org/presentationml/2006/ole">
            <mc:AlternateContent xmlns:mc="http://schemas.openxmlformats.org/markup-compatibility/2006">
              <mc:Choice xmlns:v="urn:schemas-microsoft-com:vml" Requires="v">
                <p:oleObj spid="_x0000_s3512" name="Document" r:id="rId12" imgW="1339560" imgH="2263680" progId="Word.Document.8">
                  <p:embed/>
                </p:oleObj>
              </mc:Choice>
              <mc:Fallback>
                <p:oleObj name="Document" r:id="rId12" imgW="1339560" imgH="2263680" progId="Word.Document.8">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33763" y="3729038"/>
                        <a:ext cx="1339850" cy="226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7" name="Object 10">
            <a:hlinkClick r:id="" action="ppaction://ole?verb=0"/>
          </p:cNvPr>
          <p:cNvGraphicFramePr>
            <a:graphicFrameLocks/>
          </p:cNvGraphicFramePr>
          <p:nvPr/>
        </p:nvGraphicFramePr>
        <p:xfrm>
          <a:off x="5562600" y="4491038"/>
          <a:ext cx="1339850" cy="1452562"/>
        </p:xfrm>
        <a:graphic>
          <a:graphicData uri="http://schemas.openxmlformats.org/presentationml/2006/ole">
            <mc:AlternateContent xmlns:mc="http://schemas.openxmlformats.org/markup-compatibility/2006">
              <mc:Choice xmlns:v="urn:schemas-microsoft-com:vml" Requires="v">
                <p:oleObj spid="_x0000_s3513" name="Document" r:id="rId14" imgW="1339560" imgH="1452240" progId="Word.Document.8">
                  <p:embed/>
                </p:oleObj>
              </mc:Choice>
              <mc:Fallback>
                <p:oleObj name="Document" r:id="rId14" imgW="1339560" imgH="1452240" progId="Word.Document.8">
                  <p:embed/>
                  <p:pic>
                    <p:nvPicPr>
                      <p:cNvPr id="0" name=""/>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62600" y="4491038"/>
                        <a:ext cx="1339850" cy="145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48" name="Object 11">
            <a:hlinkClick r:id="" action="ppaction://ole?verb=0"/>
          </p:cNvPr>
          <p:cNvGraphicFramePr>
            <a:graphicFrameLocks/>
          </p:cNvGraphicFramePr>
          <p:nvPr/>
        </p:nvGraphicFramePr>
        <p:xfrm>
          <a:off x="7700963" y="4876800"/>
          <a:ext cx="1339850" cy="1333500"/>
        </p:xfrm>
        <a:graphic>
          <a:graphicData uri="http://schemas.openxmlformats.org/presentationml/2006/ole">
            <mc:AlternateContent xmlns:mc="http://schemas.openxmlformats.org/markup-compatibility/2006">
              <mc:Choice xmlns:v="urn:schemas-microsoft-com:vml" Requires="v">
                <p:oleObj spid="_x0000_s3514" name="Document" r:id="rId16" imgW="1339560" imgH="1333440" progId="Word.Document.8">
                  <p:embed/>
                </p:oleObj>
              </mc:Choice>
              <mc:Fallback>
                <p:oleObj name="Document" r:id="rId16" imgW="1339560" imgH="1333440" progId="Word.Document.8">
                  <p:embed/>
                  <p:pic>
                    <p:nvPicPr>
                      <p:cNvPr id="0" name=""/>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700963" y="4876800"/>
                        <a:ext cx="1339850"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52" name="Rectangle 12"/>
          <p:cNvSpPr>
            <a:spLocks noChangeArrowheads="1"/>
          </p:cNvSpPr>
          <p:nvPr/>
        </p:nvSpPr>
        <p:spPr bwMode="auto">
          <a:xfrm>
            <a:off x="1435100" y="5838825"/>
            <a:ext cx="4746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A</a:t>
            </a:r>
          </a:p>
        </p:txBody>
      </p:sp>
      <p:sp>
        <p:nvSpPr>
          <p:cNvPr id="10253" name="Rectangle 13"/>
          <p:cNvSpPr>
            <a:spLocks noChangeArrowheads="1"/>
          </p:cNvSpPr>
          <p:nvPr/>
        </p:nvSpPr>
        <p:spPr bwMode="auto">
          <a:xfrm>
            <a:off x="3568700" y="2640013"/>
            <a:ext cx="6318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B1</a:t>
            </a:r>
          </a:p>
        </p:txBody>
      </p:sp>
      <p:sp>
        <p:nvSpPr>
          <p:cNvPr id="10254" name="Rectangle 14"/>
          <p:cNvSpPr>
            <a:spLocks noChangeArrowheads="1"/>
          </p:cNvSpPr>
          <p:nvPr/>
        </p:nvSpPr>
        <p:spPr bwMode="auto">
          <a:xfrm>
            <a:off x="5700713" y="3021013"/>
            <a:ext cx="6318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B2</a:t>
            </a:r>
          </a:p>
        </p:txBody>
      </p:sp>
      <p:sp>
        <p:nvSpPr>
          <p:cNvPr id="10255" name="Rectangle 15"/>
          <p:cNvSpPr>
            <a:spLocks noChangeArrowheads="1"/>
          </p:cNvSpPr>
          <p:nvPr/>
        </p:nvSpPr>
        <p:spPr bwMode="auto">
          <a:xfrm>
            <a:off x="7758113" y="3476625"/>
            <a:ext cx="6318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B3</a:t>
            </a:r>
          </a:p>
        </p:txBody>
      </p:sp>
      <p:sp>
        <p:nvSpPr>
          <p:cNvPr id="10256" name="Rectangle 16"/>
          <p:cNvSpPr>
            <a:spLocks noChangeArrowheads="1"/>
          </p:cNvSpPr>
          <p:nvPr/>
        </p:nvSpPr>
        <p:spPr bwMode="auto">
          <a:xfrm>
            <a:off x="3340100" y="5762625"/>
            <a:ext cx="1046163"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A/B1</a:t>
            </a:r>
          </a:p>
        </p:txBody>
      </p:sp>
      <p:sp>
        <p:nvSpPr>
          <p:cNvPr id="10257" name="Rectangle 17"/>
          <p:cNvSpPr>
            <a:spLocks noChangeArrowheads="1"/>
          </p:cNvSpPr>
          <p:nvPr/>
        </p:nvSpPr>
        <p:spPr bwMode="auto">
          <a:xfrm>
            <a:off x="5472113" y="5762625"/>
            <a:ext cx="10461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A/B2</a:t>
            </a:r>
          </a:p>
        </p:txBody>
      </p:sp>
      <p:sp>
        <p:nvSpPr>
          <p:cNvPr id="10258" name="Rectangle 18"/>
          <p:cNvSpPr>
            <a:spLocks noChangeArrowheads="1"/>
          </p:cNvSpPr>
          <p:nvPr/>
        </p:nvSpPr>
        <p:spPr bwMode="auto">
          <a:xfrm>
            <a:off x="7605713" y="5762625"/>
            <a:ext cx="10461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sz="3200" i="1">
                <a:latin typeface="Book Antiqua" pitchFamily="18" charset="0"/>
                <a:ea typeface="宋体" pitchFamily="2" charset="-122"/>
              </a:rPr>
              <a:t>A/B3</a:t>
            </a:r>
          </a:p>
        </p:txBody>
      </p:sp>
    </p:spTree>
    <p:extLst>
      <p:ext uri="{BB962C8B-B14F-4D97-AF65-F5344CB8AC3E}">
        <p14:creationId xmlns:p14="http://schemas.microsoft.com/office/powerpoint/2010/main" val="3642387517"/>
      </p:ext>
    </p:extLst>
  </p:cSld>
  <p:clrMapOvr>
    <a:masterClrMapping/>
  </p:clrMapOvr>
  <p:transition>
    <p:cu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Rename</a:t>
            </a:r>
            <a:endParaRPr lang="en-IN" dirty="0"/>
          </a:p>
        </p:txBody>
      </p:sp>
      <p:sp>
        <p:nvSpPr>
          <p:cNvPr id="3" name="Content Placeholder 2"/>
          <p:cNvSpPr>
            <a:spLocks noGrp="1"/>
          </p:cNvSpPr>
          <p:nvPr>
            <p:ph idx="1"/>
          </p:nvPr>
        </p:nvSpPr>
        <p:spPr/>
        <p:txBody>
          <a:bodyPr>
            <a:normAutofit/>
          </a:bodyPr>
          <a:lstStyle/>
          <a:p>
            <a:pPr fontAlgn="base"/>
            <a:r>
              <a:rPr lang="en-US" sz="3600" dirty="0"/>
              <a:t>The RENAME operation is used to rename the output of a relation.</a:t>
            </a:r>
            <a:r>
              <a:rPr lang="en-US" sz="3600"/>
              <a:t> </a:t>
            </a:r>
            <a:endParaRPr lang="en-US" sz="3600" smtClean="0"/>
          </a:p>
          <a:p>
            <a:pPr marL="0" indent="0" fontAlgn="base">
              <a:buNone/>
            </a:pPr>
            <a:endParaRPr lang="en-US" sz="3600" dirty="0"/>
          </a:p>
          <a:p>
            <a:pPr fontAlgn="base"/>
            <a:r>
              <a:rPr lang="en-US" sz="3600" dirty="0"/>
              <a:t>Sometimes it is simple and suitable to break a complicated sequence of operations and rename it as a relation with different names.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384893125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Rename</a:t>
            </a:r>
          </a:p>
        </p:txBody>
      </p:sp>
      <p:sp>
        <p:nvSpPr>
          <p:cNvPr id="3" name="Content Placeholder 2"/>
          <p:cNvSpPr>
            <a:spLocks noGrp="1"/>
          </p:cNvSpPr>
          <p:nvPr>
            <p:ph idx="1"/>
          </p:nvPr>
        </p:nvSpPr>
        <p:spPr/>
        <p:txBody>
          <a:bodyPr>
            <a:normAutofit fontScale="77500" lnSpcReduction="20000"/>
          </a:bodyPr>
          <a:lstStyle/>
          <a:p>
            <a:pPr fontAlgn="base"/>
            <a:r>
              <a:rPr lang="en-US" dirty="0"/>
              <a:t>Reasons to rename a relation can be many, like –  </a:t>
            </a:r>
          </a:p>
          <a:p>
            <a:pPr fontAlgn="base"/>
            <a:r>
              <a:rPr lang="en-US" dirty="0"/>
              <a:t>We may want to save the result of a relational algebra expression as a relation so that we can use it later. </a:t>
            </a:r>
            <a:endParaRPr lang="en-US" dirty="0" smtClean="0"/>
          </a:p>
          <a:p>
            <a:pPr fontAlgn="base"/>
            <a:r>
              <a:rPr lang="en-US" dirty="0" smtClean="0"/>
              <a:t>T = t1 + t2 + t3 + t1+ t2+ t4 + t1 +t2</a:t>
            </a:r>
          </a:p>
          <a:p>
            <a:pPr fontAlgn="base"/>
            <a:r>
              <a:rPr lang="en-US" dirty="0" smtClean="0"/>
              <a:t>k=t1+t2</a:t>
            </a:r>
          </a:p>
          <a:p>
            <a:pPr fontAlgn="base"/>
            <a:r>
              <a:rPr lang="en-US" dirty="0" smtClean="0"/>
              <a:t>J = t3 + t4</a:t>
            </a:r>
          </a:p>
          <a:p>
            <a:pPr fontAlgn="base"/>
            <a:r>
              <a:rPr lang="en-US" dirty="0" smtClean="0"/>
              <a:t>T = k + j</a:t>
            </a:r>
            <a:endParaRPr lang="en-US" dirty="0"/>
          </a:p>
          <a:p>
            <a:pPr fontAlgn="base"/>
            <a:r>
              <a:rPr lang="en-US" dirty="0" smtClean="0"/>
              <a:t>We </a:t>
            </a:r>
            <a:r>
              <a:rPr lang="en-US" dirty="0"/>
              <a:t>may want to join a relation with itself, in that case, it becomes too confusing to specify which one of the tables we are talking about, in that case, we rename one of the tables and perform join operations on them. </a:t>
            </a: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429162961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Rename(</a:t>
            </a:r>
            <a:r>
              <a:rPr lang="en-US" b="1" dirty="0" smtClean="0"/>
              <a:t>ρ)</a:t>
            </a:r>
            <a:endParaRPr lang="en-IN" dirty="0"/>
          </a:p>
        </p:txBody>
      </p:sp>
      <p:sp>
        <p:nvSpPr>
          <p:cNvPr id="3" name="Content Placeholder 2"/>
          <p:cNvSpPr>
            <a:spLocks noGrp="1"/>
          </p:cNvSpPr>
          <p:nvPr>
            <p:ph idx="1"/>
          </p:nvPr>
        </p:nvSpPr>
        <p:spPr/>
        <p:txBody>
          <a:bodyPr/>
          <a:lstStyle/>
          <a:p>
            <a:pPr fontAlgn="base"/>
            <a:r>
              <a:rPr lang="en-US" b="1" dirty="0"/>
              <a:t>Notation:</a:t>
            </a:r>
            <a:r>
              <a:rPr lang="en-US" dirty="0"/>
              <a:t> </a:t>
            </a:r>
          </a:p>
          <a:p>
            <a:pPr fontAlgn="base"/>
            <a:r>
              <a:rPr lang="en-US" b="1" dirty="0"/>
              <a:t>ρ </a:t>
            </a:r>
            <a:r>
              <a:rPr lang="en-US" b="1" baseline="-25000" dirty="0"/>
              <a:t>X</a:t>
            </a:r>
            <a:r>
              <a:rPr lang="en-US" b="1" dirty="0"/>
              <a:t> (R)</a:t>
            </a:r>
            <a:r>
              <a:rPr lang="en-US" dirty="0"/>
              <a:t> where the symbol ‘ρ’ is used to denote the RENAME operator and R is the result of the sequence of operation or expression which is saved with the name X.  </a:t>
            </a:r>
            <a:endParaRPr lang="en-US" dirty="0" smtClean="0"/>
          </a:p>
          <a:p>
            <a:pPr fontAlgn="base"/>
            <a:r>
              <a:rPr lang="en-US" b="1" dirty="0"/>
              <a:t>Example-1:</a:t>
            </a:r>
            <a:r>
              <a:rPr lang="en-US" dirty="0"/>
              <a:t>  Query to rename the relation Student as  </a:t>
            </a:r>
            <a:r>
              <a:rPr lang="en-US" dirty="0" smtClean="0"/>
              <a:t>CSE </a:t>
            </a:r>
            <a:r>
              <a:rPr lang="en-US" dirty="0"/>
              <a:t>Student and the attributes of Student – </a:t>
            </a:r>
            <a:r>
              <a:rPr lang="en-US" dirty="0" err="1"/>
              <a:t>RollNo</a:t>
            </a:r>
            <a:r>
              <a:rPr lang="en-US" dirty="0"/>
              <a:t>, </a:t>
            </a:r>
            <a:r>
              <a:rPr lang="en-US" dirty="0" smtClean="0"/>
              <a:t>Name </a:t>
            </a:r>
            <a:r>
              <a:rPr lang="en-US" dirty="0"/>
              <a:t>as </a:t>
            </a:r>
            <a:r>
              <a:rPr lang="en-US"/>
              <a:t>(</a:t>
            </a:r>
            <a:r>
              <a:rPr lang="en-US" smtClean="0"/>
              <a:t>Sid, </a:t>
            </a:r>
            <a:r>
              <a:rPr lang="en-US" dirty="0" err="1" smtClean="0"/>
              <a:t>SName</a:t>
            </a:r>
            <a:r>
              <a:rPr lang="en-US" dirty="0"/>
              <a:t>).</a:t>
            </a:r>
          </a:p>
          <a:p>
            <a:pPr fontAlgn="base"/>
            <a:endParaRPr lang="en-US" dirty="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6150562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Rename Example</a:t>
            </a:r>
            <a:endParaRPr lang="en-IN" dirty="0"/>
          </a:p>
        </p:txBody>
      </p:sp>
      <p:sp>
        <p:nvSpPr>
          <p:cNvPr id="3" name="Content Placeholder 2"/>
          <p:cNvSpPr>
            <a:spLocks noGrp="1"/>
          </p:cNvSpPr>
          <p:nvPr>
            <p:ph idx="1"/>
          </p:nvPr>
        </p:nvSpPr>
        <p:spPr/>
        <p:txBody>
          <a:bodyPr/>
          <a:lstStyle/>
          <a:p>
            <a:r>
              <a:rPr lang="en-IN" dirty="0" smtClean="0"/>
              <a:t>Rename the attributes </a:t>
            </a:r>
            <a:r>
              <a:rPr lang="en-IN" dirty="0" err="1" smtClean="0"/>
              <a:t>Rollno</a:t>
            </a:r>
            <a:r>
              <a:rPr lang="en-IN" dirty="0" smtClean="0"/>
              <a:t> and Name as</a:t>
            </a:r>
          </a:p>
          <a:p>
            <a:pPr marL="0" indent="0">
              <a:buNone/>
            </a:pPr>
            <a:r>
              <a:rPr lang="en-IN" dirty="0" smtClean="0"/>
              <a:t>“Sid and </a:t>
            </a:r>
            <a:r>
              <a:rPr lang="en-IN" dirty="0" err="1" smtClean="0"/>
              <a:t>Sname</a:t>
            </a:r>
            <a:r>
              <a:rPr lang="en-IN" dirty="0" smtClean="0"/>
              <a:t>” in the Student Table for CSE students and project only these two attributes.</a:t>
            </a:r>
          </a:p>
          <a:p>
            <a:pPr marL="0" indent="0">
              <a:buNone/>
            </a:pPr>
            <a:r>
              <a:rPr lang="el-GR" dirty="0" smtClean="0"/>
              <a:t>ρ </a:t>
            </a:r>
            <a:r>
              <a:rPr lang="en-IN" baseline="-25000" dirty="0" smtClean="0"/>
              <a:t>Student(Sid, </a:t>
            </a:r>
            <a:r>
              <a:rPr lang="en-IN" baseline="-25000" dirty="0" err="1" smtClean="0"/>
              <a:t>SName</a:t>
            </a:r>
            <a:r>
              <a:rPr lang="en-IN" baseline="-25000" dirty="0" smtClean="0"/>
              <a:t>)</a:t>
            </a:r>
            <a:r>
              <a:rPr lang="el-GR" dirty="0" smtClean="0"/>
              <a:t>π</a:t>
            </a:r>
            <a:r>
              <a:rPr lang="en-IN" baseline="-25000" dirty="0" err="1" smtClean="0"/>
              <a:t>RollNo,Name</a:t>
            </a:r>
            <a:r>
              <a:rPr lang="en-IN" dirty="0" smtClean="0"/>
              <a:t>(</a:t>
            </a:r>
            <a:r>
              <a:rPr lang="el-GR" dirty="0" smtClean="0"/>
              <a:t>σ</a:t>
            </a:r>
            <a:r>
              <a:rPr lang="en-IN" baseline="-25000" dirty="0" smtClean="0"/>
              <a:t>branch=</a:t>
            </a:r>
            <a:r>
              <a:rPr lang="en-IN" dirty="0" smtClean="0"/>
              <a:t>‘CSE’(Student</a:t>
            </a:r>
            <a:r>
              <a:rPr lang="en-IN" dirty="0"/>
              <a:t>))</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pic>
        <p:nvPicPr>
          <p:cNvPr id="1126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4038600"/>
            <a:ext cx="586105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0" y="4572000"/>
            <a:ext cx="5861050" cy="140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62294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a:xfrm>
            <a:off x="838200" y="419100"/>
            <a:ext cx="8229600" cy="1104900"/>
          </a:xfrm>
          <a:noFill/>
        </p:spPr>
        <p:txBody>
          <a:bodyPr/>
          <a:lstStyle/>
          <a:p>
            <a:r>
              <a:rPr lang="en-US" altLang="zh-CN" smtClean="0">
                <a:ea typeface="宋体" pitchFamily="2" charset="-122"/>
              </a:rPr>
              <a:t>Schema for Example Tables</a:t>
            </a:r>
          </a:p>
        </p:txBody>
      </p:sp>
      <p:sp>
        <p:nvSpPr>
          <p:cNvPr id="22531" name="Rectangle 5"/>
          <p:cNvSpPr>
            <a:spLocks noGrp="1" noChangeArrowheads="1"/>
          </p:cNvSpPr>
          <p:nvPr>
            <p:ph type="body" idx="1"/>
          </p:nvPr>
        </p:nvSpPr>
        <p:spPr>
          <a:xfrm>
            <a:off x="228600" y="1752600"/>
            <a:ext cx="8763000" cy="4572000"/>
          </a:xfrm>
          <a:noFill/>
        </p:spPr>
        <p:txBody>
          <a:bodyPr/>
          <a:lstStyle/>
          <a:p>
            <a:r>
              <a:rPr lang="en-US" altLang="zh-CN" dirty="0" smtClean="0">
                <a:ea typeface="宋体" pitchFamily="2" charset="-122"/>
              </a:rPr>
              <a:t>Sailors:     ( </a:t>
            </a:r>
            <a:r>
              <a:rPr lang="en-US" altLang="zh-CN" i="1" u="sng" dirty="0" err="1" smtClean="0">
                <a:ea typeface="宋体" pitchFamily="2" charset="-122"/>
              </a:rPr>
              <a:t>sid</a:t>
            </a:r>
            <a:r>
              <a:rPr lang="en-US" altLang="zh-CN" i="1" dirty="0" smtClean="0">
                <a:ea typeface="宋体" pitchFamily="2" charset="-122"/>
              </a:rPr>
              <a:t>, </a:t>
            </a:r>
            <a:r>
              <a:rPr lang="en-US" altLang="zh-CN" i="1" dirty="0" err="1" smtClean="0">
                <a:ea typeface="宋体" pitchFamily="2" charset="-122"/>
              </a:rPr>
              <a:t>sname</a:t>
            </a:r>
            <a:r>
              <a:rPr lang="en-US" altLang="zh-CN" i="1" dirty="0" smtClean="0">
                <a:ea typeface="宋体" pitchFamily="2" charset="-122"/>
              </a:rPr>
              <a:t>, rating, age</a:t>
            </a:r>
            <a:r>
              <a:rPr lang="en-US" altLang="zh-CN" dirty="0" smtClean="0">
                <a:ea typeface="宋体" pitchFamily="2" charset="-122"/>
              </a:rPr>
              <a:t> )</a:t>
            </a:r>
          </a:p>
          <a:p>
            <a:r>
              <a:rPr lang="en-US" altLang="zh-CN" dirty="0" smtClean="0">
                <a:ea typeface="宋体" pitchFamily="2" charset="-122"/>
              </a:rPr>
              <a:t>Boats:       ( </a:t>
            </a:r>
            <a:r>
              <a:rPr lang="en-US" altLang="zh-CN" b="1" i="1" u="sng" dirty="0" smtClean="0">
                <a:ea typeface="宋体" pitchFamily="2" charset="-122"/>
              </a:rPr>
              <a:t>bid</a:t>
            </a:r>
            <a:r>
              <a:rPr lang="en-US" altLang="zh-CN" i="1" dirty="0" smtClean="0">
                <a:ea typeface="宋体" pitchFamily="2" charset="-122"/>
              </a:rPr>
              <a:t>, color, </a:t>
            </a:r>
            <a:r>
              <a:rPr lang="en-US" altLang="zh-CN" i="1" dirty="0" err="1" smtClean="0">
                <a:ea typeface="宋体" pitchFamily="2" charset="-122"/>
              </a:rPr>
              <a:t>bname</a:t>
            </a:r>
            <a:r>
              <a:rPr lang="en-US" altLang="zh-CN" dirty="0" smtClean="0">
                <a:ea typeface="宋体" pitchFamily="2" charset="-122"/>
              </a:rPr>
              <a:t> )</a:t>
            </a:r>
          </a:p>
          <a:p>
            <a:r>
              <a:rPr lang="en-US" altLang="zh-CN" dirty="0" smtClean="0">
                <a:ea typeface="宋体" pitchFamily="2" charset="-122"/>
              </a:rPr>
              <a:t>Reserves: ( </a:t>
            </a:r>
            <a:r>
              <a:rPr lang="en-US" altLang="zh-CN" i="1" u="sng" dirty="0" err="1" smtClean="0">
                <a:ea typeface="宋体" pitchFamily="2" charset="-122"/>
              </a:rPr>
              <a:t>sid</a:t>
            </a:r>
            <a:r>
              <a:rPr lang="en-US" altLang="zh-CN" i="1" u="sng" dirty="0" smtClean="0">
                <a:ea typeface="宋体" pitchFamily="2" charset="-122"/>
              </a:rPr>
              <a:t>, bid, date</a:t>
            </a:r>
            <a:r>
              <a:rPr lang="en-US" altLang="zh-CN" dirty="0" smtClean="0">
                <a:ea typeface="宋体" pitchFamily="2" charset="-122"/>
              </a:rPr>
              <a:t> )</a:t>
            </a:r>
            <a:endParaRPr lang="en-US" altLang="zh-CN" sz="2400" dirty="0" smtClean="0">
              <a:ea typeface="宋体" pitchFamily="2" charset="-122"/>
            </a:endParaRPr>
          </a:p>
        </p:txBody>
      </p:sp>
    </p:spTree>
    <p:extLst>
      <p:ext uri="{BB962C8B-B14F-4D97-AF65-F5344CB8AC3E}">
        <p14:creationId xmlns:p14="http://schemas.microsoft.com/office/powerpoint/2010/main" val="2032865713"/>
      </p:ext>
    </p:extLst>
  </p:cSld>
  <p:clrMapOvr>
    <a:masterClrMapping/>
  </p:clrMapOvr>
  <p:transition>
    <p:cut/>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smtClean="0"/>
              <a:t>Sailors</a:t>
            </a:r>
          </a:p>
          <a:p>
            <a:r>
              <a:rPr lang="en-US" altLang="zh-CN" i="1" u="sng" dirty="0" err="1">
                <a:ea typeface="宋体" pitchFamily="2" charset="-122"/>
              </a:rPr>
              <a:t>sid</a:t>
            </a:r>
            <a:r>
              <a:rPr lang="en-US" altLang="zh-CN" i="1" dirty="0">
                <a:ea typeface="宋体" pitchFamily="2" charset="-122"/>
              </a:rPr>
              <a:t>, </a:t>
            </a:r>
            <a:r>
              <a:rPr lang="en-US" altLang="zh-CN" i="1" dirty="0" smtClean="0">
                <a:ea typeface="宋体" pitchFamily="2" charset="-122"/>
              </a:rPr>
              <a:t>     </a:t>
            </a:r>
            <a:r>
              <a:rPr lang="en-US" altLang="zh-CN" i="1" dirty="0" err="1" smtClean="0">
                <a:ea typeface="宋体" pitchFamily="2" charset="-122"/>
              </a:rPr>
              <a:t>sname</a:t>
            </a:r>
            <a:r>
              <a:rPr lang="en-US" altLang="zh-CN" i="1" dirty="0">
                <a:ea typeface="宋体" pitchFamily="2" charset="-122"/>
              </a:rPr>
              <a:t>, </a:t>
            </a:r>
            <a:r>
              <a:rPr lang="en-US" altLang="zh-CN" i="1" dirty="0" smtClean="0">
                <a:ea typeface="宋体" pitchFamily="2" charset="-122"/>
              </a:rPr>
              <a:t>    rating</a:t>
            </a:r>
            <a:r>
              <a:rPr lang="en-US" altLang="zh-CN" i="1" dirty="0">
                <a:ea typeface="宋体" pitchFamily="2" charset="-122"/>
              </a:rPr>
              <a:t>, </a:t>
            </a:r>
            <a:r>
              <a:rPr lang="en-US" altLang="zh-CN" i="1" dirty="0" smtClean="0">
                <a:ea typeface="宋体" pitchFamily="2" charset="-122"/>
              </a:rPr>
              <a:t>      age</a:t>
            </a:r>
          </a:p>
          <a:p>
            <a:r>
              <a:rPr lang="en-US" altLang="zh-CN" i="1" dirty="0" smtClean="0">
                <a:ea typeface="宋体" pitchFamily="2" charset="-122"/>
              </a:rPr>
              <a:t>10        A                 9                32</a:t>
            </a:r>
          </a:p>
          <a:p>
            <a:r>
              <a:rPr lang="en-US" altLang="zh-CN" i="1" dirty="0" smtClean="0">
                <a:ea typeface="宋体" pitchFamily="2" charset="-122"/>
              </a:rPr>
              <a:t>20        B                 8                27</a:t>
            </a:r>
          </a:p>
          <a:p>
            <a:r>
              <a:rPr lang="en-US" altLang="zh-CN" i="1" dirty="0" smtClean="0">
                <a:ea typeface="宋体" pitchFamily="2" charset="-122"/>
              </a:rPr>
              <a:t>30        C                 9                20</a:t>
            </a:r>
          </a:p>
          <a:p>
            <a:r>
              <a:rPr lang="en-US" altLang="zh-CN" i="1" dirty="0" smtClean="0">
                <a:ea typeface="宋体" pitchFamily="2" charset="-122"/>
              </a:rPr>
              <a:t>40        D              10                 22</a:t>
            </a:r>
          </a:p>
          <a:p>
            <a:r>
              <a:rPr lang="en-US" altLang="zh-CN" i="1" dirty="0" smtClean="0">
                <a:ea typeface="宋体" pitchFamily="2" charset="-122"/>
              </a:rPr>
              <a:t>50        E                8                  41</a:t>
            </a:r>
          </a:p>
          <a:p>
            <a:endParaRPr lang="en-IN" dirty="0" smtClean="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6727026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Boats:       ( bid, </a:t>
            </a:r>
            <a:r>
              <a:rPr lang="en-IN" dirty="0" err="1"/>
              <a:t>color</a:t>
            </a:r>
            <a:r>
              <a:rPr lang="en-IN" dirty="0"/>
              <a:t>, </a:t>
            </a:r>
            <a:r>
              <a:rPr lang="en-IN" dirty="0" err="1"/>
              <a:t>bname</a:t>
            </a:r>
            <a:r>
              <a:rPr lang="en-IN" dirty="0"/>
              <a:t> )</a:t>
            </a:r>
          </a:p>
          <a:p>
            <a:pPr marL="0" indent="0">
              <a:buNone/>
            </a:pPr>
            <a:r>
              <a:rPr lang="en-IN" dirty="0" smtClean="0"/>
              <a:t>Bid              </a:t>
            </a:r>
            <a:r>
              <a:rPr lang="en-IN" dirty="0" err="1"/>
              <a:t>C</a:t>
            </a:r>
            <a:r>
              <a:rPr lang="en-IN" dirty="0" err="1" smtClean="0"/>
              <a:t>olor</a:t>
            </a:r>
            <a:r>
              <a:rPr lang="en-IN" dirty="0" smtClean="0"/>
              <a:t>          </a:t>
            </a:r>
            <a:r>
              <a:rPr lang="en-IN" dirty="0" err="1" smtClean="0"/>
              <a:t>Bname</a:t>
            </a:r>
            <a:endParaRPr lang="en-IN" dirty="0" smtClean="0"/>
          </a:p>
          <a:p>
            <a:pPr marL="0" indent="0">
              <a:buNone/>
            </a:pPr>
            <a:r>
              <a:rPr lang="en-IN" dirty="0" smtClean="0"/>
              <a:t>100             Red            X</a:t>
            </a:r>
          </a:p>
          <a:p>
            <a:pPr marL="0" indent="0">
              <a:buNone/>
            </a:pPr>
            <a:r>
              <a:rPr lang="en-IN" dirty="0" smtClean="0"/>
              <a:t>101             Green        Y</a:t>
            </a:r>
          </a:p>
          <a:p>
            <a:pPr marL="0" indent="0">
              <a:buNone/>
            </a:pPr>
            <a:r>
              <a:rPr lang="en-IN" dirty="0" smtClean="0"/>
              <a:t>103             Red            Z</a:t>
            </a:r>
          </a:p>
          <a:p>
            <a:pPr marL="0" indent="0">
              <a:buNone/>
            </a:pPr>
            <a:r>
              <a:rPr lang="en-IN" dirty="0" smtClean="0"/>
              <a:t>104              Blue          AA</a:t>
            </a:r>
          </a:p>
          <a:p>
            <a:pPr marL="0" indent="0">
              <a:buNone/>
            </a:pPr>
            <a:r>
              <a:rPr lang="en-IN" dirty="0" smtClean="0"/>
              <a:t>105              Green       BB</a:t>
            </a:r>
          </a:p>
          <a:p>
            <a:pPr marL="0" indent="0">
              <a:buNone/>
            </a:pPr>
            <a:endParaRPr lang="en-IN" dirty="0" smtClean="0"/>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893666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zh-CN" dirty="0">
                <a:ea typeface="宋体" pitchFamily="2" charset="-122"/>
              </a:rPr>
              <a:t>Reserves: ( </a:t>
            </a:r>
            <a:r>
              <a:rPr lang="en-US" altLang="zh-CN" i="1" u="sng" dirty="0" err="1">
                <a:ea typeface="宋体" pitchFamily="2" charset="-122"/>
              </a:rPr>
              <a:t>sid</a:t>
            </a:r>
            <a:r>
              <a:rPr lang="en-US" altLang="zh-CN" i="1" u="sng" dirty="0">
                <a:ea typeface="宋体" pitchFamily="2" charset="-122"/>
              </a:rPr>
              <a:t>, bid, date</a:t>
            </a:r>
            <a:r>
              <a:rPr lang="en-US" altLang="zh-CN" dirty="0">
                <a:ea typeface="宋体" pitchFamily="2" charset="-122"/>
              </a:rPr>
              <a:t> </a:t>
            </a:r>
            <a:r>
              <a:rPr lang="en-US" altLang="zh-CN" dirty="0" smtClean="0">
                <a:ea typeface="宋体" pitchFamily="2" charset="-122"/>
              </a:rPr>
              <a:t>)</a:t>
            </a:r>
          </a:p>
          <a:p>
            <a:r>
              <a:rPr lang="en-US" altLang="zh-CN" sz="2400" dirty="0" smtClean="0">
                <a:ea typeface="宋体" pitchFamily="2" charset="-122"/>
              </a:rPr>
              <a:t>Sid                bid                 date</a:t>
            </a:r>
          </a:p>
          <a:p>
            <a:r>
              <a:rPr lang="en-US" altLang="zh-CN" sz="2400" dirty="0" smtClean="0">
                <a:ea typeface="宋体" pitchFamily="2" charset="-122"/>
              </a:rPr>
              <a:t>10                100                24/8/21</a:t>
            </a:r>
          </a:p>
          <a:p>
            <a:r>
              <a:rPr lang="en-US" altLang="zh-CN" sz="2400" dirty="0" smtClean="0">
                <a:ea typeface="宋体" pitchFamily="2" charset="-122"/>
              </a:rPr>
              <a:t>20                 103                24/8/21</a:t>
            </a:r>
          </a:p>
          <a:p>
            <a:r>
              <a:rPr lang="en-US" altLang="zh-CN" sz="2400" dirty="0" smtClean="0">
                <a:ea typeface="宋体" pitchFamily="2" charset="-122"/>
              </a:rPr>
              <a:t>30                 103                24/8/21</a:t>
            </a:r>
          </a:p>
          <a:p>
            <a:r>
              <a:rPr lang="en-US" altLang="zh-CN" sz="2400" dirty="0" smtClean="0">
                <a:ea typeface="宋体" pitchFamily="2" charset="-122"/>
              </a:rPr>
              <a:t>40                  101                24/8/21</a:t>
            </a:r>
            <a:endParaRPr lang="en-US" altLang="zh-CN" sz="2400" dirty="0">
              <a:ea typeface="宋体" pitchFamily="2" charset="-122"/>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265915664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altLang="zh-CN" dirty="0">
                <a:ea typeface="宋体" pitchFamily="2" charset="-122"/>
              </a:rPr>
              <a:t>20                 103                24/8/21</a:t>
            </a:r>
          </a:p>
          <a:p>
            <a:r>
              <a:rPr lang="en-US" altLang="zh-CN" dirty="0">
                <a:ea typeface="宋体" pitchFamily="2" charset="-122"/>
              </a:rPr>
              <a:t>30                 103                </a:t>
            </a:r>
            <a:r>
              <a:rPr lang="en-US" altLang="zh-CN" dirty="0" smtClean="0">
                <a:ea typeface="宋体" pitchFamily="2" charset="-122"/>
              </a:rPr>
              <a:t>24/8/2</a:t>
            </a:r>
          </a:p>
          <a:p>
            <a:r>
              <a:rPr lang="en-US" dirty="0" smtClean="0">
                <a:ea typeface="宋体" pitchFamily="2" charset="-122"/>
              </a:rPr>
              <a:t>JOIN Result</a:t>
            </a:r>
          </a:p>
          <a:p>
            <a:r>
              <a:rPr lang="en-US" dirty="0" smtClean="0">
                <a:ea typeface="宋体" pitchFamily="2" charset="-122"/>
              </a:rPr>
              <a:t>Sid      </a:t>
            </a:r>
            <a:r>
              <a:rPr lang="en-US" dirty="0" err="1" smtClean="0">
                <a:ea typeface="宋体" pitchFamily="2" charset="-122"/>
              </a:rPr>
              <a:t>Sname</a:t>
            </a:r>
            <a:r>
              <a:rPr lang="en-US" dirty="0" smtClean="0">
                <a:ea typeface="宋体" pitchFamily="2" charset="-122"/>
              </a:rPr>
              <a:t>       Rating       Age    </a:t>
            </a:r>
            <a:r>
              <a:rPr lang="en-US" dirty="0" err="1" smtClean="0">
                <a:ea typeface="宋体" pitchFamily="2" charset="-122"/>
              </a:rPr>
              <a:t>Bno</a:t>
            </a:r>
            <a:r>
              <a:rPr lang="en-US" dirty="0" smtClean="0">
                <a:ea typeface="宋体" pitchFamily="2" charset="-122"/>
              </a:rPr>
              <a:t>    Date</a:t>
            </a:r>
          </a:p>
          <a:p>
            <a:r>
              <a:rPr lang="en-US" altLang="zh-CN" i="1" dirty="0">
                <a:ea typeface="宋体" pitchFamily="2" charset="-122"/>
              </a:rPr>
              <a:t>20        B                 8                </a:t>
            </a:r>
            <a:r>
              <a:rPr lang="en-US" altLang="zh-CN" i="1" dirty="0" smtClean="0">
                <a:ea typeface="宋体" pitchFamily="2" charset="-122"/>
              </a:rPr>
              <a:t>27     103  24/8/21</a:t>
            </a:r>
            <a:endParaRPr lang="en-US" altLang="zh-CN" i="1" dirty="0">
              <a:ea typeface="宋体" pitchFamily="2" charset="-122"/>
            </a:endParaRPr>
          </a:p>
          <a:p>
            <a:r>
              <a:rPr lang="en-US" altLang="zh-CN" i="1" dirty="0">
                <a:ea typeface="宋体" pitchFamily="2" charset="-122"/>
              </a:rPr>
              <a:t>30        C                 9                </a:t>
            </a:r>
            <a:r>
              <a:rPr lang="en-US" altLang="zh-CN" i="1" dirty="0" smtClean="0">
                <a:ea typeface="宋体" pitchFamily="2" charset="-122"/>
              </a:rPr>
              <a:t>20     103   2/8/21</a:t>
            </a:r>
            <a:endParaRPr lang="en-US" altLang="zh-CN" i="1" dirty="0">
              <a:ea typeface="宋体" pitchFamily="2" charset="-122"/>
            </a:endParaRPr>
          </a:p>
          <a:p>
            <a:endParaRPr lang="en-IN"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42807442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229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2297" name="Rectangle 4"/>
          <p:cNvSpPr>
            <a:spLocks noGrp="1" noChangeArrowheads="1"/>
          </p:cNvSpPr>
          <p:nvPr>
            <p:ph type="title"/>
          </p:nvPr>
        </p:nvSpPr>
        <p:spPr>
          <a:xfrm>
            <a:off x="609600" y="419100"/>
            <a:ext cx="8229600" cy="1104900"/>
          </a:xfrm>
          <a:noFill/>
        </p:spPr>
        <p:txBody>
          <a:bodyPr/>
          <a:lstStyle/>
          <a:p>
            <a:r>
              <a:rPr lang="en-US" altLang="zh-CN" sz="3200" smtClean="0">
                <a:ea typeface="宋体" pitchFamily="2" charset="-122"/>
              </a:rPr>
              <a:t>Find names of sailors who’ve reserved boat #103</a:t>
            </a:r>
          </a:p>
        </p:txBody>
      </p:sp>
      <p:sp>
        <p:nvSpPr>
          <p:cNvPr id="33797" name="Rectangle 5"/>
          <p:cNvSpPr>
            <a:spLocks noGrp="1" noChangeArrowheads="1"/>
          </p:cNvSpPr>
          <p:nvPr>
            <p:ph type="body" idx="1"/>
          </p:nvPr>
        </p:nvSpPr>
        <p:spPr>
          <a:xfrm>
            <a:off x="152400" y="1828800"/>
            <a:ext cx="2514600" cy="685800"/>
          </a:xfrm>
          <a:noFill/>
        </p:spPr>
        <p:txBody>
          <a:bodyPr/>
          <a:lstStyle/>
          <a:p>
            <a:r>
              <a:rPr lang="en-US" altLang="zh-CN" smtClean="0">
                <a:ea typeface="宋体" pitchFamily="2" charset="-122"/>
              </a:rPr>
              <a:t>Solution 1:   </a:t>
            </a:r>
          </a:p>
        </p:txBody>
      </p:sp>
      <p:graphicFrame>
        <p:nvGraphicFramePr>
          <p:cNvPr id="33798" name="Object 6">
            <a:hlinkClick r:id="" action="ppaction://ole?verb=0"/>
          </p:cNvPr>
          <p:cNvGraphicFramePr>
            <a:graphicFrameLocks/>
          </p:cNvGraphicFramePr>
          <p:nvPr/>
        </p:nvGraphicFramePr>
        <p:xfrm>
          <a:off x="2743200" y="1925638"/>
          <a:ext cx="6340475" cy="774700"/>
        </p:xfrm>
        <a:graphic>
          <a:graphicData uri="http://schemas.openxmlformats.org/presentationml/2006/ole">
            <mc:AlternateContent xmlns:mc="http://schemas.openxmlformats.org/markup-compatibility/2006">
              <mc:Choice xmlns:v="urn:schemas-microsoft-com:vml" Requires="v">
                <p:oleObj spid="_x0000_s12295" name="Equation" r:id="rId4" imgW="6340320" imgH="774360" progId="Equation.3">
                  <p:embed/>
                </p:oleObj>
              </mc:Choice>
              <mc:Fallback>
                <p:oleObj name="Equation" r:id="rId4" imgW="6340320" imgH="77436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1925638"/>
                        <a:ext cx="634047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1"/>
          <p:cNvGrpSpPr>
            <a:grpSpLocks/>
          </p:cNvGrpSpPr>
          <p:nvPr/>
        </p:nvGrpSpPr>
        <p:grpSpPr bwMode="auto">
          <a:xfrm>
            <a:off x="80963" y="2989263"/>
            <a:ext cx="8605837" cy="2386012"/>
            <a:chOff x="88" y="1883"/>
            <a:chExt cx="5421" cy="1503"/>
          </a:xfrm>
        </p:grpSpPr>
        <p:sp>
          <p:nvSpPr>
            <p:cNvPr id="12302" name="Rectangle 7"/>
            <p:cNvSpPr>
              <a:spLocks noChangeArrowheads="1"/>
            </p:cNvSpPr>
            <p:nvPr/>
          </p:nvSpPr>
          <p:spPr bwMode="auto">
            <a:xfrm>
              <a:off x="88" y="1883"/>
              <a:ext cx="903"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buSzPct val="75000"/>
                <a:buFont typeface="Wingdings" pitchFamily="2" charset="2"/>
                <a:buChar char="v"/>
              </a:pPr>
              <a:r>
                <a:rPr lang="zh-CN" altLang="en-US" sz="2800">
                  <a:latin typeface="Book Antiqua" pitchFamily="18" charset="0"/>
                  <a:ea typeface="宋体" pitchFamily="2" charset="-122"/>
                </a:rPr>
                <a:t> </a:t>
              </a:r>
              <a:r>
                <a:rPr lang="en-US" altLang="zh-CN" sz="2800">
                  <a:latin typeface="Book Antiqua" pitchFamily="18" charset="0"/>
                  <a:ea typeface="宋体" pitchFamily="2" charset="-122"/>
                </a:rPr>
                <a:t>Same</a:t>
              </a:r>
              <a:r>
                <a:rPr lang="en-US" altLang="zh-CN">
                  <a:latin typeface="Book Antiqua" pitchFamily="18" charset="0"/>
                  <a:ea typeface="宋体" pitchFamily="2" charset="-122"/>
                </a:rPr>
                <a:t>:</a:t>
              </a:r>
            </a:p>
          </p:txBody>
        </p:sp>
        <p:graphicFrame>
          <p:nvGraphicFramePr>
            <p:cNvPr id="12292" name="Object 8">
              <a:hlinkClick r:id="" action="ppaction://ole?verb=0"/>
            </p:cNvPr>
            <p:cNvGraphicFramePr>
              <a:graphicFrameLocks/>
            </p:cNvGraphicFramePr>
            <p:nvPr/>
          </p:nvGraphicFramePr>
          <p:xfrm>
            <a:off x="2126" y="2003"/>
            <a:ext cx="2888" cy="384"/>
          </p:xfrm>
          <a:graphic>
            <a:graphicData uri="http://schemas.openxmlformats.org/presentationml/2006/ole">
              <mc:AlternateContent xmlns:mc="http://schemas.openxmlformats.org/markup-compatibility/2006">
                <mc:Choice xmlns:v="urn:schemas-microsoft-com:vml" Requires="v">
                  <p:oleObj spid="_x0000_s12296" name="Equation" r:id="rId6" imgW="4584600" imgH="609480" progId="Equation.3">
                    <p:embed/>
                  </p:oleObj>
                </mc:Choice>
                <mc:Fallback>
                  <p:oleObj name="Equation" r:id="rId6" imgW="4584600" imgH="60948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6" y="2003"/>
                          <a:ext cx="28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3" name="Object 9">
              <a:hlinkClick r:id="" action="ppaction://ole?verb=0"/>
            </p:cNvPr>
            <p:cNvGraphicFramePr>
              <a:graphicFrameLocks/>
            </p:cNvGraphicFramePr>
            <p:nvPr/>
          </p:nvGraphicFramePr>
          <p:xfrm>
            <a:off x="1632" y="2512"/>
            <a:ext cx="3877" cy="428"/>
          </p:xfrm>
          <a:graphic>
            <a:graphicData uri="http://schemas.openxmlformats.org/presentationml/2006/ole">
              <mc:AlternateContent xmlns:mc="http://schemas.openxmlformats.org/markup-compatibility/2006">
                <mc:Choice xmlns:v="urn:schemas-microsoft-com:vml" Requires="v">
                  <p:oleObj spid="_x0000_s12297" name="Equation" r:id="rId8" imgW="6154560" imgH="679320" progId="Equation.3">
                    <p:embed/>
                  </p:oleObj>
                </mc:Choice>
                <mc:Fallback>
                  <p:oleObj name="Equation" r:id="rId8" imgW="6154560" imgH="679320"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32" y="2512"/>
                          <a:ext cx="3877" cy="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294" name="Object 10">
              <a:hlinkClick r:id="" action="ppaction://ole?verb=0"/>
            </p:cNvPr>
            <p:cNvGraphicFramePr>
              <a:graphicFrameLocks/>
            </p:cNvGraphicFramePr>
            <p:nvPr/>
          </p:nvGraphicFramePr>
          <p:xfrm>
            <a:off x="1632" y="2944"/>
            <a:ext cx="2060" cy="442"/>
          </p:xfrm>
          <a:graphic>
            <a:graphicData uri="http://schemas.openxmlformats.org/presentationml/2006/ole">
              <mc:AlternateContent xmlns:mc="http://schemas.openxmlformats.org/markup-compatibility/2006">
                <mc:Choice xmlns:v="urn:schemas-microsoft-com:vml" Requires="v">
                  <p:oleObj spid="_x0000_s12298" name="Equation" r:id="rId10" imgW="3270240" imgH="701640" progId="Equation.3">
                    <p:embed/>
                  </p:oleObj>
                </mc:Choice>
                <mc:Fallback>
                  <p:oleObj name="Equation" r:id="rId10" imgW="3270240" imgH="701640"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2" y="2944"/>
                          <a:ext cx="206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 name="Group 14"/>
          <p:cNvGrpSpPr>
            <a:grpSpLocks/>
          </p:cNvGrpSpPr>
          <p:nvPr/>
        </p:nvGrpSpPr>
        <p:grpSpPr bwMode="auto">
          <a:xfrm>
            <a:off x="139700" y="5654675"/>
            <a:ext cx="9004300" cy="890588"/>
            <a:chOff x="88" y="3562"/>
            <a:chExt cx="5672" cy="561"/>
          </a:xfrm>
        </p:grpSpPr>
        <p:sp>
          <p:nvSpPr>
            <p:cNvPr id="12301" name="Rectangle 12"/>
            <p:cNvSpPr>
              <a:spLocks noChangeArrowheads="1"/>
            </p:cNvSpPr>
            <p:nvPr/>
          </p:nvSpPr>
          <p:spPr bwMode="auto">
            <a:xfrm>
              <a:off x="88" y="3562"/>
              <a:ext cx="1366"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buSzPct val="75000"/>
                <a:buFont typeface="Wingdings" pitchFamily="2" charset="2"/>
                <a:buChar char="v"/>
              </a:pPr>
              <a:r>
                <a:rPr lang="zh-CN" altLang="en-US" sz="2800">
                  <a:latin typeface="Book Antiqua" pitchFamily="18" charset="0"/>
                  <a:ea typeface="宋体" pitchFamily="2" charset="-122"/>
                </a:rPr>
                <a:t> </a:t>
              </a:r>
              <a:r>
                <a:rPr lang="en-US" altLang="zh-CN" sz="2800">
                  <a:latin typeface="Book Antiqua" pitchFamily="18" charset="0"/>
                  <a:ea typeface="宋体" pitchFamily="2" charset="-122"/>
                </a:rPr>
                <a:t>Solution 2</a:t>
              </a:r>
              <a:r>
                <a:rPr lang="en-US" altLang="zh-CN">
                  <a:latin typeface="Book Antiqua" pitchFamily="18" charset="0"/>
                  <a:ea typeface="宋体" pitchFamily="2" charset="-122"/>
                </a:rPr>
                <a:t>:</a:t>
              </a:r>
            </a:p>
          </p:txBody>
        </p:sp>
        <p:graphicFrame>
          <p:nvGraphicFramePr>
            <p:cNvPr id="12291" name="Object 13">
              <a:hlinkClick r:id="" action="ppaction://ole?verb=0"/>
            </p:cNvPr>
            <p:cNvGraphicFramePr>
              <a:graphicFrameLocks/>
            </p:cNvGraphicFramePr>
            <p:nvPr/>
          </p:nvGraphicFramePr>
          <p:xfrm>
            <a:off x="1632" y="3600"/>
            <a:ext cx="4128" cy="523"/>
          </p:xfrm>
          <a:graphic>
            <a:graphicData uri="http://schemas.openxmlformats.org/presentationml/2006/ole">
              <mc:AlternateContent xmlns:mc="http://schemas.openxmlformats.org/markup-compatibility/2006">
                <mc:Choice xmlns:v="urn:schemas-microsoft-com:vml" Requires="v">
                  <p:oleObj spid="_x0000_s12299" name="Equation" r:id="rId12" imgW="6553080" imgH="830160" progId="Equation.3">
                    <p:embed/>
                  </p:oleObj>
                </mc:Choice>
                <mc:Fallback>
                  <p:oleObj name="Equation" r:id="rId12" imgW="6553080" imgH="830160" progId="Equation.3">
                    <p:embed/>
                    <p:pic>
                      <p:nvPicPr>
                        <p:cNvPr id="0" name=""/>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32" y="3600"/>
                          <a:ext cx="4128"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2074231634"/>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797">
                                            <p:txEl>
                                              <p:pRg st="0" end="0"/>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uild="p"/>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6"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3317"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3318" name="Rectangle 4"/>
          <p:cNvSpPr>
            <a:spLocks noGrp="1" noChangeArrowheads="1"/>
          </p:cNvSpPr>
          <p:nvPr>
            <p:ph type="title"/>
          </p:nvPr>
        </p:nvSpPr>
        <p:spPr>
          <a:xfrm>
            <a:off x="685800" y="419100"/>
            <a:ext cx="8229600" cy="1104900"/>
          </a:xfrm>
          <a:noFill/>
        </p:spPr>
        <p:txBody>
          <a:bodyPr/>
          <a:lstStyle/>
          <a:p>
            <a:r>
              <a:rPr lang="en-US" altLang="zh-CN" sz="3200" smtClean="0">
                <a:ea typeface="宋体" pitchFamily="2" charset="-122"/>
              </a:rPr>
              <a:t>Find names of sailors who’ve reserved a red boat</a:t>
            </a:r>
          </a:p>
        </p:txBody>
      </p:sp>
      <p:sp>
        <p:nvSpPr>
          <p:cNvPr id="13319" name="Rectangle 5"/>
          <p:cNvSpPr>
            <a:spLocks noGrp="1" noChangeArrowheads="1"/>
          </p:cNvSpPr>
          <p:nvPr>
            <p:ph type="body" idx="1"/>
          </p:nvPr>
        </p:nvSpPr>
        <p:spPr>
          <a:noFill/>
        </p:spPr>
        <p:txBody>
          <a:bodyPr/>
          <a:lstStyle/>
          <a:p>
            <a:r>
              <a:rPr lang="en-US" altLang="zh-CN" smtClean="0">
                <a:ea typeface="宋体" pitchFamily="2" charset="-122"/>
              </a:rPr>
              <a:t>Information about boat color only available in Boats; so need an extra join:</a:t>
            </a:r>
          </a:p>
        </p:txBody>
      </p:sp>
      <p:graphicFrame>
        <p:nvGraphicFramePr>
          <p:cNvPr id="13314" name="Object 6">
            <a:hlinkClick r:id="" action="ppaction://ole?verb=0"/>
          </p:cNvPr>
          <p:cNvGraphicFramePr>
            <a:graphicFrameLocks/>
          </p:cNvGraphicFramePr>
          <p:nvPr/>
        </p:nvGraphicFramePr>
        <p:xfrm>
          <a:off x="1066800" y="3068638"/>
          <a:ext cx="7904163" cy="727075"/>
        </p:xfrm>
        <a:graphic>
          <a:graphicData uri="http://schemas.openxmlformats.org/presentationml/2006/ole">
            <mc:AlternateContent xmlns:mc="http://schemas.openxmlformats.org/markup-compatibility/2006">
              <mc:Choice xmlns:v="urn:schemas-microsoft-com:vml" Requires="v">
                <p:oleObj spid="_x0000_s5242" name="Equation" r:id="rId4" imgW="7903800" imgH="726840" progId="Equation.3">
                  <p:embed/>
                </p:oleObj>
              </mc:Choice>
              <mc:Fallback>
                <p:oleObj name="Equation" r:id="rId4" imgW="7903800" imgH="72684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068638"/>
                        <a:ext cx="7904163" cy="72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3320" name="Group 9"/>
          <p:cNvGrpSpPr>
            <a:grpSpLocks/>
          </p:cNvGrpSpPr>
          <p:nvPr/>
        </p:nvGrpSpPr>
        <p:grpSpPr bwMode="auto">
          <a:xfrm>
            <a:off x="901700" y="4054475"/>
            <a:ext cx="8262938" cy="1463675"/>
            <a:chOff x="568" y="2554"/>
            <a:chExt cx="5205" cy="922"/>
          </a:xfrm>
        </p:grpSpPr>
        <p:sp>
          <p:nvSpPr>
            <p:cNvPr id="13322" name="Rectangle 7"/>
            <p:cNvSpPr>
              <a:spLocks noChangeArrowheads="1"/>
            </p:cNvSpPr>
            <p:nvPr/>
          </p:nvSpPr>
          <p:spPr bwMode="auto">
            <a:xfrm>
              <a:off x="568" y="2554"/>
              <a:ext cx="2836"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buSzPct val="75000"/>
                <a:buFont typeface="Wingdings" pitchFamily="2" charset="2"/>
                <a:buChar char="v"/>
              </a:pPr>
              <a:r>
                <a:rPr lang="zh-CN" altLang="en-US" sz="2800">
                  <a:latin typeface="Book Antiqua" pitchFamily="18" charset="0"/>
                  <a:ea typeface="宋体" pitchFamily="2" charset="-122"/>
                </a:rPr>
                <a:t> </a:t>
              </a:r>
              <a:r>
                <a:rPr lang="en-US" altLang="zh-CN" sz="2800">
                  <a:latin typeface="Book Antiqua" pitchFamily="18" charset="0"/>
                  <a:ea typeface="宋体" pitchFamily="2" charset="-122"/>
                </a:rPr>
                <a:t>A more efficient solution:</a:t>
              </a:r>
            </a:p>
          </p:txBody>
        </p:sp>
        <p:graphicFrame>
          <p:nvGraphicFramePr>
            <p:cNvPr id="13315" name="Object 8">
              <a:hlinkClick r:id="" action="ppaction://ole?verb=0"/>
            </p:cNvPr>
            <p:cNvGraphicFramePr>
              <a:graphicFrameLocks/>
            </p:cNvGraphicFramePr>
            <p:nvPr/>
          </p:nvGraphicFramePr>
          <p:xfrm>
            <a:off x="669" y="3040"/>
            <a:ext cx="5104" cy="436"/>
          </p:xfrm>
          <a:graphic>
            <a:graphicData uri="http://schemas.openxmlformats.org/presentationml/2006/ole">
              <mc:AlternateContent xmlns:mc="http://schemas.openxmlformats.org/markup-compatibility/2006">
                <mc:Choice xmlns:v="urn:schemas-microsoft-com:vml" Requires="v">
                  <p:oleObj spid="_x0000_s5243" name="Equation" r:id="rId6" imgW="8102520" imgH="691920" progId="Equation.3">
                    <p:embed/>
                  </p:oleObj>
                </mc:Choice>
                <mc:Fallback>
                  <p:oleObj name="Equation" r:id="rId6" imgW="8102520" imgH="69192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9" y="3040"/>
                          <a:ext cx="5104" cy="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321" name="Rectangle 10"/>
          <p:cNvSpPr>
            <a:spLocks noChangeArrowheads="1"/>
          </p:cNvSpPr>
          <p:nvPr/>
        </p:nvSpPr>
        <p:spPr bwMode="auto">
          <a:xfrm>
            <a:off x="976313" y="5776913"/>
            <a:ext cx="7067550"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en-US" altLang="zh-CN" i="1">
                <a:latin typeface="Book Antiqua" pitchFamily="18" charset="0"/>
                <a:ea typeface="宋体" pitchFamily="2" charset="-122"/>
              </a:rPr>
              <a:t>A query optimizer can find this, given the first solution!</a:t>
            </a:r>
          </a:p>
        </p:txBody>
      </p:sp>
    </p:spTree>
    <p:extLst>
      <p:ext uri="{BB962C8B-B14F-4D97-AF65-F5344CB8AC3E}">
        <p14:creationId xmlns:p14="http://schemas.microsoft.com/office/powerpoint/2010/main" val="1862534612"/>
      </p:ext>
    </p:extLst>
  </p:cSld>
  <p:clrMapOvr>
    <a:masterClrMapping/>
  </p:clrMapOvr>
  <p:transition>
    <p:cu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42"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4343"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4344" name="Rectangle 4"/>
          <p:cNvSpPr>
            <a:spLocks noGrp="1" noChangeArrowheads="1"/>
          </p:cNvSpPr>
          <p:nvPr>
            <p:ph type="title"/>
          </p:nvPr>
        </p:nvSpPr>
        <p:spPr>
          <a:xfrm>
            <a:off x="609600" y="495300"/>
            <a:ext cx="8458200" cy="1104900"/>
          </a:xfrm>
          <a:noFill/>
        </p:spPr>
        <p:txBody>
          <a:bodyPr/>
          <a:lstStyle/>
          <a:p>
            <a:r>
              <a:rPr lang="en-US" altLang="zh-CN" sz="3200" smtClean="0">
                <a:ea typeface="宋体" pitchFamily="2" charset="-122"/>
              </a:rPr>
              <a:t>Find sailors who’ve reserved a red or a green boat</a:t>
            </a:r>
          </a:p>
        </p:txBody>
      </p:sp>
      <p:sp>
        <p:nvSpPr>
          <p:cNvPr id="14345" name="Rectangle 5"/>
          <p:cNvSpPr>
            <a:spLocks noGrp="1" noChangeArrowheads="1"/>
          </p:cNvSpPr>
          <p:nvPr>
            <p:ph type="body" idx="1"/>
          </p:nvPr>
        </p:nvSpPr>
        <p:spPr>
          <a:xfrm>
            <a:off x="228600" y="1600200"/>
            <a:ext cx="7772400" cy="4724400"/>
          </a:xfrm>
          <a:noFill/>
        </p:spPr>
        <p:txBody>
          <a:bodyPr/>
          <a:lstStyle/>
          <a:p>
            <a:r>
              <a:rPr lang="en-US" altLang="zh-CN" dirty="0" smtClean="0">
                <a:ea typeface="宋体" pitchFamily="2" charset="-122"/>
              </a:rPr>
              <a:t>Can identify all red or green boats, then find sailors who’ve reserved one of these boats:</a:t>
            </a:r>
          </a:p>
        </p:txBody>
      </p:sp>
      <p:grpSp>
        <p:nvGrpSpPr>
          <p:cNvPr id="14346" name="Group 8"/>
          <p:cNvGrpSpPr>
            <a:grpSpLocks/>
          </p:cNvGrpSpPr>
          <p:nvPr/>
        </p:nvGrpSpPr>
        <p:grpSpPr bwMode="auto">
          <a:xfrm>
            <a:off x="750887" y="3333056"/>
            <a:ext cx="8393113" cy="1624013"/>
            <a:chOff x="480" y="1754"/>
            <a:chExt cx="5287" cy="1023"/>
          </a:xfrm>
        </p:grpSpPr>
        <p:graphicFrame>
          <p:nvGraphicFramePr>
            <p:cNvPr id="14340" name="Object 6">
              <a:hlinkClick r:id="" action="ppaction://ole?verb=0"/>
            </p:cNvPr>
            <p:cNvGraphicFramePr>
              <a:graphicFrameLocks/>
            </p:cNvGraphicFramePr>
            <p:nvPr/>
          </p:nvGraphicFramePr>
          <p:xfrm>
            <a:off x="528" y="1754"/>
            <a:ext cx="5239" cy="531"/>
          </p:xfrm>
          <a:graphic>
            <a:graphicData uri="http://schemas.openxmlformats.org/presentationml/2006/ole">
              <mc:AlternateContent xmlns:mc="http://schemas.openxmlformats.org/markup-compatibility/2006">
                <mc:Choice xmlns:v="urn:schemas-microsoft-com:vml" Requires="v">
                  <p:oleObj spid="_x0000_s6382" name="Equation" r:id="rId4" imgW="8316720" imgH="842760" progId="Equation.3">
                    <p:embed/>
                  </p:oleObj>
                </mc:Choice>
                <mc:Fallback>
                  <p:oleObj name="Equation" r:id="rId4" imgW="8316720" imgH="84276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 y="1754"/>
                          <a:ext cx="5239" cy="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1" name="Object 7">
              <a:hlinkClick r:id="" action="ppaction://ole?verb=0"/>
            </p:cNvPr>
            <p:cNvGraphicFramePr>
              <a:graphicFrameLocks/>
            </p:cNvGraphicFramePr>
            <p:nvPr/>
          </p:nvGraphicFramePr>
          <p:xfrm>
            <a:off x="480" y="2298"/>
            <a:ext cx="4729" cy="479"/>
          </p:xfrm>
          <a:graphic>
            <a:graphicData uri="http://schemas.openxmlformats.org/presentationml/2006/ole">
              <mc:AlternateContent xmlns:mc="http://schemas.openxmlformats.org/markup-compatibility/2006">
                <mc:Choice xmlns:v="urn:schemas-microsoft-com:vml" Requires="v">
                  <p:oleObj spid="_x0000_s6383" name="Equation" r:id="rId6" imgW="7507080" imgH="760320" progId="Equation.3">
                    <p:embed/>
                  </p:oleObj>
                </mc:Choice>
                <mc:Fallback>
                  <p:oleObj name="Equation" r:id="rId6" imgW="7507080" imgH="76032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0" y="2298"/>
                          <a:ext cx="4729"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347" name="Rectangle 9"/>
          <p:cNvSpPr>
            <a:spLocks noChangeArrowheads="1"/>
          </p:cNvSpPr>
          <p:nvPr/>
        </p:nvSpPr>
        <p:spPr bwMode="auto">
          <a:xfrm>
            <a:off x="292100" y="4968875"/>
            <a:ext cx="820578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buSzPct val="75000"/>
              <a:buFont typeface="Wingdings" pitchFamily="2" charset="2"/>
              <a:buChar char="v"/>
            </a:pPr>
            <a:r>
              <a:rPr lang="zh-CN" altLang="en-US" sz="2800">
                <a:latin typeface="Book Antiqua" pitchFamily="18" charset="0"/>
                <a:ea typeface="宋体" pitchFamily="2" charset="-122"/>
              </a:rPr>
              <a:t> </a:t>
            </a:r>
            <a:r>
              <a:rPr lang="en-US" altLang="zh-CN" sz="2800">
                <a:latin typeface="Book Antiqua" pitchFamily="18" charset="0"/>
                <a:ea typeface="宋体" pitchFamily="2" charset="-122"/>
              </a:rPr>
              <a:t>Can also define Tempboats using union!  (How?)</a:t>
            </a:r>
          </a:p>
        </p:txBody>
      </p:sp>
      <p:grpSp>
        <p:nvGrpSpPr>
          <p:cNvPr id="14348" name="Group 13"/>
          <p:cNvGrpSpPr>
            <a:grpSpLocks/>
          </p:cNvGrpSpPr>
          <p:nvPr/>
        </p:nvGrpSpPr>
        <p:grpSpPr bwMode="auto">
          <a:xfrm>
            <a:off x="290513" y="5654675"/>
            <a:ext cx="8618537" cy="573088"/>
            <a:chOff x="183" y="3562"/>
            <a:chExt cx="5429" cy="361"/>
          </a:xfrm>
        </p:grpSpPr>
        <p:sp>
          <p:nvSpPr>
            <p:cNvPr id="14349" name="Rectangle 10"/>
            <p:cNvSpPr>
              <a:spLocks noChangeArrowheads="1"/>
            </p:cNvSpPr>
            <p:nvPr/>
          </p:nvSpPr>
          <p:spPr bwMode="auto">
            <a:xfrm>
              <a:off x="183" y="3562"/>
              <a:ext cx="5429"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pPr>
                <a:buSzPct val="75000"/>
                <a:buFont typeface="Wingdings" pitchFamily="2" charset="2"/>
                <a:buChar char="v"/>
              </a:pPr>
              <a:r>
                <a:rPr lang="zh-CN" altLang="en-US">
                  <a:latin typeface="Book Antiqua" pitchFamily="18" charset="0"/>
                  <a:ea typeface="宋体" pitchFamily="2" charset="-122"/>
                </a:rPr>
                <a:t> </a:t>
              </a:r>
              <a:r>
                <a:rPr lang="en-US" altLang="zh-CN" sz="2800">
                  <a:latin typeface="Book Antiqua" pitchFamily="18" charset="0"/>
                  <a:ea typeface="宋体" pitchFamily="2" charset="-122"/>
                </a:rPr>
                <a:t>What happens if       is replaced by       in this query?</a:t>
              </a:r>
            </a:p>
          </p:txBody>
        </p:sp>
        <p:graphicFrame>
          <p:nvGraphicFramePr>
            <p:cNvPr id="14338" name="Object 11">
              <a:hlinkClick r:id="" action="ppaction://ole?verb=0"/>
            </p:cNvPr>
            <p:cNvGraphicFramePr>
              <a:graphicFrameLocks/>
            </p:cNvGraphicFramePr>
            <p:nvPr/>
          </p:nvGraphicFramePr>
          <p:xfrm>
            <a:off x="2112" y="3642"/>
            <a:ext cx="571" cy="281"/>
          </p:xfrm>
          <a:graphic>
            <a:graphicData uri="http://schemas.openxmlformats.org/presentationml/2006/ole">
              <mc:AlternateContent xmlns:mc="http://schemas.openxmlformats.org/markup-compatibility/2006">
                <mc:Choice xmlns:v="urn:schemas-microsoft-com:vml" Requires="v">
                  <p:oleObj spid="_x0000_s6384" name="Equation" r:id="rId8" imgW="906120" imgH="446040" progId="Equation.3">
                    <p:embed/>
                  </p:oleObj>
                </mc:Choice>
                <mc:Fallback>
                  <p:oleObj name="Equation" r:id="rId8" imgW="906120" imgH="446040"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2" y="3642"/>
                          <a:ext cx="571" cy="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39" name="Object 12">
              <a:hlinkClick r:id="" action="ppaction://ole?verb=0"/>
            </p:cNvPr>
            <p:cNvGraphicFramePr>
              <a:graphicFrameLocks/>
            </p:cNvGraphicFramePr>
            <p:nvPr/>
          </p:nvGraphicFramePr>
          <p:xfrm>
            <a:off x="3888" y="3642"/>
            <a:ext cx="420" cy="229"/>
          </p:xfrm>
          <a:graphic>
            <a:graphicData uri="http://schemas.openxmlformats.org/presentationml/2006/ole">
              <mc:AlternateContent xmlns:mc="http://schemas.openxmlformats.org/markup-compatibility/2006">
                <mc:Choice xmlns:v="urn:schemas-microsoft-com:vml" Requires="v">
                  <p:oleObj spid="_x0000_s6385" name="Equation" r:id="rId10" imgW="666720" imgH="363240" progId="Equation.3">
                    <p:embed/>
                  </p:oleObj>
                </mc:Choice>
                <mc:Fallback>
                  <p:oleObj name="Equation" r:id="rId10" imgW="666720" imgH="363240" progId="Equation.3">
                    <p:embed/>
                    <p:pic>
                      <p:nvPicPr>
                        <p:cNvPr id="0" name=""/>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88" y="3642"/>
                          <a:ext cx="420"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extLst>
      <p:ext uri="{BB962C8B-B14F-4D97-AF65-F5344CB8AC3E}">
        <p14:creationId xmlns:p14="http://schemas.microsoft.com/office/powerpoint/2010/main" val="1428517131"/>
      </p:ext>
    </p:extLst>
  </p:cSld>
  <p:clrMapOvr>
    <a:masterClrMapping/>
  </p:clrMapOvr>
  <p:transition>
    <p:cu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5"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5366"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5367" name="Rectangle 4"/>
          <p:cNvSpPr>
            <a:spLocks noGrp="1" noChangeArrowheads="1"/>
          </p:cNvSpPr>
          <p:nvPr>
            <p:ph type="title"/>
          </p:nvPr>
        </p:nvSpPr>
        <p:spPr>
          <a:xfrm>
            <a:off x="457200" y="419100"/>
            <a:ext cx="8610600" cy="1104900"/>
          </a:xfrm>
          <a:noFill/>
        </p:spPr>
        <p:txBody>
          <a:bodyPr/>
          <a:lstStyle/>
          <a:p>
            <a:r>
              <a:rPr lang="en-US" altLang="zh-CN" sz="3200" smtClean="0">
                <a:ea typeface="宋体" pitchFamily="2" charset="-122"/>
              </a:rPr>
              <a:t>Find sailors who’ve reserved a red </a:t>
            </a:r>
            <a:r>
              <a:rPr lang="en-US" altLang="zh-CN" sz="3200" u="sng" smtClean="0">
                <a:ea typeface="宋体" pitchFamily="2" charset="-122"/>
              </a:rPr>
              <a:t>and</a:t>
            </a:r>
            <a:r>
              <a:rPr lang="en-US" altLang="zh-CN" sz="3200" smtClean="0">
                <a:ea typeface="宋体" pitchFamily="2" charset="-122"/>
              </a:rPr>
              <a:t> a green boat</a:t>
            </a:r>
          </a:p>
        </p:txBody>
      </p:sp>
      <p:sp>
        <p:nvSpPr>
          <p:cNvPr id="15368" name="Rectangle 5"/>
          <p:cNvSpPr>
            <a:spLocks noGrp="1" noChangeArrowheads="1"/>
          </p:cNvSpPr>
          <p:nvPr>
            <p:ph type="body" idx="1"/>
          </p:nvPr>
        </p:nvSpPr>
        <p:spPr>
          <a:xfrm>
            <a:off x="762000" y="1676400"/>
            <a:ext cx="8153400" cy="4724400"/>
          </a:xfrm>
          <a:noFill/>
        </p:spPr>
        <p:txBody>
          <a:bodyPr/>
          <a:lstStyle/>
          <a:p>
            <a:r>
              <a:rPr lang="en-US" altLang="zh-CN" smtClean="0">
                <a:ea typeface="宋体" pitchFamily="2" charset="-122"/>
              </a:rPr>
              <a:t>Previous approach won’t work!  Must identify sailors who’ve reserved red boats, sailors who’ve reserved green boats, then find the intersection </a:t>
            </a:r>
            <a:r>
              <a:rPr lang="en-US" altLang="zh-CN" smtClean="0">
                <a:solidFill>
                  <a:schemeClr val="accent2"/>
                </a:solidFill>
                <a:ea typeface="宋体" pitchFamily="2" charset="-122"/>
              </a:rPr>
              <a:t>(note that </a:t>
            </a:r>
            <a:r>
              <a:rPr lang="en-US" altLang="zh-CN" i="1" smtClean="0">
                <a:solidFill>
                  <a:schemeClr val="accent2"/>
                </a:solidFill>
                <a:ea typeface="宋体" pitchFamily="2" charset="-122"/>
              </a:rPr>
              <a:t>sid</a:t>
            </a:r>
            <a:r>
              <a:rPr lang="en-US" altLang="zh-CN" smtClean="0">
                <a:solidFill>
                  <a:schemeClr val="accent2"/>
                </a:solidFill>
                <a:ea typeface="宋体" pitchFamily="2" charset="-122"/>
              </a:rPr>
              <a:t> is a key for Sailors)</a:t>
            </a:r>
            <a:r>
              <a:rPr lang="en-US" altLang="zh-CN" smtClean="0">
                <a:ea typeface="宋体" pitchFamily="2" charset="-122"/>
              </a:rPr>
              <a:t>:</a:t>
            </a:r>
          </a:p>
        </p:txBody>
      </p:sp>
      <p:graphicFrame>
        <p:nvGraphicFramePr>
          <p:cNvPr id="15362" name="Object 6">
            <a:hlinkClick r:id="" action="ppaction://ole?verb=0"/>
          </p:cNvPr>
          <p:cNvGraphicFramePr>
            <a:graphicFrameLocks/>
          </p:cNvGraphicFramePr>
          <p:nvPr/>
        </p:nvGraphicFramePr>
        <p:xfrm>
          <a:off x="542925" y="3789363"/>
          <a:ext cx="8382000" cy="635000"/>
        </p:xfrm>
        <a:graphic>
          <a:graphicData uri="http://schemas.openxmlformats.org/presentationml/2006/ole">
            <mc:AlternateContent xmlns:mc="http://schemas.openxmlformats.org/markup-compatibility/2006">
              <mc:Choice xmlns:v="urn:schemas-microsoft-com:vml" Requires="v">
                <p:oleObj spid="_x0000_s7341" name="Equation" r:id="rId4" imgW="8381880" imgH="634680" progId="Equation.3">
                  <p:embed/>
                </p:oleObj>
              </mc:Choice>
              <mc:Fallback>
                <p:oleObj name="Equation" r:id="rId4" imgW="8381880" imgH="634680" progId="Equation.3">
                  <p:embed/>
                  <p:pic>
                    <p:nvPicPr>
                      <p:cNvPr id="0" name=""/>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5" y="3789363"/>
                        <a:ext cx="8382000"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9" name="Rectangle 7"/>
          <p:cNvSpPr>
            <a:spLocks noChangeArrowheads="1"/>
          </p:cNvSpPr>
          <p:nvPr/>
        </p:nvSpPr>
        <p:spPr bwMode="auto">
          <a:xfrm>
            <a:off x="825500" y="4892675"/>
            <a:ext cx="269875"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zh-CN" altLang="en-US" sz="2800">
                <a:latin typeface="Book Antiqua" pitchFamily="18" charset="0"/>
                <a:ea typeface="宋体" pitchFamily="2" charset="-122"/>
              </a:rPr>
              <a:t> </a:t>
            </a:r>
          </a:p>
        </p:txBody>
      </p:sp>
      <p:graphicFrame>
        <p:nvGraphicFramePr>
          <p:cNvPr id="15363" name="Object 8">
            <a:hlinkClick r:id="" action="ppaction://ole?verb=0"/>
          </p:cNvPr>
          <p:cNvGraphicFramePr>
            <a:graphicFrameLocks/>
          </p:cNvGraphicFramePr>
          <p:nvPr/>
        </p:nvGraphicFramePr>
        <p:xfrm>
          <a:off x="228600" y="5557838"/>
          <a:ext cx="7747000" cy="760412"/>
        </p:xfrm>
        <a:graphic>
          <a:graphicData uri="http://schemas.openxmlformats.org/presentationml/2006/ole">
            <mc:AlternateContent xmlns:mc="http://schemas.openxmlformats.org/markup-compatibility/2006">
              <mc:Choice xmlns:v="urn:schemas-microsoft-com:vml" Requires="v">
                <p:oleObj spid="_x0000_s7342" name="Equation" r:id="rId6" imgW="7746840" imgH="760320" progId="Equation.3">
                  <p:embed/>
                </p:oleObj>
              </mc:Choice>
              <mc:Fallback>
                <p:oleObj name="Equation" r:id="rId6" imgW="7746840" imgH="760320" progId="Equation.3">
                  <p:embed/>
                  <p:pic>
                    <p:nvPicPr>
                      <p:cNvPr id="0" name=""/>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5557838"/>
                        <a:ext cx="7747000" cy="760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70" name="Rectangle 9"/>
          <p:cNvSpPr>
            <a:spLocks noChangeArrowheads="1"/>
          </p:cNvSpPr>
          <p:nvPr/>
        </p:nvSpPr>
        <p:spPr bwMode="auto">
          <a:xfrm>
            <a:off x="825500" y="5472113"/>
            <a:ext cx="257175" cy="45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p>
            <a:r>
              <a:rPr lang="zh-CN" altLang="en-US">
                <a:latin typeface="Book Antiqua" pitchFamily="18" charset="0"/>
                <a:ea typeface="宋体" pitchFamily="2" charset="-122"/>
              </a:rPr>
              <a:t> </a:t>
            </a:r>
          </a:p>
        </p:txBody>
      </p:sp>
      <p:graphicFrame>
        <p:nvGraphicFramePr>
          <p:cNvPr id="15364" name="Object 10">
            <a:hlinkClick r:id="" action="ppaction://ole?verb=0"/>
          </p:cNvPr>
          <p:cNvGraphicFramePr>
            <a:graphicFrameLocks/>
          </p:cNvGraphicFramePr>
          <p:nvPr/>
        </p:nvGraphicFramePr>
        <p:xfrm>
          <a:off x="304800" y="4567238"/>
          <a:ext cx="8839200" cy="919162"/>
        </p:xfrm>
        <a:graphic>
          <a:graphicData uri="http://schemas.openxmlformats.org/presentationml/2006/ole">
            <mc:AlternateContent xmlns:mc="http://schemas.openxmlformats.org/markup-compatibility/2006">
              <mc:Choice xmlns:v="urn:schemas-microsoft-com:vml" Requires="v">
                <p:oleObj spid="_x0000_s7343" name="Equation" r:id="rId8" imgW="8839080" imgH="919080" progId="Equation.3">
                  <p:embed/>
                </p:oleObj>
              </mc:Choice>
              <mc:Fallback>
                <p:oleObj name="Equation" r:id="rId8" imgW="8839080" imgH="919080" progId="Equation.3">
                  <p:embed/>
                  <p:pic>
                    <p:nvPicPr>
                      <p:cNvPr id="0" name=""/>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4800" y="4567238"/>
                        <a:ext cx="8839200" cy="91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98115181"/>
      </p:ext>
    </p:extLst>
  </p:cSld>
  <p:clrMapOvr>
    <a:masterClrMapping/>
  </p:clrMapOvr>
  <p:transition>
    <p:cu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p:spPr>
        <p:txBody>
          <a:bodyPr/>
          <a:lstStyle/>
          <a:p>
            <a:r>
              <a:rPr lang="en-US" altLang="zh-CN" smtClean="0">
                <a:ea typeface="宋体" pitchFamily="2" charset="-122"/>
              </a:rPr>
              <a:t>Summary</a:t>
            </a:r>
          </a:p>
        </p:txBody>
      </p:sp>
      <p:sp>
        <p:nvSpPr>
          <p:cNvPr id="23555" name="Rectangle 3"/>
          <p:cNvSpPr>
            <a:spLocks noGrp="1" noChangeArrowheads="1"/>
          </p:cNvSpPr>
          <p:nvPr>
            <p:ph type="body" idx="1"/>
          </p:nvPr>
        </p:nvSpPr>
        <p:spPr>
          <a:noFill/>
        </p:spPr>
        <p:txBody>
          <a:bodyPr/>
          <a:lstStyle/>
          <a:p>
            <a:pPr>
              <a:lnSpc>
                <a:spcPct val="90000"/>
              </a:lnSpc>
            </a:pPr>
            <a:r>
              <a:rPr lang="en-US" altLang="zh-CN" smtClean="0">
                <a:ea typeface="宋体" pitchFamily="2" charset="-122"/>
              </a:rPr>
              <a:t>The relational model has rigorously defined query languages that are simple and powerful.</a:t>
            </a:r>
          </a:p>
          <a:p>
            <a:pPr>
              <a:lnSpc>
                <a:spcPct val="90000"/>
              </a:lnSpc>
            </a:pPr>
            <a:r>
              <a:rPr lang="en-US" altLang="zh-CN" smtClean="0">
                <a:ea typeface="宋体" pitchFamily="2" charset="-122"/>
              </a:rPr>
              <a:t>Relational algebra is more operational; useful as internal representation for query evaluation plans.</a:t>
            </a:r>
          </a:p>
          <a:p>
            <a:pPr>
              <a:lnSpc>
                <a:spcPct val="90000"/>
              </a:lnSpc>
            </a:pPr>
            <a:r>
              <a:rPr lang="en-US" altLang="zh-CN" smtClean="0">
                <a:ea typeface="宋体" pitchFamily="2" charset="-122"/>
              </a:rPr>
              <a:t>Several ways of expressing a given query; a query optimizer should choose the most efficient version.</a:t>
            </a:r>
          </a:p>
        </p:txBody>
      </p:sp>
    </p:spTree>
    <p:extLst>
      <p:ext uri="{BB962C8B-B14F-4D97-AF65-F5344CB8AC3E}">
        <p14:creationId xmlns:p14="http://schemas.microsoft.com/office/powerpoint/2010/main" val="569814312"/>
      </p:ext>
    </p:extLst>
  </p:cSld>
  <p:clrMapOvr>
    <a:masterClrMapping/>
  </p:clrMapOvr>
  <p:transition>
    <p:cu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Thank You</a:t>
            </a:r>
            <a:endParaRPr lang="en-IN" dirty="0"/>
          </a:p>
        </p:txBody>
      </p:sp>
      <p:sp>
        <p:nvSpPr>
          <p:cNvPr id="3" name="Content Placeholder 2"/>
          <p:cNvSpPr>
            <a:spLocks noGrp="1"/>
          </p:cNvSpPr>
          <p:nvPr>
            <p:ph idx="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32503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b-book">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db-book">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defRPr kumimoji="1" lang="en-US" sz="1800" b="0" i="1" u="none" strike="noStrike" cap="none" normalizeH="0" baseline="0" smtClean="0">
            <a:ln>
              <a:noFill/>
            </a:ln>
            <a:solidFill>
              <a:schemeClr val="tx1"/>
            </a:solidFill>
            <a:effectLst/>
            <a:latin typeface="Helvetica" pitchFamily="34" charset="0"/>
            <a:sym typeface="Symbol" pitchFamily="18" charset="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defRPr kumimoji="1" lang="en-US" sz="1800" b="0" i="1" u="none" strike="noStrike" cap="none" normalizeH="0" baseline="0" smtClean="0">
            <a:ln>
              <a:noFill/>
            </a:ln>
            <a:solidFill>
              <a:schemeClr val="tx1"/>
            </a:solidFill>
            <a:effectLst/>
            <a:latin typeface="Helvetica" pitchFamily="34" charset="0"/>
            <a:sym typeface="Symbol" pitchFamily="18" charset="2"/>
          </a:defRPr>
        </a:defPPr>
      </a:lstStyle>
    </a:lnDef>
  </a:objectDefaults>
  <a:extraClrSchemeLst>
    <a:extraClrScheme>
      <a:clrScheme name="db-book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b-book">
  <a:themeElements>
    <a:clrScheme name="">
      <a:dk1>
        <a:srgbClr val="000000"/>
      </a:dk1>
      <a:lt1>
        <a:srgbClr val="CCECFF"/>
      </a:lt1>
      <a:dk2>
        <a:srgbClr val="CC3300"/>
      </a:dk2>
      <a:lt2>
        <a:srgbClr val="666699"/>
      </a:lt2>
      <a:accent1>
        <a:srgbClr val="FFCCCC"/>
      </a:accent1>
      <a:accent2>
        <a:srgbClr val="CCCC00"/>
      </a:accent2>
      <a:accent3>
        <a:srgbClr val="E2F4FF"/>
      </a:accent3>
      <a:accent4>
        <a:srgbClr val="000000"/>
      </a:accent4>
      <a:accent5>
        <a:srgbClr val="FFE2E2"/>
      </a:accent5>
      <a:accent6>
        <a:srgbClr val="B9B900"/>
      </a:accent6>
      <a:hlink>
        <a:srgbClr val="FF9900"/>
      </a:hlink>
      <a:folHlink>
        <a:srgbClr val="FF9933"/>
      </a:folHlink>
    </a:clrScheme>
    <a:fontScheme name="db-book">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defRPr kumimoji="1" lang="en-US" sz="1800" b="0" i="1" u="none" strike="noStrike" cap="none" normalizeH="0" baseline="0" smtClean="0">
            <a:ln>
              <a:noFill/>
            </a:ln>
            <a:solidFill>
              <a:schemeClr val="tx1"/>
            </a:solidFill>
            <a:effectLst/>
            <a:latin typeface="Helvetica" pitchFamily="34" charset="0"/>
            <a:sym typeface="Symbol" pitchFamily="18" charset="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00000"/>
          </a:lnSpc>
          <a:spcBef>
            <a:spcPct val="35000"/>
          </a:spcBef>
          <a:spcAft>
            <a:spcPct val="0"/>
          </a:spcAft>
          <a:buClr>
            <a:schemeClr val="tx2"/>
          </a:buClr>
          <a:buSzPct val="90000"/>
          <a:buFont typeface="Monotype Sorts" pitchFamily="2" charset="2"/>
          <a:buNone/>
          <a:tabLst/>
          <a:defRPr kumimoji="1" lang="en-US" sz="1800" b="0" i="1" u="none" strike="noStrike" cap="none" normalizeH="0" baseline="0" smtClean="0">
            <a:ln>
              <a:noFill/>
            </a:ln>
            <a:solidFill>
              <a:schemeClr val="tx1"/>
            </a:solidFill>
            <a:effectLst/>
            <a:latin typeface="Helvetica" pitchFamily="34" charset="0"/>
            <a:sym typeface="Symbol" pitchFamily="18" charset="2"/>
          </a:defRPr>
        </a:defPPr>
      </a:lstStyle>
    </a:lnDef>
  </a:objectDefaults>
  <a:extraClrSchemeLst>
    <a:extraClrScheme>
      <a:clrScheme name="db-book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book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386</TotalTime>
  <Words>1356</Words>
  <Application>Microsoft Office PowerPoint</Application>
  <PresentationFormat>On-screen Show (4:3)</PresentationFormat>
  <Paragraphs>390</Paragraphs>
  <Slides>46</Slides>
  <Notes>8</Notes>
  <HiddenSlides>0</HiddenSlides>
  <MMClips>0</MMClips>
  <ScaleCrop>false</ScaleCrop>
  <HeadingPairs>
    <vt:vector size="6" baseType="variant">
      <vt:variant>
        <vt:lpstr>Theme</vt:lpstr>
      </vt:variant>
      <vt:variant>
        <vt:i4>3</vt:i4>
      </vt:variant>
      <vt:variant>
        <vt:lpstr>Embedded OLE Servers</vt:lpstr>
      </vt:variant>
      <vt:variant>
        <vt:i4>3</vt:i4>
      </vt:variant>
      <vt:variant>
        <vt:lpstr>Slide Titles</vt:lpstr>
      </vt:variant>
      <vt:variant>
        <vt:i4>46</vt:i4>
      </vt:variant>
    </vt:vector>
  </HeadingPairs>
  <TitlesOfParts>
    <vt:vector size="52" baseType="lpstr">
      <vt:lpstr>Office Theme</vt:lpstr>
      <vt:lpstr>db-book</vt:lpstr>
      <vt:lpstr>1_db-book</vt:lpstr>
      <vt:lpstr>Clip</vt:lpstr>
      <vt:lpstr>Equation</vt:lpstr>
      <vt:lpstr>Document</vt:lpstr>
      <vt:lpstr> RELATIONAL ALGEBRA </vt:lpstr>
      <vt:lpstr>Relational Algebra </vt:lpstr>
      <vt:lpstr>Union (U)</vt:lpstr>
      <vt:lpstr>Union </vt:lpstr>
      <vt:lpstr>Intersection (∩)</vt:lpstr>
      <vt:lpstr>Difference</vt:lpstr>
      <vt:lpstr>Cartesian Product (× ) </vt:lpstr>
      <vt:lpstr>PowerPoint Presentation</vt:lpstr>
      <vt:lpstr>Selection(σ)</vt:lpstr>
      <vt:lpstr>Select Operation – Example</vt:lpstr>
      <vt:lpstr>Selection with &gt;=</vt:lpstr>
      <vt:lpstr>Selection</vt:lpstr>
      <vt:lpstr>Selection with =</vt:lpstr>
      <vt:lpstr>Projection</vt:lpstr>
      <vt:lpstr>Projection </vt:lpstr>
      <vt:lpstr>Projection </vt:lpstr>
      <vt:lpstr>Project Operation – Example</vt:lpstr>
      <vt:lpstr>Equi-join</vt:lpstr>
      <vt:lpstr>Equi-Join</vt:lpstr>
      <vt:lpstr>Equi-Join Step-1: Form the Cartesian Product </vt:lpstr>
      <vt:lpstr>Equi-Join</vt:lpstr>
      <vt:lpstr>Natural Join</vt:lpstr>
      <vt:lpstr>Natural Join</vt:lpstr>
      <vt:lpstr>Join(⋈)</vt:lpstr>
      <vt:lpstr>Join Step-1: Form the Cartesian Product </vt:lpstr>
      <vt:lpstr>Join</vt:lpstr>
      <vt:lpstr>Join</vt:lpstr>
      <vt:lpstr>Theta Join (θ-Join)</vt:lpstr>
      <vt:lpstr>Theta Join (θ-Join)</vt:lpstr>
      <vt:lpstr>Division</vt:lpstr>
      <vt:lpstr>Examples of Division A/B</vt:lpstr>
      <vt:lpstr>Rename</vt:lpstr>
      <vt:lpstr>Rename</vt:lpstr>
      <vt:lpstr>Rename(ρ)</vt:lpstr>
      <vt:lpstr>Rename Example</vt:lpstr>
      <vt:lpstr>Schema for Example Tables</vt:lpstr>
      <vt:lpstr>PowerPoint Presentation</vt:lpstr>
      <vt:lpstr>PowerPoint Presentation</vt:lpstr>
      <vt:lpstr>PowerPoint Presentation</vt:lpstr>
      <vt:lpstr>PowerPoint Presentation</vt:lpstr>
      <vt:lpstr>Find names of sailors who’ve reserved boat #103</vt:lpstr>
      <vt:lpstr>Find names of sailors who’ve reserved a red boat</vt:lpstr>
      <vt:lpstr>Find sailors who’ve reserved a red or a green boat</vt:lpstr>
      <vt:lpstr>Find sailors who’ve reserved a red and a green boat</vt:lpstr>
      <vt:lpstr>Summary</vt:lpstr>
      <vt:lpstr>Thank You</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RELATIONAL ALGEBRA </dc:title>
  <dc:creator>Admin</dc:creator>
  <cp:lastModifiedBy>DELL</cp:lastModifiedBy>
  <cp:revision>139</cp:revision>
  <dcterms:created xsi:type="dcterms:W3CDTF">2006-08-16T00:00:00Z</dcterms:created>
  <dcterms:modified xsi:type="dcterms:W3CDTF">2026-07-07T16:41:08Z</dcterms:modified>
</cp:coreProperties>
</file>